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bar0"/>
          <p:cNvSpPr/>
          <p:nvPr/>
        </p:nvSpPr>
        <p:spPr>
          <a:xfrm>
            <a:off x="4935017" y="1527048"/>
            <a:ext cx="310896" cy="86868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480000" lon="20280000" rev="0"/>
            </a:camera>
            <a:lightRig rig="threePt" dir="t">
              <a:rot lat="0" lon="0" rev="1200000"/>
            </a:lightRig>
          </a:scene3d>
          <a:sp3d extrusionH="155448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5" name="!!bar1"/>
          <p:cNvSpPr/>
          <p:nvPr/>
        </p:nvSpPr>
        <p:spPr>
          <a:xfrm>
            <a:off x="5437937" y="978408"/>
            <a:ext cx="310896" cy="14173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480000" lon="20280000" rev="0"/>
            </a:camera>
            <a:lightRig rig="threePt" dir="t">
              <a:rot lat="0" lon="0" rev="1200000"/>
            </a:lightRig>
          </a:scene3d>
          <a:sp3d extrusionH="155448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2"/>
          <p:cNvSpPr/>
          <p:nvPr/>
        </p:nvSpPr>
        <p:spPr>
          <a:xfrm>
            <a:off x="5940857" y="612648"/>
            <a:ext cx="310896" cy="178308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BBF24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480000" lon="20280000" rev="0"/>
            </a:camera>
            <a:lightRig rig="threePt" dir="t">
              <a:rot lat="0" lon="0" rev="1200000"/>
            </a:lightRig>
          </a:scene3d>
          <a:sp3d extrusionH="155448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3"/>
          <p:cNvSpPr/>
          <p:nvPr/>
        </p:nvSpPr>
        <p:spPr>
          <a:xfrm>
            <a:off x="6443777" y="1207008"/>
            <a:ext cx="310896" cy="11887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480000" lon="20280000" rev="0"/>
            </a:camera>
            <a:lightRig rig="threePt" dir="t">
              <a:rot lat="0" lon="0" rev="1200000"/>
            </a:lightRig>
          </a:scene3d>
          <a:sp3d extrusionH="155448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4"/>
          <p:cNvSpPr/>
          <p:nvPr/>
        </p:nvSpPr>
        <p:spPr>
          <a:xfrm>
            <a:off x="6946697" y="1618488"/>
            <a:ext cx="310896" cy="77724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480000" lon="20280000" rev="0"/>
            </a:camera>
            <a:lightRig rig="threePt" dir="t">
              <a:rot lat="0" lon="0" rev="1200000"/>
            </a:lightRig>
          </a:scene3d>
          <a:sp3d extrusionH="155448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hackchip"/>
          <p:cNvSpPr/>
          <p:nvPr/>
        </p:nvSpPr>
        <p:spPr>
          <a:xfrm>
            <a:off x="4453128" y="457200"/>
            <a:ext cx="329184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457200"/>
            <a:ext cx="3291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D6D3D1"/>
                </a:solidFill>
                <a:latin typeface="Consolas"/>
              </a:rPr>
              <a:t>AI FOR SOCIAL GOOD ·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0048"/>
            <a:ext cx="1036289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0" b="1" i="0">
                <a:solidFill>
                  <a:srgbClr val="FAFAF9"/>
                </a:solidFill>
                <a:latin typeface="Segoe UI"/>
              </a:rPr>
              <a:t>Reclaim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502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700" b="0" i="0">
                <a:solidFill>
                  <a:srgbClr val="D6D3D1"/>
                </a:solidFill>
                <a:latin typeface="Segoe UI"/>
              </a:rPr>
              <a:t>Your signs. Your words. </a:t>
            </a:r>
            <a:r>
              <a:rPr sz="2700" b="1" i="0">
                <a:solidFill>
                  <a:srgbClr val="FBBF24"/>
                </a:solidFill>
                <a:latin typeface="Segoe UI"/>
              </a:rPr>
              <a:t>Your voice.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700016"/>
            <a:ext cx="7543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A8A29E"/>
                </a:solidFill>
                <a:latin typeface="Segoe UI"/>
              </a:rPr>
              <a:t>Sign a phrase to the camera and the room hears it — in your slang, in a clone of your own voice.</a:t>
            </a:r>
          </a:p>
        </p:txBody>
      </p:sp>
      <p:sp>
        <p:nvSpPr>
          <p:cNvPr id="14" name="!!dochip"/>
          <p:cNvSpPr/>
          <p:nvPr/>
        </p:nvSpPr>
        <p:spPr>
          <a:xfrm>
            <a:off x="2212848" y="5742432"/>
            <a:ext cx="233172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40864" y="5856732"/>
            <a:ext cx="82296" cy="82296"/>
          </a:xfrm>
          <a:prstGeom prst="ellipse">
            <a:avLst/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5742432"/>
            <a:ext cx="2240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66B2FF"/>
                </a:solidFill>
                <a:latin typeface="Consolas"/>
              </a:rPr>
              <a:t>BUILT ON DIGITALOCEAN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7448" y="5742432"/>
            <a:ext cx="123444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5742432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D6D3D1"/>
                </a:solidFill>
                <a:latin typeface="Consolas"/>
              </a:rPr>
              <a:t>GEMINI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5742432"/>
            <a:ext cx="196596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5742432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D6D3D1"/>
                </a:solidFill>
                <a:latin typeface="Consolas"/>
              </a:rPr>
              <a:t>LLAMA 3.3 70B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742432"/>
            <a:ext cx="169164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5742432"/>
            <a:ext cx="1691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D6D3D1"/>
                </a:solidFill>
                <a:latin typeface="Consolas"/>
              </a:rPr>
              <a:t>ELEVENLABS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01</a:t>
            </a:r>
          </a:p>
        </p:txBody>
      </p:sp>
      <p:sp>
        <p:nvSpPr>
          <p:cNvPr id="5" name="!!bar0"/>
          <p:cNvSpPr/>
          <p:nvPr/>
        </p:nvSpPr>
        <p:spPr>
          <a:xfrm>
            <a:off x="10392156" y="987552"/>
            <a:ext cx="118872" cy="31089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92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0584180" y="768096"/>
            <a:ext cx="118872" cy="53035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92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0776204" y="621792"/>
            <a:ext cx="118872" cy="67665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BBF24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92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0968228" y="859536"/>
            <a:ext cx="118872" cy="43891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92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1160252" y="1024128"/>
            <a:ext cx="118872" cy="2743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92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115568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600" b="1" i="0">
                <a:solidFill>
                  <a:srgbClr val="FAFAF9"/>
                </a:solidFill>
                <a:latin typeface="Segoe UI"/>
              </a:rPr>
              <a:t>For millions of Deaf and nonspeaking people,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FBBF24"/>
                </a:solidFill>
                <a:latin typeface="Segoe UI"/>
              </a:rPr>
              <a:t>every room is a locked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29000"/>
            <a:ext cx="3401568" cy="22860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5085" y="342900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285292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70M+ people sign first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A8A29E"/>
                </a:solidFill>
                <a:latin typeface="Segoe UI"/>
              </a:rPr>
              <a:t>Around 70 million Deaf people worldwide use a sign language as their first language. Most hearing people around them don't.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3429000"/>
            <a:ext cx="3401568" cy="22860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4397" y="342900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703320"/>
            <a:ext cx="285292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TTS speaks — as nobody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A8A29E"/>
                </a:solidFill>
                <a:latin typeface="Segoe UI"/>
              </a:rPr>
              <a:t>Typing into a text-to-speech app is slow, breaks eye contact, and comes out in a robotic voice that belongs to no 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3429000"/>
            <a:ext cx="3401568" cy="22860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73709" y="342900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3703320"/>
            <a:ext cx="285292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Identity is what's lost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A8A29E"/>
                </a:solidFill>
                <a:latin typeface="Segoe UI"/>
              </a:rPr>
              <a:t>AAC devices hand users a stranger's voice. The words get through — the person doesn't.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02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02</a:t>
            </a:r>
          </a:p>
        </p:txBody>
      </p:sp>
      <p:sp>
        <p:nvSpPr>
          <p:cNvPr id="5" name="!!bar0"/>
          <p:cNvSpPr/>
          <p:nvPr/>
        </p:nvSpPr>
        <p:spPr>
          <a:xfrm>
            <a:off x="822960" y="5367528"/>
            <a:ext cx="201168" cy="62179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120000" lon="1680000" rev="0"/>
            </a:camera>
            <a:lightRig rig="threePt" dir="t">
              <a:rot lat="0" lon="0" rev="1200000"/>
            </a:lightRig>
          </a:scene3d>
          <a:sp3d extrusionH="100584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147572" y="4965192"/>
            <a:ext cx="201168" cy="102412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120000" lon="1680000" rev="0"/>
            </a:camera>
            <a:lightRig rig="threePt" dir="t">
              <a:rot lat="0" lon="0" rev="1200000"/>
            </a:lightRig>
          </a:scene3d>
          <a:sp3d extrusionH="100584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472184" y="4654296"/>
            <a:ext cx="201168" cy="133502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BBF24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120000" lon="1680000" rev="0"/>
            </a:camera>
            <a:lightRig rig="threePt" dir="t">
              <a:rot lat="0" lon="0" rev="1200000"/>
            </a:lightRig>
          </a:scene3d>
          <a:sp3d extrusionH="100584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796796" y="5148072"/>
            <a:ext cx="201168" cy="84124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120000" lon="1680000" rev="0"/>
            </a:camera>
            <a:lightRig rig="threePt" dir="t">
              <a:rot lat="0" lon="0" rev="1200000"/>
            </a:lightRig>
          </a:scene3d>
          <a:sp3d extrusionH="100584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2121408" y="5422392"/>
            <a:ext cx="201168" cy="56692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120000" lon="1680000" rev="0"/>
            </a:camera>
            <a:lightRig rig="threePt" dir="t">
              <a:rot lat="0" lon="0" rev="1200000"/>
            </a:lightRig>
          </a:scene3d>
          <a:sp3d extrusionH="100584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THE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115568"/>
            <a:ext cx="6949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400" b="1" i="0">
                <a:solidFill>
                  <a:srgbClr val="FAFAF9"/>
                </a:solidFill>
                <a:latin typeface="Segoe UI"/>
              </a:rPr>
              <a:t>Sign it.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400" b="1" i="0">
                <a:solidFill>
                  <a:srgbClr val="FAFAF9"/>
                </a:solidFill>
                <a:latin typeface="Segoe UI"/>
              </a:rPr>
              <a:t>The room hears </a:t>
            </a:r>
            <a:r>
              <a:rPr sz="4400" b="1" i="0">
                <a:solidFill>
                  <a:srgbClr val="FBBF24"/>
                </a:solidFill>
                <a:latin typeface="Segoe UI"/>
              </a:rPr>
              <a:t>you</a:t>
            </a:r>
            <a:r>
              <a:rPr sz="4400" b="1" i="0">
                <a:solidFill>
                  <a:srgbClr val="FAFAF9"/>
                </a:solidFill>
                <a:latin typeface="Segoe U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6035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A8A29E"/>
                </a:solidFill>
                <a:latin typeface="Segoe UI"/>
              </a:rPr>
              <a:t>Record a clip of yourself signing. Reclaim translates it, lets you fix every word, rewrites it the way you actually talk, and says it out loud — in a voice cloned from you.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234440"/>
            <a:ext cx="3749040" cy="13716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35163" y="1234440"/>
            <a:ext cx="3149194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45389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160">
                <a:solidFill>
                  <a:srgbClr val="F59E0B"/>
                </a:solidFill>
                <a:latin typeface="Consolas"/>
              </a:rPr>
              <a:t>YOUR WORDS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A style model trained on how you actually text — your slang, your punctuation, your energy.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2807208"/>
            <a:ext cx="3749040" cy="13716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35163" y="2807208"/>
            <a:ext cx="3149194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026664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160">
                <a:solidFill>
                  <a:srgbClr val="F59E0B"/>
                </a:solidFill>
                <a:latin typeface="Consolas"/>
              </a:rPr>
              <a:t>YOUR VOICE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Cloned from 1–3 minutes of speech. A library of named voices; switch anytime.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379976"/>
            <a:ext cx="3749040" cy="137160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35163" y="4379976"/>
            <a:ext cx="3149194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4599432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160">
                <a:solidFill>
                  <a:srgbClr val="F59E0B"/>
                </a:solidFill>
                <a:latin typeface="Consolas"/>
              </a:rPr>
              <a:t>YOUR CONTROL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Human in the loop: nothing is ever spoken without your review.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03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03</a:t>
            </a:r>
          </a:p>
        </p:txBody>
      </p:sp>
      <p:sp>
        <p:nvSpPr>
          <p:cNvPr id="5" name="!!bar0"/>
          <p:cNvSpPr/>
          <p:nvPr/>
        </p:nvSpPr>
        <p:spPr>
          <a:xfrm>
            <a:off x="10620756" y="914400"/>
            <a:ext cx="118872" cy="2743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80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0812780" y="713232"/>
            <a:ext cx="118872" cy="47548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80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1004804" y="566928"/>
            <a:ext cx="118872" cy="62179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BBF24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80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1196828" y="786384"/>
            <a:ext cx="118872" cy="40233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80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1388852" y="932688"/>
            <a:ext cx="118872" cy="25603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80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THE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AFAF9"/>
                </a:solidFill>
                <a:latin typeface="Segoe UI"/>
              </a:rPr>
              <a:t>From sign to speech in four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A8A29E"/>
                </a:solidFill>
                <a:latin typeface="Segoe UI"/>
              </a:rPr>
              <a:t>Every stage is a different model doing what it's best at — stitched into one tap.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084832"/>
            <a:ext cx="5138928" cy="1938528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074" y="2084832"/>
            <a:ext cx="431670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2322576"/>
            <a:ext cx="384048" cy="384048"/>
          </a:xfrm>
          <a:prstGeom prst="ellipse">
            <a:avLst/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C1917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23591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FAFAF9"/>
                </a:solidFill>
                <a:latin typeface="Segoe UI"/>
              </a:rPr>
              <a:t>Sign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834640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A8A29E"/>
                </a:solidFill>
                <a:latin typeface="Segoe UI"/>
              </a:rPr>
              <a:t>Gemini ingests the recorded clip as native video — signing is motion, so real video beats sampled frames. Holding up 1–5 fingers fires a quick phrase.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67588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 spc="80">
                <a:solidFill>
                  <a:srgbClr val="F59E0B"/>
                </a:solidFill>
                <a:latin typeface="Consolas"/>
              </a:rPr>
              <a:t>GEMINI · NATIVE VIDEO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2084832"/>
            <a:ext cx="5138928" cy="1938528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1602" y="2084832"/>
            <a:ext cx="431670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2322576"/>
            <a:ext cx="384048" cy="384048"/>
          </a:xfrm>
          <a:prstGeom prst="ellipse">
            <a:avLst/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C1917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591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FAFAF9"/>
                </a:solidFill>
                <a:latin typeface="Segoe UI"/>
              </a:rPr>
              <a:t>Check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834640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A8A29E"/>
                </a:solidFill>
                <a:latin typeface="Segoe UI"/>
              </a:rPr>
              <a:t>The translation comes back as editable text. Nothing is spoken without your review — you stay in control of every word.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7588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 spc="80">
                <a:solidFill>
                  <a:srgbClr val="F59E0B"/>
                </a:solidFill>
                <a:latin typeface="Consolas"/>
              </a:rPr>
              <a:t>HUMAN IN THE 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206240"/>
            <a:ext cx="5138928" cy="1938528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4074" y="4206240"/>
            <a:ext cx="431670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8992" y="4443984"/>
            <a:ext cx="384048" cy="384048"/>
          </a:xfrm>
          <a:prstGeom prst="ellipse">
            <a:avLst/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44439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C1917"/>
                </a:solidFill>
                <a:latin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4480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FAFAF9"/>
                </a:solidFill>
                <a:latin typeface="Segoe UI"/>
              </a:rPr>
              <a:t>Make it yours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956048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A8A29E"/>
                </a:solidFill>
                <a:latin typeface="Segoe UI"/>
              </a:rPr>
              <a:t>An LLM rewrites the sentence the way you text — a distilled style card plus your most similar past messages, retrieved semantically.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57972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 spc="80">
                <a:solidFill>
                  <a:srgbClr val="F59E0B"/>
                </a:solidFill>
                <a:latin typeface="Consolas"/>
              </a:rPr>
              <a:t>LLAMA 3.3 70B · DO GRADIENT · GTE-LARGE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06240"/>
            <a:ext cx="5138928" cy="1938528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01602" y="4206240"/>
            <a:ext cx="431670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46520" y="4443984"/>
            <a:ext cx="384048" cy="384048"/>
          </a:xfrm>
          <a:prstGeom prst="ellipse">
            <a:avLst/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44439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C1917"/>
                </a:solidFill>
                <a:latin typeface="Segoe U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480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 i="0">
                <a:solidFill>
                  <a:srgbClr val="FAFAF9"/>
                </a:solidFill>
                <a:latin typeface="Segoe UI"/>
              </a:rPr>
              <a:t>Say it out 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956048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A8A29E"/>
                </a:solidFill>
                <a:latin typeface="Segoe UI"/>
              </a:rPr>
              <a:t>Spoken in your cloned voice from your voice library. Repeated phrases return instantly from cache without spending TTS credits.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7972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 spc="80">
                <a:solidFill>
                  <a:srgbClr val="F59E0B"/>
                </a:solidFill>
                <a:latin typeface="Consolas"/>
              </a:rPr>
              <a:t>ELEVENLABS FLASH V2.5 · DO MANAGED VALKEY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04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0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04</a:t>
            </a:r>
          </a:p>
        </p:txBody>
      </p:sp>
      <p:sp>
        <p:nvSpPr>
          <p:cNvPr id="5" name="!!bar0"/>
          <p:cNvSpPr/>
          <p:nvPr/>
        </p:nvSpPr>
        <p:spPr>
          <a:xfrm>
            <a:off x="10849356" y="5907024"/>
            <a:ext cx="100584" cy="23774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7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1013948" y="5742432"/>
            <a:ext cx="100584" cy="40233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7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1178540" y="5614416"/>
            <a:ext cx="100584" cy="53035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BBF24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7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1343132" y="5797296"/>
            <a:ext cx="100584" cy="34747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7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1507724" y="5925312"/>
            <a:ext cx="100584" cy="21945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7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THE APP —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097280"/>
            <a:ext cx="7315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AFAF9"/>
                </a:solidFill>
                <a:latin typeface="Segoe UI"/>
              </a:rPr>
              <a:t>The Speak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4592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A8A29E"/>
                </a:solidFill>
                <a:latin typeface="Segoe UI"/>
              </a:rPr>
              <a:t>Every element on this slide is a component from the running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868680"/>
            <a:ext cx="2697480" cy="5230368"/>
          </a:xfrm>
          <a:prstGeom prst="roundRect">
            <a:avLst>
              <a:gd name="adj" fmla="val 12000"/>
            </a:avLst>
          </a:prstGeom>
          <a:effectLst/>
          <a:solidFill>
            <a:srgbClr val="141110"/>
          </a:solidFill>
          <a:ln w="20320">
            <a:solidFill>
              <a:srgbClr val="44403C"/>
            </a:solidFill>
          </a:ln>
          <a:effectLst>
            <a:outerShdw blurRad="256032" dist="73152" dir="5400000" rotWithShape="0">
              <a:srgbClr val="000000">
                <a:alpha val="5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69848" y="987552"/>
            <a:ext cx="2478024" cy="402336"/>
          </a:xfrm>
          <a:prstGeom prst="roundRect">
            <a:avLst>
              <a:gd name="adj" fmla="val 18000"/>
            </a:avLst>
          </a:prstGeom>
          <a:effectLst/>
          <a:solidFill>
            <a:srgbClr val="0C0A09">
              <a:alpha val="75000"/>
            </a:srgbClr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1185520"/>
            <a:ext cx="32004" cy="85496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86561" y="1138885"/>
            <a:ext cx="32004" cy="132131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38682" y="1115568"/>
            <a:ext cx="32004" cy="155448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90802" y="1162202"/>
            <a:ext cx="32004" cy="108814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42923" y="1201064"/>
            <a:ext cx="32004" cy="69952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7048" y="98755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AFAF9"/>
                </a:solidFill>
                <a:latin typeface="Segoe UI"/>
              </a:rPr>
              <a:t>Reclaim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" y="1490472"/>
            <a:ext cx="2478024" cy="2212848"/>
          </a:xfrm>
          <a:prstGeom prst="roundRect">
            <a:avLst>
              <a:gd name="adj" fmla="val 6000"/>
            </a:avLst>
          </a:prstGeom>
          <a:effectLst/>
          <a:solidFill>
            <a:srgbClr val="0A0908"/>
          </a:solidFill>
          <a:ln w="12700">
            <a:solidFill>
              <a:srgbClr val="29252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97864" y="1618488"/>
            <a:ext cx="201168" cy="1828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97864" y="1618488"/>
            <a:ext cx="18288" cy="20116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18688" y="1618488"/>
            <a:ext cx="201168" cy="1828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01568" y="1618488"/>
            <a:ext cx="18288" cy="20116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97864" y="3502152"/>
            <a:ext cx="201168" cy="1828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97864" y="3319272"/>
            <a:ext cx="18288" cy="20116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18688" y="3502152"/>
            <a:ext cx="201168" cy="1828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3319272"/>
            <a:ext cx="18288" cy="201168"/>
          </a:xfrm>
          <a:prstGeom prst="rect">
            <a:avLst/>
          </a:prstGeom>
          <a:effectLst/>
          <a:solidFill>
            <a:srgbClr val="78716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234440" y="1691640"/>
            <a:ext cx="786384" cy="274320"/>
          </a:xfrm>
          <a:prstGeom prst="roundRect">
            <a:avLst>
              <a:gd name="adj" fmla="val 50000"/>
            </a:avLst>
          </a:prstGeom>
          <a:effectLst/>
          <a:solidFill>
            <a:srgbClr val="000000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5880" y="1787652"/>
            <a:ext cx="82296" cy="82296"/>
          </a:xfrm>
          <a:prstGeom prst="ellipse">
            <a:avLst/>
          </a:prstGeom>
          <a:effectLst/>
          <a:solidFill>
            <a:srgbClr val="F43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44752" y="169164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onsolas"/>
              </a:rPr>
              <a:t>0:07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2651760"/>
            <a:ext cx="24780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78716C"/>
                </a:solidFill>
                <a:latin typeface="Segoe UI"/>
              </a:rPr>
              <a:t>signing…</a:t>
            </a:r>
          </a:p>
        </p:txBody>
      </p:sp>
      <p:sp>
        <p:nvSpPr>
          <p:cNvPr id="34" name="Oval 33"/>
          <p:cNvSpPr/>
          <p:nvPr/>
        </p:nvSpPr>
        <p:spPr>
          <a:xfrm>
            <a:off x="1860804" y="3694176"/>
            <a:ext cx="896112" cy="896112"/>
          </a:xfrm>
          <a:prstGeom prst="ellipse">
            <a:avLst/>
          </a:prstGeom>
          <a:effectLst/>
          <a:noFill/>
          <a:ln w="20320">
            <a:solidFill>
              <a:srgbClr val="F43F5E">
                <a:alpha val="12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61388" y="3794760"/>
            <a:ext cx="694944" cy="694944"/>
          </a:xfrm>
          <a:prstGeom prst="ellipse">
            <a:avLst/>
          </a:prstGeom>
          <a:effectLst/>
          <a:noFill/>
          <a:ln w="20320">
            <a:solidFill>
              <a:srgbClr val="F43F5E">
                <a:alpha val="2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61972" y="3895344"/>
            <a:ext cx="493776" cy="493776"/>
          </a:xfrm>
          <a:prstGeom prst="ellipse">
            <a:avLst/>
          </a:prstGeom>
          <a:effectLst/>
          <a:solidFill>
            <a:srgbClr val="E11D48"/>
          </a:solidFill>
          <a:ln>
            <a:noFill/>
          </a:ln>
          <a:effectLst>
            <a:outerShdw blurRad="128016" dist="1828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31136" y="4064508"/>
            <a:ext cx="155448" cy="155448"/>
          </a:xfrm>
          <a:prstGeom prst="roundRect">
            <a:avLst>
              <a:gd name="adj" fmla="val 25000"/>
            </a:avLst>
          </a:prstGeom>
          <a:effectLst/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69848" y="4636008"/>
            <a:ext cx="2478024" cy="868680"/>
          </a:xfrm>
          <a:prstGeom prst="roundRect">
            <a:avLst>
              <a:gd name="adj" fmla="val 100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152" y="4745736"/>
            <a:ext cx="218541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 spc="80">
                <a:solidFill>
                  <a:srgbClr val="F59E0B"/>
                </a:solidFill>
                <a:latin typeface="Consolas"/>
              </a:rPr>
              <a:t>TRANSLATION — EDIT ANYTHING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AFAF9"/>
                </a:solidFill>
                <a:latin typeface="Segoe UI"/>
              </a:rPr>
              <a:t>coffee run — want anything?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69848" y="5641848"/>
            <a:ext cx="1170432" cy="365760"/>
          </a:xfrm>
          <a:prstGeom prst="roundRect">
            <a:avLst>
              <a:gd name="adj" fmla="val 28000"/>
            </a:avLst>
          </a:prstGeom>
          <a:effectLst/>
          <a:solidFill>
            <a:srgbClr val="1C1917">
              <a:alpha val="60000"/>
            </a:srgbClr>
          </a:solidFill>
          <a:ln w="1524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641848"/>
            <a:ext cx="11704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E5E4"/>
                </a:solidFill>
                <a:latin typeface="Segoe UI"/>
              </a:rPr>
              <a:t>Re-sign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40864" y="5641848"/>
            <a:ext cx="1207008" cy="365760"/>
          </a:xfrm>
          <a:prstGeom prst="roundRect">
            <a:avLst>
              <a:gd name="adj" fmla="val 28000"/>
            </a:avLst>
          </a:prstGeom>
          <a:effectLst/>
          <a:solidFill>
            <a:srgbClr val="F59E0B"/>
          </a:solidFill>
          <a:ln>
            <a:noFill/>
          </a:ln>
          <a:effectLst>
            <a:outerShdw blurRad="109728" dist="27432" dir="5400000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40864" y="5641848"/>
            <a:ext cx="12070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C1917"/>
                </a:solidFill>
                <a:latin typeface="Segoe UI"/>
              </a:rPr>
              <a:t>Say 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2414016"/>
            <a:ext cx="109728" cy="109728"/>
          </a:xfrm>
          <a:prstGeom prst="roundRect">
            <a:avLst>
              <a:gd name="adj" fmla="val 35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17720" y="233172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EF3C7"/>
                </a:solidFill>
                <a:latin typeface="Segoe UI"/>
              </a:rPr>
              <a:t>Recording pulse — </a:t>
            </a:r>
            <a:r>
              <a:rPr sz="1300" b="0" i="0">
                <a:solidFill>
                  <a:srgbClr val="A8A29E"/>
                </a:solidFill>
                <a:latin typeface="Segoe UI"/>
              </a:rPr>
              <a:t>The rose capture ring pulses while the camera records your signing — 20 s max, auto-stops.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70832" y="3401568"/>
            <a:ext cx="109728" cy="109728"/>
          </a:xfrm>
          <a:prstGeom prst="roundRect">
            <a:avLst>
              <a:gd name="adj" fmla="val 35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3319272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EF3C7"/>
                </a:solidFill>
                <a:latin typeface="Segoe UI"/>
              </a:rPr>
              <a:t>Human in the loop — </a:t>
            </a:r>
            <a:r>
              <a:rPr sz="1300" b="0" i="0">
                <a:solidFill>
                  <a:srgbClr val="A8A29E"/>
                </a:solidFill>
                <a:latin typeface="Segoe UI"/>
              </a:rPr>
              <a:t>Gemini's translation lands in an editable card. Fix anything before it's ever spoken.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0832" y="4389120"/>
            <a:ext cx="109728" cy="109728"/>
          </a:xfrm>
          <a:prstGeom prst="roundRect">
            <a:avLst>
              <a:gd name="adj" fmla="val 35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306824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EF3C7"/>
                </a:solidFill>
                <a:latin typeface="Segoe UI"/>
              </a:rPr>
              <a:t>One amber tap — </a:t>
            </a:r>
            <a:r>
              <a:rPr sz="1300" b="0" i="0">
                <a:solidFill>
                  <a:srgbClr val="A8A29E"/>
                </a:solidFill>
                <a:latin typeface="Segoe UI"/>
              </a:rPr>
              <a:t>“Say it” restyles the sentence and speaks it in your cloned voice — the room hears you.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70832" y="5376672"/>
            <a:ext cx="109728" cy="109728"/>
          </a:xfrm>
          <a:prstGeom prst="roundRect">
            <a:avLst>
              <a:gd name="adj" fmla="val 35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5294376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EF3C7"/>
                </a:solidFill>
                <a:latin typeface="Segoe UI"/>
              </a:rPr>
              <a:t>Quick phrases — </a:t>
            </a:r>
            <a:r>
              <a:rPr sz="1300" b="0" i="0">
                <a:solidFill>
                  <a:srgbClr val="A8A29E"/>
                </a:solidFill>
                <a:latin typeface="Segoe UI"/>
              </a:rPr>
              <a:t>Hold up 1–5 fingers as the clip starts: deterministic phrases like “I want a coffee.”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05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4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0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4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5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8" dur="5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05</a:t>
            </a:r>
          </a:p>
        </p:txBody>
      </p:sp>
      <p:sp>
        <p:nvSpPr>
          <p:cNvPr id="5" name="!!bar0"/>
          <p:cNvSpPr/>
          <p:nvPr/>
        </p:nvSpPr>
        <p:spPr>
          <a:xfrm>
            <a:off x="854964" y="5907024"/>
            <a:ext cx="100584" cy="23774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42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019556" y="5742432"/>
            <a:ext cx="100584" cy="40233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42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184148" y="5614416"/>
            <a:ext cx="100584" cy="53035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BBF24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42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348740" y="5797296"/>
            <a:ext cx="100584" cy="34747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42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513332" y="5925312"/>
            <a:ext cx="100584" cy="219456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4200000" rev="0"/>
            </a:camera>
            <a:lightRig rig="threePt" dir="t">
              <a:rot lat="0" lon="0" rev="1200000"/>
            </a:lightRig>
          </a:scene3d>
          <a:sp3d extrusionH="5029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CONVERSATION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9728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AFAF9"/>
                </a:solidFill>
                <a:latin typeface="Segoe UI"/>
              </a:rPr>
              <a:t>A real
back-and-forth.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5394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 i="0">
                <a:solidFill>
                  <a:srgbClr val="A8A29E"/>
                </a:solidFill>
                <a:latin typeface="Segoe UI"/>
              </a:rPr>
              <a:t>The other person just talks. Gemini transcribes them; Llama 3.3 on DigitalOcean Gradient drafts three replies in your style. Tap one — it's spoken in your voice.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 spc="120">
                <a:solidFill>
                  <a:srgbClr val="F59E0B"/>
                </a:solidFill>
                <a:latin typeface="Consolas"/>
              </a:rPr>
              <a:t>HEAR → DRAFT ×3 → TAP → SPEAK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188720"/>
            <a:ext cx="4800600" cy="841248"/>
          </a:xfrm>
          <a:prstGeom prst="roundRect">
            <a:avLst>
              <a:gd name="adj" fmla="val 16000"/>
            </a:avLst>
          </a:prstGeom>
          <a:effectLst/>
          <a:solidFill>
            <a:srgbClr val="292524">
              <a:alpha val="95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298448"/>
            <a:ext cx="4297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 spc="80">
                <a:solidFill>
                  <a:srgbClr val="78716C"/>
                </a:solidFill>
                <a:latin typeface="Consolas"/>
              </a:rPr>
              <a:t>PARTNER · TRANSCRIBED BY GEMINI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E5E4"/>
                </a:solidFill>
                <a:latin typeface="Segoe UI"/>
              </a:rPr>
              <a:t>“What do you want to do for lunch?”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21284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 spc="80">
                <a:solidFill>
                  <a:srgbClr val="F59E0B"/>
                </a:solidFill>
                <a:latin typeface="Consolas"/>
              </a:rPr>
              <a:t>YOUR REPLIES · DRAFTED IN YOUR STYLE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606040"/>
            <a:ext cx="4800600" cy="713232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5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60604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6D3D1"/>
                </a:solidFill>
                <a:latin typeface="Segoe UI"/>
              </a:rPr>
              <a:t>tbh i could demolish a burrito 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502152"/>
            <a:ext cx="4800600" cy="713232"/>
          </a:xfrm>
          <a:prstGeom prst="roundRect">
            <a:avLst>
              <a:gd name="adj" fmla="val 50000"/>
            </a:avLst>
          </a:prstGeom>
          <a:effectLst/>
          <a:solidFill>
            <a:srgbClr val="F59E0B">
              <a:alpha val="14000"/>
            </a:srgbClr>
          </a:solidFill>
          <a:ln w="1778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502152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AFAF9"/>
                </a:solidFill>
                <a:latin typeface="Segoe UI"/>
              </a:rPr>
              <a:t>wherever u want, i'm easy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16768" y="3846881"/>
            <a:ext cx="32004" cy="130759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68889" y="3775558"/>
            <a:ext cx="32004" cy="202082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21010" y="3739896"/>
            <a:ext cx="32004" cy="237744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73130" y="3811219"/>
            <a:ext cx="32004" cy="166421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25251" y="3870655"/>
            <a:ext cx="32004" cy="106985"/>
          </a:xfrm>
          <a:prstGeom prst="roundRect">
            <a:avLst>
              <a:gd name="adj" fmla="val 50000"/>
            </a:avLst>
          </a:prstGeom>
          <a:effectLst/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37960" y="4398264"/>
            <a:ext cx="4800600" cy="713232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5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4398264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6D3D1"/>
                </a:solidFill>
                <a:latin typeface="Segoe UI"/>
              </a:rPr>
              <a:t>gotta be quick — i'm slammed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34924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 spc="60">
                <a:solidFill>
                  <a:srgbClr val="F59E0B"/>
                </a:solidFill>
                <a:latin typeface="Consolas"/>
              </a:rPr>
              <a:t>▲ playing in your cloned voice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06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42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3" presetID="42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6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06</a:t>
            </a:r>
          </a:p>
        </p:txBody>
      </p:sp>
      <p:sp>
        <p:nvSpPr>
          <p:cNvPr id="5" name="!!bar0"/>
          <p:cNvSpPr/>
          <p:nvPr/>
        </p:nvSpPr>
        <p:spPr>
          <a:xfrm>
            <a:off x="10012680" y="1508760"/>
            <a:ext cx="146304" cy="36576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360000" lon="19800000" rev="480000"/>
            </a:camera>
            <a:lightRig rig="threePt" dir="t">
              <a:rot lat="0" lon="0" rev="1200000"/>
            </a:lightRig>
          </a:scene3d>
          <a:sp3d extrusionH="7315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0250424" y="1271016"/>
            <a:ext cx="146304" cy="60350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360000" lon="19800000" rev="480000"/>
            </a:camera>
            <a:lightRig rig="threePt" dir="t">
              <a:rot lat="0" lon="0" rev="1200000"/>
            </a:lightRig>
          </a:scene3d>
          <a:sp3d extrusionH="7315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0488168" y="1088136"/>
            <a:ext cx="146304" cy="78638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BBF24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360000" lon="19800000" rev="480000"/>
            </a:camera>
            <a:lightRig rig="threePt" dir="t">
              <a:rot lat="0" lon="0" rev="1200000"/>
            </a:lightRig>
          </a:scene3d>
          <a:sp3d extrusionH="7315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0725912" y="1362456"/>
            <a:ext cx="146304" cy="51206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360000" lon="19800000" rev="480000"/>
            </a:camera>
            <a:lightRig rig="threePt" dir="t">
              <a:rot lat="0" lon="0" rev="1200000"/>
            </a:lightRig>
          </a:scene3d>
          <a:sp3d extrusionH="7315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0963656" y="1545336"/>
            <a:ext cx="146304" cy="32918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360000" lon="19800000" rev="480000"/>
            </a:camera>
            <a:lightRig rig="threePt" dir="t">
              <a:rot lat="0" lon="0" rev="1200000"/>
            </a:lightRig>
          </a:scene3d>
          <a:sp3d extrusionH="73152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66B2FF"/>
                </a:solidFill>
                <a:latin typeface="Consolas"/>
              </a:rPr>
              <a:t>KEY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AFAF9"/>
                </a:solidFill>
                <a:latin typeface="Segoe UI"/>
              </a:rPr>
              <a:t>DigitalOcean is the backbone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81328"/>
            <a:ext cx="8778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A8A29E"/>
                </a:solidFill>
                <a:latin typeface="Segoe UI"/>
              </a:rPr>
              <a:t>One tap on “Say it” fans out across these services — and degrades gracefully at every rung. The flow never blocks.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212848"/>
            <a:ext cx="10543032" cy="3913632"/>
          </a:xfrm>
          <a:prstGeom prst="roundRect">
            <a:avLst>
              <a:gd name="adj" fmla="val 4500"/>
            </a:avLst>
          </a:prstGeom>
          <a:effectLst/>
          <a:solidFill>
            <a:srgbClr val="1C1917">
              <a:alpha val="45000"/>
            </a:srgbClr>
          </a:solidFill>
          <a:ln w="12700">
            <a:solidFill>
              <a:srgbClr val="29252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" y="2249424"/>
            <a:ext cx="10469880" cy="548640"/>
          </a:xfrm>
          <a:prstGeom prst="rect">
            <a:avLst/>
          </a:prstGeom>
          <a:effectLst/>
          <a:solidFill>
            <a:srgbClr val="1C1917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42416" y="246430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224942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GRADIENT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24942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Llama 3.3 70B — serverless — rewrites every sentence in your own style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" y="301294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79806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GRADIENT EMBEDDINGS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79806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GTE-Large embeds your corpus; the closest past texts become few-shot examples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" y="3346704"/>
            <a:ext cx="10469880" cy="548640"/>
          </a:xfrm>
          <a:prstGeom prst="rect">
            <a:avLst/>
          </a:prstGeom>
          <a:effectLst/>
          <a:solidFill>
            <a:srgbClr val="1C1917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42416" y="356158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334670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MANAGED VALKEY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34670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Audio cached per (voice, sentence) — instant repeats, zero wasted TTS credits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2416" y="411022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389534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SPACES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89534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S3-compatible object storage — private per-user prefix, PII redacted before 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" y="4443984"/>
            <a:ext cx="10469880" cy="548640"/>
          </a:xfrm>
          <a:prstGeom prst="rect">
            <a:avLst/>
          </a:prstGeom>
          <a:effectLst/>
          <a:solidFill>
            <a:srgbClr val="1C1917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2416" y="465886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444398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APP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44398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Auto-deployed from GitHub — the live demo is running on it right now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2416" y="520750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499262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GPU DROPLET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99262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Self-hosted F5-TTS voice cloning — first-party voice biometrics at scale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9536" y="5541264"/>
            <a:ext cx="10469880" cy="548640"/>
          </a:xfrm>
          <a:prstGeom prst="rect">
            <a:avLst/>
          </a:prstGeom>
          <a:effectLst/>
          <a:solidFill>
            <a:srgbClr val="1C1917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42416" y="5756148"/>
            <a:ext cx="118872" cy="118872"/>
          </a:xfrm>
          <a:prstGeom prst="roundRect">
            <a:avLst>
              <a:gd name="adj" fmla="val 40000"/>
            </a:avLst>
          </a:prstGeom>
          <a:effectLst/>
          <a:solidFill>
            <a:srgbClr val="008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5880" y="5541264"/>
            <a:ext cx="2788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60">
                <a:solidFill>
                  <a:srgbClr val="66B2FF"/>
                </a:solidFill>
                <a:latin typeface="Consolas"/>
              </a:rPr>
              <a:t>QWEN3 TTS · GRADIENT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5541264"/>
            <a:ext cx="7040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6D3D1"/>
                </a:solidFill>
                <a:latin typeface="Segoe UI"/>
              </a:rPr>
              <a:t>Neutral-voice fallback when a user has no clone yet — nobody is left silent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07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9" presetID="42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6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07</a:t>
            </a:r>
          </a:p>
        </p:txBody>
      </p:sp>
      <p:sp>
        <p:nvSpPr>
          <p:cNvPr id="5" name="!!bar0"/>
          <p:cNvSpPr/>
          <p:nvPr/>
        </p:nvSpPr>
        <p:spPr>
          <a:xfrm>
            <a:off x="11128248" y="694944"/>
            <a:ext cx="91440" cy="20116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60000"/>
                </a:srgbClr>
              </a:gs>
              <a:gs pos="100000">
                <a:srgbClr val="D97706">
                  <a:alpha val="6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7100000" rev="0"/>
            </a:camera>
            <a:lightRig rig="threePt" dir="t">
              <a:rot lat="0" lon="0" rev="1200000"/>
            </a:lightRig>
          </a:scene3d>
          <a:sp3d extrusionH="4572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1279124" y="548640"/>
            <a:ext cx="91440" cy="347472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60000"/>
                </a:srgbClr>
              </a:gs>
              <a:gs pos="100000">
                <a:srgbClr val="F59E0B">
                  <a:alpha val="6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7100000" rev="0"/>
            </a:camera>
            <a:lightRig rig="threePt" dir="t">
              <a:rot lat="0" lon="0" rev="1200000"/>
            </a:lightRig>
          </a:scene3d>
          <a:sp3d extrusionH="4572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1430000" y="438912"/>
            <a:ext cx="91440" cy="45720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60000"/>
                </a:srgbClr>
              </a:gs>
              <a:gs pos="100000">
                <a:srgbClr val="FBBF24">
                  <a:alpha val="6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7100000" rev="0"/>
            </a:camera>
            <a:lightRig rig="threePt" dir="t">
              <a:rot lat="0" lon="0" rev="1200000"/>
            </a:lightRig>
          </a:scene3d>
          <a:sp3d extrusionH="4572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1580876" y="603504"/>
            <a:ext cx="91440" cy="29260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60000"/>
                </a:srgbClr>
              </a:gs>
              <a:gs pos="100000">
                <a:srgbClr val="F59E0B">
                  <a:alpha val="6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7100000" rev="0"/>
            </a:camera>
            <a:lightRig rig="threePt" dir="t">
              <a:rot lat="0" lon="0" rev="1200000"/>
            </a:lightRig>
          </a:scene3d>
          <a:sp3d extrusionH="4572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1731752" y="713232"/>
            <a:ext cx="91440" cy="18288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60000"/>
                </a:srgbClr>
              </a:gs>
              <a:gs pos="100000">
                <a:srgbClr val="D97706">
                  <a:alpha val="6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17100000" rev="0"/>
            </a:camera>
            <a:lightRig rig="threePt" dir="t">
              <a:rot lat="0" lon="0" rev="1200000"/>
            </a:lightRig>
          </a:scene3d>
          <a:sp3d extrusionH="4572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315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AFAF9"/>
                </a:solidFill>
                <a:latin typeface="Segoe UI"/>
              </a:rPr>
              <a:t>Sign-to-speech serverless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" y="202082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DD344C"/>
              </a:gs>
              <a:gs pos="100000">
                <a:srgbClr val="DD344C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awsampl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093976"/>
            <a:ext cx="566928" cy="566928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274320" y="277977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AWS Amplify
Auth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34540" y="3154680"/>
            <a:ext cx="960120" cy="1280160"/>
          </a:xfrm>
          <a:prstGeom prst="rect">
            <a:avLst/>
          </a:prstGeom>
          <a:effectLst/>
          <a:solidFill>
            <a:srgbClr val="0C0A09">
              <a:alpha val="40000"/>
            </a:srgbClr>
          </a:solidFill>
          <a:ln w="22225">
            <a:solidFill>
              <a:srgbClr val="D6D3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13432" y="3401568"/>
            <a:ext cx="402336" cy="310896"/>
          </a:xfrm>
          <a:prstGeom prst="roundRect">
            <a:avLst>
              <a:gd name="adj" fmla="val 12000"/>
            </a:avLst>
          </a:prstGeom>
          <a:effectLst/>
          <a:noFill/>
          <a:ln w="25400">
            <a:solidFill>
              <a:srgbClr val="E7E5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68880" y="3712464"/>
            <a:ext cx="91440" cy="82296"/>
          </a:xfrm>
          <a:prstGeom prst="rect">
            <a:avLst/>
          </a:prstGeom>
          <a:effectLst/>
          <a:solidFill>
            <a:srgbClr val="E7E5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4540" y="395020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E5E4"/>
                </a:solidFill>
                <a:latin typeface="Segoe UI"/>
              </a:rPr>
              <a:t>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8780" y="448056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78716C"/>
                </a:solidFill>
                <a:latin typeface="Segoe UI"/>
              </a:rPr>
              <a:t>Web · Expo mobile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41064" y="343814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igital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3593592"/>
            <a:ext cx="402336" cy="402336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3337560" y="419709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Next.js API
DO App Platform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41064" y="119786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8B5CF6"/>
              </a:gs>
              <a:gs pos="100000">
                <a:srgbClr val="8B5CF6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1353312"/>
            <a:ext cx="402336" cy="402336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3337560" y="195681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Gemini
sign recognition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44184" y="119786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digital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353312"/>
            <a:ext cx="402336" cy="402336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5440680" y="195681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Gradient Embeddings
GTE-Large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38744" y="119786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digital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353312"/>
            <a:ext cx="402336" cy="402336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7635240" y="195681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DO Spaces
corpus · PII-redacted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4" y="343814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m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3593592"/>
            <a:ext cx="402336" cy="402336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5440680" y="419709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Gradient Inference
Llama 3.3 70B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38744" y="343814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26211E"/>
              </a:gs>
              <a:gs pos="100000">
                <a:srgbClr val="26211E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levenlab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3593592"/>
            <a:ext cx="402336" cy="402336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7635240" y="419709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ElevenLabs
clone + Flash TTS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41864" y="343814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digital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3593592"/>
            <a:ext cx="402336" cy="402336"/>
          </a:xfrm>
          <a:prstGeom prst="rect">
            <a:avLst/>
          </a:prstGeom>
          <a:effectLst/>
        </p:spPr>
      </p:pic>
      <p:sp>
        <p:nvSpPr>
          <p:cNvPr id="40" name="TextBox 39"/>
          <p:cNvSpPr txBox="1"/>
          <p:nvPr/>
        </p:nvSpPr>
        <p:spPr>
          <a:xfrm>
            <a:off x="9738360" y="419709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Managed Valkey
TTS cache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57984" y="544982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digital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5605272"/>
            <a:ext cx="402336" cy="402336"/>
          </a:xfrm>
          <a:prstGeom prst="rect">
            <a:avLst/>
          </a:prstGeom>
          <a:effectLst/>
        </p:spPr>
      </p:pic>
      <p:sp>
        <p:nvSpPr>
          <p:cNvPr id="43" name="TextBox 42"/>
          <p:cNvSpPr txBox="1"/>
          <p:nvPr/>
        </p:nvSpPr>
        <p:spPr>
          <a:xfrm>
            <a:off x="1554480" y="620877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DO GPU Droplet
F5-TTS self-hosted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52544" y="544982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ED7100"/>
              </a:gs>
              <a:gs pos="100000">
                <a:srgbClr val="ED7100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amazonec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5522976"/>
            <a:ext cx="566928" cy="566928"/>
          </a:xfrm>
          <a:prstGeom prst="rect">
            <a:avLst/>
          </a:prstGeom>
          <a:effectLst/>
        </p:spPr>
      </p:pic>
      <p:sp>
        <p:nvSpPr>
          <p:cNvPr id="46" name="TextBox 45"/>
          <p:cNvSpPr txBox="1"/>
          <p:nvPr/>
        </p:nvSpPr>
        <p:spPr>
          <a:xfrm>
            <a:off x="3749040" y="620877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EC2 GPU
LoRA fine-tune (TRL)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47104" y="544982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FFD21E"/>
              </a:gs>
              <a:gs pos="100000">
                <a:srgbClr val="FFD21E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huggingfa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2552" y="5605272"/>
            <a:ext cx="402336" cy="402336"/>
          </a:xfrm>
          <a:prstGeom prst="rect">
            <a:avLst/>
          </a:prstGeom>
          <a:effectLst/>
        </p:spPr>
      </p:pic>
      <p:sp>
        <p:nvSpPr>
          <p:cNvPr id="49" name="TextBox 48"/>
          <p:cNvSpPr txBox="1"/>
          <p:nvPr/>
        </p:nvSpPr>
        <p:spPr>
          <a:xfrm>
            <a:off x="5943600" y="620877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Hugging Face
dedicated endpoint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41664" y="5449824"/>
            <a:ext cx="713232" cy="713232"/>
          </a:xfrm>
          <a:prstGeom prst="roundRect">
            <a:avLst>
              <a:gd name="adj" fmla="val 18000"/>
            </a:avLst>
          </a:prstGeom>
          <a:effectLst/>
          <a:gradFill rotWithShape="1">
            <a:gsLst>
              <a:gs pos="0">
                <a:srgbClr val="0080FF"/>
              </a:gs>
              <a:gs pos="100000">
                <a:srgbClr val="0080FF"/>
              </a:gs>
            </a:gsLst>
            <a:lin ang="5400000" scaled="1"/>
          </a:gradFill>
          <a:ln w="12700">
            <a:solidFill>
              <a:srgbClr val="FFFFFF">
                <a:alpha val="14000"/>
              </a:srgbClr>
            </a:solidFill>
          </a:ln>
          <a:effectLst>
            <a:outerShdw blurRad="128016" dist="41148" dir="5400000" rotWithShape="0">
              <a:srgbClr val="000000">
                <a:alpha val="45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qw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7112" y="5605272"/>
            <a:ext cx="402336" cy="402336"/>
          </a:xfrm>
          <a:prstGeom prst="rect">
            <a:avLst/>
          </a:prstGeom>
          <a:effectLst/>
        </p:spPr>
      </p:pic>
      <p:sp>
        <p:nvSpPr>
          <p:cNvPr id="52" name="TextBox 51"/>
          <p:cNvSpPr txBox="1"/>
          <p:nvPr/>
        </p:nvSpPr>
        <p:spPr>
          <a:xfrm>
            <a:off x="8138160" y="6208776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D6D3D1"/>
                </a:solidFill>
                <a:latin typeface="Segoe UI"/>
              </a:rPr>
              <a:t>Qwen3 TTS
neutral fallback</a:t>
            </a:r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1591056" y="2377440"/>
            <a:ext cx="923544" cy="777240"/>
          </a:xfrm>
          <a:prstGeom prst="bentConnector3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994660" y="3794760"/>
            <a:ext cx="946404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triangle" w="med" len="med"/>
            <a:tailEnd type="triangle" w="med" len="med"/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4297680" y="1911096"/>
            <a:ext cx="0" cy="1527048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4654296" y="3794760"/>
            <a:ext cx="1389888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6757416" y="3794760"/>
            <a:ext cx="1481328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8951976" y="3794760"/>
            <a:ext cx="1389888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triangle" w="med" len="med"/>
            <a:tailEnd type="triangle" w="med" len="med"/>
          </a:ln>
          <a:effectLst/>
        </p:spPr>
      </p:cxnSp>
      <p:cxnSp>
        <p:nvCxnSpPr>
          <p:cNvPr id="59" name="Connector 58"/>
          <p:cNvCxnSpPr/>
          <p:nvPr/>
        </p:nvCxnSpPr>
        <p:spPr>
          <a:xfrm flipH="1">
            <a:off x="6757416" y="1554480"/>
            <a:ext cx="1481328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400800" y="1911096"/>
            <a:ext cx="0" cy="1527048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61" name="Connector 60"/>
          <p:cNvCxnSpPr/>
          <p:nvPr/>
        </p:nvCxnSpPr>
        <p:spPr>
          <a:xfrm flipH="1">
            <a:off x="2871216" y="4151376"/>
            <a:ext cx="1426464" cy="1655064"/>
          </a:xfrm>
          <a:prstGeom prst="bentConnector3">
            <a:avLst/>
          </a:prstGeom>
          <a:ln w="17780" cap="rnd">
            <a:solidFill>
              <a:srgbClr val="78716C">
                <a:alpha val="85000"/>
              </a:srgbClr>
            </a:solidFill>
            <a:prstDash val="dash"/>
            <a:headEnd type="none"/>
            <a:tailEnd type="triangle" w="med" len="med"/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5065776" y="5806440"/>
            <a:ext cx="1481328" cy="0"/>
          </a:xfrm>
          <a:prstGeom prst="line">
            <a:avLst/>
          </a:prstGeom>
          <a:ln w="17780" cap="rnd">
            <a:solidFill>
              <a:srgbClr val="78716C">
                <a:alpha val="85000"/>
              </a:srgbClr>
            </a:solidFill>
            <a:headEnd type="none"/>
            <a:tailEnd type="triangle" w="med" len="med"/>
          </a:ln>
          <a:effectLst/>
        </p:spPr>
      </p:cxnSp>
      <p:cxnSp>
        <p:nvCxnSpPr>
          <p:cNvPr id="63" name="Connector 62"/>
          <p:cNvCxnSpPr/>
          <p:nvPr/>
        </p:nvCxnSpPr>
        <p:spPr>
          <a:xfrm flipH="1" flipV="1">
            <a:off x="6400800" y="4151376"/>
            <a:ext cx="502920" cy="1298448"/>
          </a:xfrm>
          <a:prstGeom prst="bentConnector3">
            <a:avLst/>
          </a:prstGeom>
          <a:ln w="17780" cap="rnd">
            <a:solidFill>
              <a:srgbClr val="78716C">
                <a:alpha val="85000"/>
              </a:srgbClr>
            </a:solidFill>
            <a:prstDash val="dash"/>
            <a:headEnd type="none"/>
            <a:tailEnd type="triangle" w="med" len="med"/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8595360" y="4151376"/>
            <a:ext cx="502920" cy="1298448"/>
          </a:xfrm>
          <a:prstGeom prst="bentConnector3">
            <a:avLst/>
          </a:prstGeom>
          <a:ln w="17780" cap="rnd">
            <a:solidFill>
              <a:srgbClr val="78716C">
                <a:alpha val="85000"/>
              </a:srgbClr>
            </a:solidFill>
            <a:prstDash val="dash"/>
            <a:headEnd type="none"/>
            <a:tailEnd type="triangle" w="med" len="med"/>
          </a:ln>
          <a:effectLst/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7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9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7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9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08</a:t>
            </a:r>
          </a:p>
        </p:txBody>
      </p:sp>
      <p:sp>
        <p:nvSpPr>
          <p:cNvPr id="5" name="!!bar0"/>
          <p:cNvSpPr/>
          <p:nvPr/>
        </p:nvSpPr>
        <p:spPr>
          <a:xfrm>
            <a:off x="10483596" y="1005840"/>
            <a:ext cx="118872" cy="29260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07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10675620" y="795528"/>
            <a:ext cx="118872" cy="5029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07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0867644" y="640080"/>
            <a:ext cx="118872" cy="658368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BBF24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07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1059668" y="877824"/>
            <a:ext cx="118872" cy="420624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F59E0B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07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1251692" y="1024128"/>
            <a:ext cx="118872" cy="2743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>
                  <a:alpha val="70000"/>
                </a:srgbClr>
              </a:gs>
              <a:gs pos="100000">
                <a:srgbClr val="D97706">
                  <a:alpha val="70000"/>
                </a:srgbClr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0" lon="20700000" rev="0"/>
            </a:camera>
            <a:lightRig rig="threePt" dir="t">
              <a:rot lat="0" lon="0" rev="1200000"/>
            </a:lightRig>
          </a:scene3d>
          <a:sp3d extrusionH="594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SOCIAL GOOD INCLUDES PRIVACY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11556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FAFAF9"/>
                </a:solidFill>
                <a:latin typeface="Segoe UI"/>
              </a:rPr>
              <a:t>Voiceprints are biometric data.
</a:t>
            </a:r>
            <a:r>
              <a:rPr sz="3000" b="1" i="0">
                <a:solidFill>
                  <a:srgbClr val="FBBF24"/>
                </a:solidFill>
                <a:latin typeface="Segoe UI"/>
              </a:rPr>
              <a:t>We treat them like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3401568" cy="196596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5085" y="278892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063240"/>
            <a:ext cx="285292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Hard consent 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Voice upload and cloning are blocked until an explicit, written consent record is stored. GDPR Art. 9 · Illinois BIPA · Texas CUBI.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2788920"/>
            <a:ext cx="3401568" cy="196596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4397" y="278892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3063240"/>
            <a:ext cx="285292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PII redaction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URLs, emails and phone numbers are stripped from your text corpus before it ever touches storage.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4" y="2788920"/>
            <a:ext cx="3401568" cy="196596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73709" y="2788920"/>
            <a:ext cx="2857317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3063240"/>
            <a:ext cx="285292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FEF3C7"/>
                </a:solidFill>
                <a:latin typeface="Segoe UI"/>
              </a:rPr>
              <a:t>One-tap erasure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A8A29E"/>
                </a:solidFill>
                <a:latin typeface="Segoe UI"/>
              </a:rPr>
              <a:t>Settings → Delete my data removes the Spaces objects, the consent record, and every ElevenLabs clone — everything, everywhere.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91456" y="5212080"/>
            <a:ext cx="2606040" cy="502920"/>
          </a:xfrm>
          <a:prstGeom prst="roundRect">
            <a:avLst>
              <a:gd name="adj" fmla="val 28000"/>
            </a:avLst>
          </a:prstGeom>
          <a:effectLst/>
          <a:solidFill>
            <a:srgbClr val="E11D48"/>
          </a:solidFill>
          <a:ln>
            <a:noFill/>
          </a:ln>
          <a:effectLst>
            <a:outerShdw blurRad="109728" dist="27432" dir="5400000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5212080"/>
            <a:ext cx="2606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Delete my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833872"/>
            <a:ext cx="6885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 spc="40">
                <a:solidFill>
                  <a:srgbClr val="78716C"/>
                </a:solidFill>
                <a:latin typeface="Consolas"/>
              </a:rPr>
              <a:t>the same rose button that ships in Settings — revocation is a feature, not a 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09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7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5" presetID="42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0" y="4480560"/>
            <a:ext cx="3108960" cy="2377440"/>
          </a:xfrm>
          <a:prstGeom prst="rect">
            <a:avLst/>
          </a:prstGeom>
          <a:noFill/>
        </p:spPr>
        <p:txBody>
          <a:bodyPr wrap="none" anchor="b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7000" b="1" i="0">
                <a:solidFill>
                  <a:srgbClr val="171310"/>
                </a:solidFill>
                <a:latin typeface="Segoe UI"/>
              </a:rPr>
              <a:t>09</a:t>
            </a:r>
          </a:p>
        </p:txBody>
      </p:sp>
      <p:sp>
        <p:nvSpPr>
          <p:cNvPr id="5" name="!!bar0"/>
          <p:cNvSpPr/>
          <p:nvPr/>
        </p:nvSpPr>
        <p:spPr>
          <a:xfrm>
            <a:off x="9683496" y="5349240"/>
            <a:ext cx="182880" cy="41148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320000" rev="0"/>
            </a:camera>
            <a:lightRig rig="threePt" dir="t">
              <a:rot lat="0" lon="0" rev="1200000"/>
            </a:lightRig>
          </a:scene3d>
          <a:sp3d extrusionH="9144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1"/>
          <p:cNvSpPr/>
          <p:nvPr/>
        </p:nvSpPr>
        <p:spPr>
          <a:xfrm>
            <a:off x="9985248" y="5029200"/>
            <a:ext cx="182880" cy="7315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320000" rev="0"/>
            </a:camera>
            <a:lightRig rig="threePt" dir="t">
              <a:rot lat="0" lon="0" rev="1200000"/>
            </a:lightRig>
          </a:scene3d>
          <a:sp3d extrusionH="9144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2"/>
          <p:cNvSpPr/>
          <p:nvPr/>
        </p:nvSpPr>
        <p:spPr>
          <a:xfrm>
            <a:off x="10287000" y="4709160"/>
            <a:ext cx="182880" cy="105156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BBF24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320000" rev="0"/>
            </a:camera>
            <a:lightRig rig="threePt" dir="t">
              <a:rot lat="0" lon="0" rev="1200000"/>
            </a:lightRig>
          </a:scene3d>
          <a:sp3d extrusionH="9144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3"/>
          <p:cNvSpPr/>
          <p:nvPr/>
        </p:nvSpPr>
        <p:spPr>
          <a:xfrm>
            <a:off x="10588752" y="4389120"/>
            <a:ext cx="182880" cy="137160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320000" rev="0"/>
            </a:camera>
            <a:lightRig rig="threePt" dir="t">
              <a:rot lat="0" lon="0" rev="1200000"/>
            </a:lightRig>
          </a:scene3d>
          <a:sp3d extrusionH="9144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!!bar4"/>
          <p:cNvSpPr/>
          <p:nvPr/>
        </p:nvSpPr>
        <p:spPr>
          <a:xfrm>
            <a:off x="10890504" y="4069080"/>
            <a:ext cx="182880" cy="169164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240000" lon="1320000" rev="0"/>
            </a:camera>
            <a:lightRig rig="threePt" dir="t">
              <a:rot lat="0" lon="0" rev="1200000"/>
            </a:lightRig>
          </a:scene3d>
          <a:sp3d extrusionH="91440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713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59E0B"/>
                </a:solidFill>
                <a:latin typeface="Consolas"/>
              </a:rPr>
              <a:t>BEYOND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115568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AFAF9"/>
                </a:solidFill>
                <a:latin typeface="Segoe UI"/>
              </a:rPr>
              <a:t>A ladder to a model that's yours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A8A29E"/>
                </a:solidFill>
                <a:latin typeface="Segoe UI"/>
              </a:rPr>
              <a:t>Personal style isn't one trick — it's three tiers, and the top tier is real 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0520"/>
            <a:ext cx="2852928" cy="187452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194" y="4160520"/>
            <a:ext cx="239646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4398264"/>
            <a:ext cx="2377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00">
                <a:solidFill>
                  <a:srgbClr val="F59E0B"/>
                </a:solidFill>
                <a:latin typeface="Consolas"/>
              </a:rPr>
              <a:t>TIER 1 · ALWAYS ON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EF3C7"/>
                </a:solidFill>
                <a:latin typeface="Segoe UI"/>
              </a:rPr>
              <a:t>Few-shot retrieval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A8A29E"/>
                </a:solidFill>
                <a:latin typeface="Segoe UI"/>
              </a:rPr>
              <a:t>Your corpus is embedded once (GTE-Large on DO). At speak time, your most similar past messages become the examples.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3383280"/>
            <a:ext cx="2852928" cy="187452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434" y="3383280"/>
            <a:ext cx="239646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23944" y="3621024"/>
            <a:ext cx="2377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00">
                <a:solidFill>
                  <a:srgbClr val="F59E0B"/>
                </a:solidFill>
                <a:latin typeface="Consolas"/>
              </a:rPr>
              <a:t>TIER 2 · PER STYLE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EF3C7"/>
                </a:solidFill>
                <a:latin typeface="Segoe UI"/>
              </a:rPr>
              <a:t>Distilled style card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A8A29E"/>
                </a:solidFill>
                <a:latin typeface="Segoe UI"/>
              </a:rPr>
              <a:t>An LLM writes a profile of how you text — slang, punctuation, energy — injected into every prompt. Swappable: “Casual”, “Business”…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606040"/>
            <a:ext cx="2852928" cy="1874520"/>
          </a:xfrm>
          <a:prstGeom prst="roundRect">
            <a:avLst>
              <a:gd name="adj" fmla="val 7500"/>
            </a:avLst>
          </a:prstGeom>
          <a:effectLst/>
          <a:solidFill>
            <a:srgbClr val="1C1917">
              <a:alpha val="90000"/>
            </a:srgbClr>
          </a:solidFill>
          <a:ln w="12700">
            <a:solidFill>
              <a:srgbClr val="292524"/>
            </a:solidFill>
          </a:ln>
          <a:effectLst>
            <a:outerShdw blurRad="164592" dist="50292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77674" y="2606040"/>
            <a:ext cx="2396460" cy="14630"/>
          </a:xfrm>
          <a:prstGeom prst="rect">
            <a:avLst/>
          </a:prstGeom>
          <a:effectLst/>
          <a:solidFill>
            <a:srgbClr val="44403C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4" y="2843784"/>
            <a:ext cx="2377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00">
                <a:solidFill>
                  <a:srgbClr val="F59E0B"/>
                </a:solidFill>
                <a:latin typeface="Consolas"/>
              </a:rPr>
              <a:t>TIER 3 · PER USER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EF3C7"/>
                </a:solidFill>
                <a:latin typeface="Segoe UI"/>
              </a:rPr>
              <a:t>Your own fine-tuned model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A8A29E"/>
                </a:solidFill>
                <a:latin typeface="Segoe UI"/>
              </a:rPr>
              <a:t>A LoRA of Qwen2.5-1.5B trained on your messages (TRL, EC2 GPU), pushed to Hugging Face and served from a dedicated endpoint — a model of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40" y="5833872"/>
            <a:ext cx="420624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40" y="5833872"/>
            <a:ext cx="4206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 spc="60">
                <a:solidFill>
                  <a:srgbClr val="D6D3D1"/>
                </a:solidFill>
                <a:latin typeface="Consolas"/>
              </a:rPr>
              <a:t>+ EXPO MOBILE APP — SAME IDENTITY, POCKET-SIZED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RECLAIM</a:t>
            </a:r>
            <a:r>
              <a:rPr sz="900" b="0" i="0" spc="200">
                <a:solidFill>
                  <a:srgbClr val="57534E"/>
                </a:solidFill>
                <a:latin typeface="Consolas"/>
              </a:rPr>
              <a:t>  ·  AI FOR SOCIAL GOOD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472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200">
                <a:solidFill>
                  <a:srgbClr val="57534E"/>
                </a:solidFill>
                <a:latin typeface="Consolas"/>
              </a:rPr>
              <a:t>BUILT ON DIGITALOCEAN  ·  10 / 11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7" presetID="42" presetClass="entr" presetSubtype="0" fill="hold" grpId="0" nodeType="withEffect">
                                  <p:stCondLst>
                                    <p:cond delay="13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0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4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5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9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effectLst/>
          <a:solidFill>
            <a:srgbClr val="0C0A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3017520" y="-2377440"/>
            <a:ext cx="6217920" cy="6217920"/>
          </a:xfrm>
          <a:prstGeom prst="ellipse">
            <a:avLst/>
          </a:prstGeom>
          <a:effectLst/>
          <a:gradFill>
            <a:gsLst>
              <a:gs pos="0">
                <a:srgbClr val="F59E0B">
                  <a:alpha val="9000"/>
                </a:srgbClr>
              </a:gs>
              <a:gs pos="100000">
                <a:srgbClr val="0C0A0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bar0"/>
          <p:cNvSpPr/>
          <p:nvPr/>
        </p:nvSpPr>
        <p:spPr>
          <a:xfrm>
            <a:off x="4788713" y="1600200"/>
            <a:ext cx="347472" cy="141732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600000" lon="1080000" rev="0"/>
            </a:camera>
            <a:lightRig rig="threePt" dir="t">
              <a:rot lat="0" lon="0" rev="1200000"/>
            </a:lightRig>
          </a:scene3d>
          <a:sp3d extrusionH="1737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5" name="!!bar1"/>
          <p:cNvSpPr/>
          <p:nvPr/>
        </p:nvSpPr>
        <p:spPr>
          <a:xfrm>
            <a:off x="5355641" y="1051560"/>
            <a:ext cx="347472" cy="196596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600000" lon="1080000" rev="0"/>
            </a:camera>
            <a:lightRig rig="threePt" dir="t">
              <a:rot lat="0" lon="0" rev="1200000"/>
            </a:lightRig>
          </a:scene3d>
          <a:sp3d extrusionH="1737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6" name="!!bar2"/>
          <p:cNvSpPr/>
          <p:nvPr/>
        </p:nvSpPr>
        <p:spPr>
          <a:xfrm>
            <a:off x="5922569" y="640080"/>
            <a:ext cx="347472" cy="237744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BBF24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600000" lon="1080000" rev="0"/>
            </a:camera>
            <a:lightRig rig="threePt" dir="t">
              <a:rot lat="0" lon="0" rev="1200000"/>
            </a:lightRig>
          </a:scene3d>
          <a:sp3d extrusionH="1737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7" name="!!bar3"/>
          <p:cNvSpPr/>
          <p:nvPr/>
        </p:nvSpPr>
        <p:spPr>
          <a:xfrm>
            <a:off x="6489497" y="1234440"/>
            <a:ext cx="347472" cy="178308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F59E0B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600000" lon="1080000" rev="0"/>
            </a:camera>
            <a:lightRig rig="threePt" dir="t">
              <a:rot lat="0" lon="0" rev="1200000"/>
            </a:lightRig>
          </a:scene3d>
          <a:sp3d extrusionH="1737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8" name="!!bar4"/>
          <p:cNvSpPr/>
          <p:nvPr/>
        </p:nvSpPr>
        <p:spPr>
          <a:xfrm>
            <a:off x="7056425" y="1737360"/>
            <a:ext cx="347472" cy="1280160"/>
          </a:xfrm>
          <a:prstGeom prst="roundRect">
            <a:avLst>
              <a:gd name="adj" fmla="val 50000"/>
            </a:avLst>
          </a:prstGeom>
          <a:effectLst/>
          <a:gradFill rotWithShape="1">
            <a:gsLst>
              <a:gs pos="0">
                <a:srgbClr val="FBBF24"/>
              </a:gs>
              <a:gs pos="100000">
                <a:srgbClr val="D97706"/>
              </a:gs>
            </a:gsLst>
            <a:lin ang="5400000" scaled="1"/>
          </a:gradFill>
          <a:ln>
            <a:noFill/>
          </a:ln>
          <a:scene3d>
            <a:camera prst="perspectiveRelaxedModerately" fov="2700000">
              <a:rot lat="600000" lon="1080000" rev="0"/>
            </a:camera>
            <a:lightRig rig="threePt" dir="t">
              <a:rot lat="0" lon="0" rev="1200000"/>
            </a:lightRig>
          </a:scene3d>
          <a:sp3d extrusionH="173736" prstMaterial="matte">
            <a:bevelT w="12700" h="12700"/>
            <a:extrusionClr>
              <a:srgbClr val="B45309"/>
            </a:extrusionClr>
          </a:sp3d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10128"/>
            <a:ext cx="103628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200" b="1" i="0">
                <a:solidFill>
                  <a:srgbClr val="FAFAF9"/>
                </a:solidFill>
                <a:latin typeface="Segoe UI"/>
              </a:rPr>
              <a:t>Five minutes of setup.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>
                <a:solidFill>
                  <a:srgbClr val="FBBF24"/>
                </a:solidFill>
                <a:latin typeface="Segoe UI"/>
              </a:rPr>
              <a:t>A voice that's yours for good.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4892040"/>
            <a:ext cx="4114800" cy="420624"/>
          </a:xfrm>
          <a:prstGeom prst="roundRect">
            <a:avLst>
              <a:gd name="adj" fmla="val 50000"/>
            </a:avLst>
          </a:prstGeom>
          <a:effectLst/>
          <a:solidFill>
            <a:srgbClr val="F59E0B">
              <a:alpha val="100000"/>
            </a:srgbClr>
          </a:solidFill>
          <a:ln w="1270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4892040"/>
            <a:ext cx="4114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 spc="60">
                <a:solidFill>
                  <a:srgbClr val="1C1917"/>
                </a:solidFill>
                <a:latin typeface="Consolas"/>
              </a:rPr>
              <a:t>reclaim-2p92q.ondigitalocean.app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596128"/>
            <a:ext cx="7616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A8A29E"/>
                </a:solidFill>
                <a:latin typeface="Segoe UI"/>
              </a:rPr>
              <a:t>Reclaim — AI for social good, built on DigitalOcean. Thank you.</a:t>
            </a:r>
          </a:p>
        </p:txBody>
      </p:sp>
      <p:sp>
        <p:nvSpPr>
          <p:cNvPr id="13" name="!!hackchip"/>
          <p:cNvSpPr/>
          <p:nvPr/>
        </p:nvSpPr>
        <p:spPr>
          <a:xfrm>
            <a:off x="4453128" y="457200"/>
            <a:ext cx="3291840" cy="310896"/>
          </a:xfrm>
          <a:prstGeom prst="roundRect">
            <a:avLst>
              <a:gd name="adj" fmla="val 50000"/>
            </a:avLst>
          </a:prstGeom>
          <a:effectLst/>
          <a:solidFill>
            <a:srgbClr val="1C1917">
              <a:alpha val="80000"/>
            </a:srgbClr>
          </a:solidFill>
          <a:ln w="12700">
            <a:solidFill>
              <a:srgbClr val="4440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457200"/>
            <a:ext cx="3291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 spc="60">
                <a:solidFill>
                  <a:srgbClr val="D6D3D1"/>
                </a:solidFill>
                <a:latin typeface="Consolas"/>
              </a:rPr>
              <a:t>AI FOR SOCIAL GOOD · HACKATHON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9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