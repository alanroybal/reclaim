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!!bg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effectLst/>
          <a:solidFill>
            <a:srgbClr val="0C0A09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" name="!!glow"/>
          <p:cNvSpPr/>
          <p:nvPr/>
        </p:nvSpPr>
        <p:spPr>
          <a:xfrm>
            <a:off x="3017520" y="-2377440"/>
            <a:ext cx="6217920" cy="6217920"/>
          </a:xfrm>
          <a:prstGeom prst="ellipse">
            <a:avLst/>
          </a:prstGeom>
          <a:effectLst/>
          <a:gradFill>
            <a:gsLst>
              <a:gs pos="0">
                <a:srgbClr val="F59E0B">
                  <a:alpha val="9000"/>
                </a:srgbClr>
              </a:gs>
              <a:gs pos="100000">
                <a:srgbClr val="0C0A09">
                  <a:alpha val="0"/>
                </a:srgbClr>
              </a:gs>
            </a:gsLst>
            <a:path path="circle">
              <a:fillToRect l="50000" t="50000" r="50000" b="50000"/>
            </a:path>
          </a:gra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!!bar0"/>
          <p:cNvSpPr/>
          <p:nvPr/>
        </p:nvSpPr>
        <p:spPr>
          <a:xfrm>
            <a:off x="4935017" y="1527048"/>
            <a:ext cx="310896" cy="868680"/>
          </a:xfrm>
          <a:prstGeom prst="roundRect">
            <a:avLst>
              <a:gd name="adj" fmla="val 50000"/>
            </a:avLst>
          </a:prstGeom>
          <a:effectLst/>
          <a:gradFill rotWithShape="1">
            <a:gsLst>
              <a:gs pos="0">
                <a:srgbClr val="FBBF24"/>
              </a:gs>
              <a:gs pos="100000">
                <a:srgbClr val="D97706"/>
              </a:gs>
            </a:gsLst>
            <a:lin ang="5400000" scaled="1"/>
          </a:gradFill>
          <a:ln>
            <a:noFill/>
          </a:ln>
          <a:scene3d>
            <a:camera prst="perspectiveRelaxedModerately" fov="2700000">
              <a:rot lat="480000" lon="20280000" rev="0"/>
            </a:camera>
            <a:lightRig rig="threePt" dir="t">
              <a:rot lat="0" lon="0" rev="1200000"/>
            </a:lightRig>
          </a:scene3d>
          <a:sp3d extrusionH="155448" prstMaterial="matte">
            <a:bevelT w="12700" h="12700"/>
            <a:extrusionClr>
              <a:srgbClr val="B45309"/>
            </a:extrusionClr>
          </a:sp3d>
        </p:spPr>
        <p:txBody>
          <a:bodyPr rtlCol="0" anchor="ctr"/>
          <a:lstStyle/>
          <a:p>
            <a:pPr algn="ctr"/>
          </a:p>
        </p:txBody>
      </p:sp>
      <p:sp>
        <p:nvSpPr>
          <p:cNvPr id="5" name="!!bar1"/>
          <p:cNvSpPr/>
          <p:nvPr/>
        </p:nvSpPr>
        <p:spPr>
          <a:xfrm>
            <a:off x="5437937" y="978408"/>
            <a:ext cx="310896" cy="1417320"/>
          </a:xfrm>
          <a:prstGeom prst="roundRect">
            <a:avLst>
              <a:gd name="adj" fmla="val 50000"/>
            </a:avLst>
          </a:prstGeom>
          <a:effectLst/>
          <a:gradFill rotWithShape="1">
            <a:gsLst>
              <a:gs pos="0">
                <a:srgbClr val="FBBF24"/>
              </a:gs>
              <a:gs pos="100000">
                <a:srgbClr val="F59E0B"/>
              </a:gs>
            </a:gsLst>
            <a:lin ang="5400000" scaled="1"/>
          </a:gradFill>
          <a:ln>
            <a:noFill/>
          </a:ln>
          <a:scene3d>
            <a:camera prst="perspectiveRelaxedModerately" fov="2700000">
              <a:rot lat="480000" lon="20280000" rev="0"/>
            </a:camera>
            <a:lightRig rig="threePt" dir="t">
              <a:rot lat="0" lon="0" rev="1200000"/>
            </a:lightRig>
          </a:scene3d>
          <a:sp3d extrusionH="155448" prstMaterial="matte">
            <a:bevelT w="12700" h="12700"/>
            <a:extrusionClr>
              <a:srgbClr val="B45309"/>
            </a:extrusionClr>
          </a:sp3d>
        </p:spPr>
        <p:txBody>
          <a:bodyPr rtlCol="0" anchor="ctr"/>
          <a:lstStyle/>
          <a:p>
            <a:pPr algn="ctr"/>
          </a:p>
        </p:txBody>
      </p:sp>
      <p:sp>
        <p:nvSpPr>
          <p:cNvPr id="6" name="!!bar2"/>
          <p:cNvSpPr/>
          <p:nvPr/>
        </p:nvSpPr>
        <p:spPr>
          <a:xfrm>
            <a:off x="5940857" y="612648"/>
            <a:ext cx="310896" cy="1783080"/>
          </a:xfrm>
          <a:prstGeom prst="roundRect">
            <a:avLst>
              <a:gd name="adj" fmla="val 50000"/>
            </a:avLst>
          </a:prstGeom>
          <a:effectLst/>
          <a:gradFill rotWithShape="1">
            <a:gsLst>
              <a:gs pos="0">
                <a:srgbClr val="FBBF24"/>
              </a:gs>
              <a:gs pos="100000">
                <a:srgbClr val="FBBF24"/>
              </a:gs>
            </a:gsLst>
            <a:lin ang="5400000" scaled="1"/>
          </a:gradFill>
          <a:ln>
            <a:noFill/>
          </a:ln>
          <a:scene3d>
            <a:camera prst="perspectiveRelaxedModerately" fov="2700000">
              <a:rot lat="480000" lon="20280000" rev="0"/>
            </a:camera>
            <a:lightRig rig="threePt" dir="t">
              <a:rot lat="0" lon="0" rev="1200000"/>
            </a:lightRig>
          </a:scene3d>
          <a:sp3d extrusionH="155448" prstMaterial="matte">
            <a:bevelT w="12700" h="12700"/>
            <a:extrusionClr>
              <a:srgbClr val="B45309"/>
            </a:extrusionClr>
          </a:sp3d>
        </p:spPr>
        <p:txBody>
          <a:bodyPr rtlCol="0" anchor="ctr"/>
          <a:lstStyle/>
          <a:p>
            <a:pPr algn="ctr"/>
          </a:p>
        </p:txBody>
      </p:sp>
      <p:sp>
        <p:nvSpPr>
          <p:cNvPr id="7" name="!!bar3"/>
          <p:cNvSpPr/>
          <p:nvPr/>
        </p:nvSpPr>
        <p:spPr>
          <a:xfrm>
            <a:off x="6443777" y="1207008"/>
            <a:ext cx="310896" cy="1188720"/>
          </a:xfrm>
          <a:prstGeom prst="roundRect">
            <a:avLst>
              <a:gd name="adj" fmla="val 50000"/>
            </a:avLst>
          </a:prstGeom>
          <a:effectLst/>
          <a:gradFill rotWithShape="1">
            <a:gsLst>
              <a:gs pos="0">
                <a:srgbClr val="FBBF24"/>
              </a:gs>
              <a:gs pos="100000">
                <a:srgbClr val="F59E0B"/>
              </a:gs>
            </a:gsLst>
            <a:lin ang="5400000" scaled="1"/>
          </a:gradFill>
          <a:ln>
            <a:noFill/>
          </a:ln>
          <a:scene3d>
            <a:camera prst="perspectiveRelaxedModerately" fov="2700000">
              <a:rot lat="480000" lon="20280000" rev="0"/>
            </a:camera>
            <a:lightRig rig="threePt" dir="t">
              <a:rot lat="0" lon="0" rev="1200000"/>
            </a:lightRig>
          </a:scene3d>
          <a:sp3d extrusionH="155448" prstMaterial="matte">
            <a:bevelT w="12700" h="12700"/>
            <a:extrusionClr>
              <a:srgbClr val="B45309"/>
            </a:extrusionClr>
          </a:sp3d>
        </p:spPr>
        <p:txBody>
          <a:bodyPr rtlCol="0" anchor="ctr"/>
          <a:lstStyle/>
          <a:p>
            <a:pPr algn="ctr"/>
          </a:p>
        </p:txBody>
      </p:sp>
      <p:sp>
        <p:nvSpPr>
          <p:cNvPr id="8" name="!!bar4"/>
          <p:cNvSpPr/>
          <p:nvPr/>
        </p:nvSpPr>
        <p:spPr>
          <a:xfrm>
            <a:off x="6946697" y="1618488"/>
            <a:ext cx="310896" cy="777240"/>
          </a:xfrm>
          <a:prstGeom prst="roundRect">
            <a:avLst>
              <a:gd name="adj" fmla="val 50000"/>
            </a:avLst>
          </a:prstGeom>
          <a:effectLst/>
          <a:gradFill rotWithShape="1">
            <a:gsLst>
              <a:gs pos="0">
                <a:srgbClr val="FBBF24"/>
              </a:gs>
              <a:gs pos="100000">
                <a:srgbClr val="D97706"/>
              </a:gs>
            </a:gsLst>
            <a:lin ang="5400000" scaled="1"/>
          </a:gradFill>
          <a:ln>
            <a:noFill/>
          </a:ln>
          <a:scene3d>
            <a:camera prst="perspectiveRelaxedModerately" fov="2700000">
              <a:rot lat="480000" lon="20280000" rev="0"/>
            </a:camera>
            <a:lightRig rig="threePt" dir="t">
              <a:rot lat="0" lon="0" rev="1200000"/>
            </a:lightRig>
          </a:scene3d>
          <a:sp3d extrusionH="155448" prstMaterial="matte">
            <a:bevelT w="12700" h="12700"/>
            <a:extrusionClr>
              <a:srgbClr val="B45309"/>
            </a:extrusionClr>
          </a:sp3d>
        </p:spPr>
        <p:txBody>
          <a:bodyPr rtlCol="0" anchor="ctr"/>
          <a:lstStyle/>
          <a:p>
            <a:pPr algn="ctr"/>
          </a:p>
        </p:txBody>
      </p:sp>
      <p:sp>
        <p:nvSpPr>
          <p:cNvPr id="9" name="!!hackchip"/>
          <p:cNvSpPr/>
          <p:nvPr/>
        </p:nvSpPr>
        <p:spPr>
          <a:xfrm>
            <a:off x="4453128" y="457200"/>
            <a:ext cx="3291840" cy="310896"/>
          </a:xfrm>
          <a:prstGeom prst="roundRect">
            <a:avLst>
              <a:gd name="adj" fmla="val 50000"/>
            </a:avLst>
          </a:prstGeom>
          <a:effectLst/>
          <a:solidFill>
            <a:srgbClr val="1C1917">
              <a:alpha val="80000"/>
            </a:srgbClr>
          </a:solidFill>
          <a:ln w="12700">
            <a:solidFill>
              <a:srgbClr val="44403C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453128" y="457200"/>
            <a:ext cx="3291840" cy="3108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0"/>
              </a:spcAft>
            </a:pPr>
            <a:r>
              <a:rPr sz="1050" b="0" i="0" spc="60">
                <a:solidFill>
                  <a:srgbClr val="D6D3D1"/>
                </a:solidFill>
                <a:latin typeface="Consolas"/>
              </a:rPr>
              <a:t>AI FOR SOCIAL GOOD · HACKATHON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4400" y="2670048"/>
            <a:ext cx="10362895" cy="12344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Aft>
                <a:spcPts val="0"/>
              </a:spcAft>
            </a:pPr>
            <a:r>
              <a:rPr sz="7200" b="1" i="0">
                <a:solidFill>
                  <a:srgbClr val="FAFAF9"/>
                </a:solidFill>
                <a:latin typeface="Segoe UI"/>
              </a:rPr>
              <a:t>Reclaim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14400" y="3950208"/>
            <a:ext cx="10362895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2700" b="0" i="0">
                <a:solidFill>
                  <a:srgbClr val="D6D3D1"/>
                </a:solidFill>
                <a:latin typeface="Segoe UI"/>
              </a:rPr>
              <a:t>Your signs. Your words. </a:t>
            </a:r>
            <a:r>
              <a:rPr sz="2700" b="1" i="0">
                <a:solidFill>
                  <a:srgbClr val="FBBF24"/>
                </a:solidFill>
                <a:latin typeface="Segoe UI"/>
              </a:rPr>
              <a:t>Your voice.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331720" y="4700016"/>
            <a:ext cx="754380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30000"/>
              </a:lnSpc>
              <a:spcAft>
                <a:spcPts val="0"/>
              </a:spcAft>
            </a:pPr>
            <a:r>
              <a:rPr sz="1500" b="0" i="0">
                <a:solidFill>
                  <a:srgbClr val="A8A29E"/>
                </a:solidFill>
                <a:latin typeface="Segoe UI"/>
              </a:rPr>
              <a:t>Sign a phrase to the camera and the room hears it — in your slang, in a clone of your own voice.</a:t>
            </a:r>
          </a:p>
        </p:txBody>
      </p:sp>
      <p:sp>
        <p:nvSpPr>
          <p:cNvPr id="14" name="!!dochip"/>
          <p:cNvSpPr/>
          <p:nvPr/>
        </p:nvSpPr>
        <p:spPr>
          <a:xfrm>
            <a:off x="2212848" y="5742432"/>
            <a:ext cx="2331720" cy="310896"/>
          </a:xfrm>
          <a:prstGeom prst="roundRect">
            <a:avLst>
              <a:gd name="adj" fmla="val 50000"/>
            </a:avLst>
          </a:prstGeom>
          <a:effectLst/>
          <a:solidFill>
            <a:srgbClr val="1C1917">
              <a:alpha val="80000"/>
            </a:srgbClr>
          </a:solidFill>
          <a:ln w="12700">
            <a:solidFill>
              <a:srgbClr val="44403C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2340864" y="5856732"/>
            <a:ext cx="82296" cy="82296"/>
          </a:xfrm>
          <a:prstGeom prst="ellipse">
            <a:avLst/>
          </a:prstGeom>
          <a:effectLst/>
          <a:solidFill>
            <a:srgbClr val="0080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2304288" y="5742432"/>
            <a:ext cx="2240280" cy="3108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0"/>
              </a:spcAft>
            </a:pPr>
            <a:r>
              <a:rPr sz="1050" b="0" i="0" spc="60">
                <a:solidFill>
                  <a:srgbClr val="66B2FF"/>
                </a:solidFill>
                <a:latin typeface="Consolas"/>
              </a:rPr>
              <a:t>BUILT ON DIGITALOCEAN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4727448" y="5742432"/>
            <a:ext cx="1234440" cy="310896"/>
          </a:xfrm>
          <a:prstGeom prst="roundRect">
            <a:avLst>
              <a:gd name="adj" fmla="val 50000"/>
            </a:avLst>
          </a:prstGeom>
          <a:effectLst/>
          <a:solidFill>
            <a:srgbClr val="1C1917">
              <a:alpha val="80000"/>
            </a:srgbClr>
          </a:solidFill>
          <a:ln w="12700">
            <a:solidFill>
              <a:srgbClr val="44403C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727448" y="5742432"/>
            <a:ext cx="1234440" cy="3108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0"/>
              </a:spcAft>
            </a:pPr>
            <a:r>
              <a:rPr sz="1050" b="0" i="0" spc="60">
                <a:solidFill>
                  <a:srgbClr val="D6D3D1"/>
                </a:solidFill>
                <a:latin typeface="Consolas"/>
              </a:rPr>
              <a:t>GEMINI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144768" y="5742432"/>
            <a:ext cx="1965960" cy="310896"/>
          </a:xfrm>
          <a:prstGeom prst="roundRect">
            <a:avLst>
              <a:gd name="adj" fmla="val 50000"/>
            </a:avLst>
          </a:prstGeom>
          <a:effectLst/>
          <a:solidFill>
            <a:srgbClr val="1C1917">
              <a:alpha val="80000"/>
            </a:srgbClr>
          </a:solidFill>
          <a:ln w="12700">
            <a:solidFill>
              <a:srgbClr val="44403C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144768" y="5742432"/>
            <a:ext cx="1965960" cy="3108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0"/>
              </a:spcAft>
            </a:pPr>
            <a:r>
              <a:rPr sz="1050" b="0" i="0" spc="60">
                <a:solidFill>
                  <a:srgbClr val="D6D3D1"/>
                </a:solidFill>
                <a:latin typeface="Consolas"/>
              </a:rPr>
              <a:t>LLAMA 3.3 70B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8293608" y="5742432"/>
            <a:ext cx="1691640" cy="310896"/>
          </a:xfrm>
          <a:prstGeom prst="roundRect">
            <a:avLst>
              <a:gd name="adj" fmla="val 50000"/>
            </a:avLst>
          </a:prstGeom>
          <a:effectLst/>
          <a:solidFill>
            <a:srgbClr val="1C1917">
              <a:alpha val="80000"/>
            </a:srgbClr>
          </a:solidFill>
          <a:ln w="12700">
            <a:solidFill>
              <a:srgbClr val="44403C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293608" y="5742432"/>
            <a:ext cx="1691640" cy="3108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0"/>
              </a:spcAft>
            </a:pPr>
            <a:r>
              <a:rPr sz="1050" b="0" i="0" spc="60">
                <a:solidFill>
                  <a:srgbClr val="D6D3D1"/>
                </a:solidFill>
                <a:latin typeface="Consolas"/>
              </a:rPr>
              <a:t>ELEVENLABS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 xmlns:p159="http://schemas.microsoft.com/office/powerpoint/2015/09/main">
    <mc:Choice Requires="p159">
      <p:transition spd="slow" p14:dur="1100">
        <p159:morph option="byObject"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101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3" dur="55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5" presetID="42" presetClass="entr" presetSubtype="0" fill="hold" grpId="0" nodeType="withEffect">
                                  <p:stCondLst>
                                    <p:cond delay="150"/>
                                  </p:stCondLst>
                                  <p:childTnLst>
                                    <p:set>
                                      <p:cBhvr>
                                        <p:cTn id="10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7" dur="55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108" dur="55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9" presetID="42" presetClass="entr" presetSubtype="0" fill="hold" grpId="0" nodeType="withEffect">
                                  <p:stCondLst>
                                    <p:cond delay="380"/>
                                  </p:stCondLst>
                                  <p:childTnLst>
                                    <p:set>
                                      <p:cBhvr>
                                        <p:cTn id="1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1" dur="55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112" dur="55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13" presetID="42" presetClass="entr" presetSubtype="0" fill="hold" grpId="0" nodeType="withEffect">
                                  <p:stCondLst>
                                    <p:cond delay="560"/>
                                  </p:stCondLst>
                                  <p:childTnLst>
                                    <p:set>
                                      <p:cBhvr>
                                        <p:cTn id="1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5" dur="55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116" dur="55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17" presetID="10" presetClass="entr" presetSubtype="0" fill="hold" grpId="0" nodeType="withEffect">
                                  <p:stCondLst>
                                    <p:cond delay="760"/>
                                  </p:stCondLst>
                                  <p:childTnLst>
                                    <p:set>
                                      <p:cBhvr>
                                        <p:cTn id="1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9" dur="5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1" presetID="10" presetClass="entr" presetSubtype="0" fill="hold" grpId="0" nodeType="withEffect">
                                  <p:stCondLst>
                                    <p:cond delay="860"/>
                                  </p:stCondLst>
                                  <p:childTnLst>
                                    <p:set>
                                      <p:cBhvr>
                                        <p:cTn id="1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3" dur="5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5" presetID="10" presetClass="entr" presetSubtype="0" fill="hold" grpId="0" nodeType="withEffect">
                                  <p:stCondLst>
                                    <p:cond delay="940"/>
                                  </p:stCondLst>
                                  <p:childTnLst>
                                    <p:set>
                                      <p:cBhvr>
                                        <p:cTn id="1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7" dur="5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9" presetID="10" presetClass="entr" presetSubtype="0" fill="hold" grpId="0" nodeType="withEffect">
                                  <p:stCondLst>
                                    <p:cond delay="1020"/>
                                  </p:stCondLst>
                                  <p:childTnLst>
                                    <p:set>
                                      <p:cBhvr>
                                        <p:cTn id="1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1" dur="5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!!bg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effectLst/>
          <a:solidFill>
            <a:srgbClr val="0C0A09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" name="!!glow"/>
          <p:cNvSpPr/>
          <p:nvPr/>
        </p:nvSpPr>
        <p:spPr>
          <a:xfrm>
            <a:off x="3017520" y="-2377440"/>
            <a:ext cx="6217920" cy="6217920"/>
          </a:xfrm>
          <a:prstGeom prst="ellipse">
            <a:avLst/>
          </a:prstGeom>
          <a:effectLst/>
          <a:gradFill>
            <a:gsLst>
              <a:gs pos="0">
                <a:srgbClr val="F59E0B">
                  <a:alpha val="9000"/>
                </a:srgbClr>
              </a:gs>
              <a:gs pos="100000">
                <a:srgbClr val="0C0A09">
                  <a:alpha val="0"/>
                </a:srgbClr>
              </a:gs>
            </a:gsLst>
            <a:path path="circle">
              <a:fillToRect l="50000" t="50000" r="50000" b="50000"/>
            </a:path>
          </a:gra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235440" y="4480560"/>
            <a:ext cx="3108960" cy="2377440"/>
          </a:xfrm>
          <a:prstGeom prst="rect">
            <a:avLst/>
          </a:prstGeom>
          <a:noFill/>
        </p:spPr>
        <p:txBody>
          <a:bodyPr wrap="none" anchor="b" lIns="0" rIns="0" tIns="0" bIns="0">
            <a:spAutoFit/>
          </a:bodyPr>
          <a:lstStyle/>
          <a:p>
            <a:pPr algn="r">
              <a:spcAft>
                <a:spcPts val="0"/>
              </a:spcAft>
            </a:pPr>
            <a:r>
              <a:rPr sz="17000" b="1" i="0">
                <a:solidFill>
                  <a:srgbClr val="171310"/>
                </a:solidFill>
                <a:latin typeface="Segoe UI"/>
              </a:rPr>
              <a:t>01</a:t>
            </a:r>
          </a:p>
        </p:txBody>
      </p:sp>
      <p:sp>
        <p:nvSpPr>
          <p:cNvPr id="5" name="!!bar0"/>
          <p:cNvSpPr/>
          <p:nvPr/>
        </p:nvSpPr>
        <p:spPr>
          <a:xfrm>
            <a:off x="10392156" y="987552"/>
            <a:ext cx="118872" cy="310896"/>
          </a:xfrm>
          <a:prstGeom prst="roundRect">
            <a:avLst>
              <a:gd name="adj" fmla="val 50000"/>
            </a:avLst>
          </a:prstGeom>
          <a:effectLst/>
          <a:gradFill rotWithShape="1">
            <a:gsLst>
              <a:gs pos="0">
                <a:srgbClr val="FBBF24">
                  <a:alpha val="70000"/>
                </a:srgbClr>
              </a:gs>
              <a:gs pos="100000">
                <a:srgbClr val="D97706">
                  <a:alpha val="70000"/>
                </a:srgbClr>
              </a:gs>
            </a:gsLst>
            <a:lin ang="5400000" scaled="1"/>
          </a:gradFill>
          <a:ln>
            <a:noFill/>
          </a:ln>
          <a:scene3d>
            <a:camera prst="perspectiveRelaxedModerately" fov="2700000">
              <a:rot lat="240000" lon="19200000" rev="0"/>
            </a:camera>
            <a:lightRig rig="threePt" dir="t">
              <a:rot lat="0" lon="0" rev="1200000"/>
            </a:lightRig>
          </a:scene3d>
          <a:sp3d extrusionH="59436" prstMaterial="matte">
            <a:bevelT w="12700" h="12700"/>
            <a:extrusionClr>
              <a:srgbClr val="B45309"/>
            </a:extrusionClr>
          </a:sp3d>
        </p:spPr>
        <p:txBody>
          <a:bodyPr rtlCol="0" anchor="ctr"/>
          <a:lstStyle/>
          <a:p>
            <a:pPr algn="ctr"/>
          </a:p>
        </p:txBody>
      </p:sp>
      <p:sp>
        <p:nvSpPr>
          <p:cNvPr id="6" name="!!bar1"/>
          <p:cNvSpPr/>
          <p:nvPr/>
        </p:nvSpPr>
        <p:spPr>
          <a:xfrm>
            <a:off x="10584180" y="768096"/>
            <a:ext cx="118872" cy="530352"/>
          </a:xfrm>
          <a:prstGeom prst="roundRect">
            <a:avLst>
              <a:gd name="adj" fmla="val 50000"/>
            </a:avLst>
          </a:prstGeom>
          <a:effectLst/>
          <a:gradFill rotWithShape="1">
            <a:gsLst>
              <a:gs pos="0">
                <a:srgbClr val="FBBF24">
                  <a:alpha val="70000"/>
                </a:srgbClr>
              </a:gs>
              <a:gs pos="100000">
                <a:srgbClr val="F59E0B">
                  <a:alpha val="70000"/>
                </a:srgbClr>
              </a:gs>
            </a:gsLst>
            <a:lin ang="5400000" scaled="1"/>
          </a:gradFill>
          <a:ln>
            <a:noFill/>
          </a:ln>
          <a:scene3d>
            <a:camera prst="perspectiveRelaxedModerately" fov="2700000">
              <a:rot lat="240000" lon="19200000" rev="0"/>
            </a:camera>
            <a:lightRig rig="threePt" dir="t">
              <a:rot lat="0" lon="0" rev="1200000"/>
            </a:lightRig>
          </a:scene3d>
          <a:sp3d extrusionH="59436" prstMaterial="matte">
            <a:bevelT w="12700" h="12700"/>
            <a:extrusionClr>
              <a:srgbClr val="B45309"/>
            </a:extrusionClr>
          </a:sp3d>
        </p:spPr>
        <p:txBody>
          <a:bodyPr rtlCol="0" anchor="ctr"/>
          <a:lstStyle/>
          <a:p>
            <a:pPr algn="ctr"/>
          </a:p>
        </p:txBody>
      </p:sp>
      <p:sp>
        <p:nvSpPr>
          <p:cNvPr id="7" name="!!bar2"/>
          <p:cNvSpPr/>
          <p:nvPr/>
        </p:nvSpPr>
        <p:spPr>
          <a:xfrm>
            <a:off x="10776204" y="621792"/>
            <a:ext cx="118872" cy="676656"/>
          </a:xfrm>
          <a:prstGeom prst="roundRect">
            <a:avLst>
              <a:gd name="adj" fmla="val 50000"/>
            </a:avLst>
          </a:prstGeom>
          <a:effectLst/>
          <a:gradFill rotWithShape="1">
            <a:gsLst>
              <a:gs pos="0">
                <a:srgbClr val="FBBF24">
                  <a:alpha val="70000"/>
                </a:srgbClr>
              </a:gs>
              <a:gs pos="100000">
                <a:srgbClr val="FBBF24">
                  <a:alpha val="70000"/>
                </a:srgbClr>
              </a:gs>
            </a:gsLst>
            <a:lin ang="5400000" scaled="1"/>
          </a:gradFill>
          <a:ln>
            <a:noFill/>
          </a:ln>
          <a:scene3d>
            <a:camera prst="perspectiveRelaxedModerately" fov="2700000">
              <a:rot lat="240000" lon="19200000" rev="0"/>
            </a:camera>
            <a:lightRig rig="threePt" dir="t">
              <a:rot lat="0" lon="0" rev="1200000"/>
            </a:lightRig>
          </a:scene3d>
          <a:sp3d extrusionH="59436" prstMaterial="matte">
            <a:bevelT w="12700" h="12700"/>
            <a:extrusionClr>
              <a:srgbClr val="B45309"/>
            </a:extrusionClr>
          </a:sp3d>
        </p:spPr>
        <p:txBody>
          <a:bodyPr rtlCol="0" anchor="ctr"/>
          <a:lstStyle/>
          <a:p>
            <a:pPr algn="ctr"/>
          </a:p>
        </p:txBody>
      </p:sp>
      <p:sp>
        <p:nvSpPr>
          <p:cNvPr id="8" name="!!bar3"/>
          <p:cNvSpPr/>
          <p:nvPr/>
        </p:nvSpPr>
        <p:spPr>
          <a:xfrm>
            <a:off x="10968228" y="859536"/>
            <a:ext cx="118872" cy="438912"/>
          </a:xfrm>
          <a:prstGeom prst="roundRect">
            <a:avLst>
              <a:gd name="adj" fmla="val 50000"/>
            </a:avLst>
          </a:prstGeom>
          <a:effectLst/>
          <a:gradFill rotWithShape="1">
            <a:gsLst>
              <a:gs pos="0">
                <a:srgbClr val="FBBF24">
                  <a:alpha val="70000"/>
                </a:srgbClr>
              </a:gs>
              <a:gs pos="100000">
                <a:srgbClr val="F59E0B">
                  <a:alpha val="70000"/>
                </a:srgbClr>
              </a:gs>
            </a:gsLst>
            <a:lin ang="5400000" scaled="1"/>
          </a:gradFill>
          <a:ln>
            <a:noFill/>
          </a:ln>
          <a:scene3d>
            <a:camera prst="perspectiveRelaxedModerately" fov="2700000">
              <a:rot lat="240000" lon="19200000" rev="0"/>
            </a:camera>
            <a:lightRig rig="threePt" dir="t">
              <a:rot lat="0" lon="0" rev="1200000"/>
            </a:lightRig>
          </a:scene3d>
          <a:sp3d extrusionH="59436" prstMaterial="matte">
            <a:bevelT w="12700" h="12700"/>
            <a:extrusionClr>
              <a:srgbClr val="B45309"/>
            </a:extrusionClr>
          </a:sp3d>
        </p:spPr>
        <p:txBody>
          <a:bodyPr rtlCol="0" anchor="ctr"/>
          <a:lstStyle/>
          <a:p>
            <a:pPr algn="ctr"/>
          </a:p>
        </p:txBody>
      </p:sp>
      <p:sp>
        <p:nvSpPr>
          <p:cNvPr id="9" name="!!bar4"/>
          <p:cNvSpPr/>
          <p:nvPr/>
        </p:nvSpPr>
        <p:spPr>
          <a:xfrm>
            <a:off x="11160252" y="1024128"/>
            <a:ext cx="118872" cy="274320"/>
          </a:xfrm>
          <a:prstGeom prst="roundRect">
            <a:avLst>
              <a:gd name="adj" fmla="val 50000"/>
            </a:avLst>
          </a:prstGeom>
          <a:effectLst/>
          <a:gradFill rotWithShape="1">
            <a:gsLst>
              <a:gs pos="0">
                <a:srgbClr val="FBBF24">
                  <a:alpha val="70000"/>
                </a:srgbClr>
              </a:gs>
              <a:gs pos="100000">
                <a:srgbClr val="D97706">
                  <a:alpha val="70000"/>
                </a:srgbClr>
              </a:gs>
            </a:gsLst>
            <a:lin ang="5400000" scaled="1"/>
          </a:gradFill>
          <a:ln>
            <a:noFill/>
          </a:ln>
          <a:scene3d>
            <a:camera prst="perspectiveRelaxedModerately" fov="2700000">
              <a:rot lat="240000" lon="19200000" rev="0"/>
            </a:camera>
            <a:lightRig rig="threePt" dir="t">
              <a:rot lat="0" lon="0" rev="1200000"/>
            </a:lightRig>
          </a:scene3d>
          <a:sp3d extrusionH="59436" prstMaterial="matte">
            <a:bevelT w="12700" h="12700"/>
            <a:extrusionClr>
              <a:srgbClr val="B45309"/>
            </a:extrusionClr>
          </a:sp3d>
        </p:spPr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22960" y="713232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 i="0" spc="260">
                <a:solidFill>
                  <a:srgbClr val="F59E0B"/>
                </a:solidFill>
                <a:latin typeface="Consolas"/>
              </a:rPr>
              <a:t>THE PROBLEM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22960" y="1115568"/>
            <a:ext cx="10607040" cy="2011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Aft>
                <a:spcPts val="200"/>
              </a:spcAft>
            </a:pPr>
            <a:r>
              <a:rPr sz="3600" b="1" i="0">
                <a:solidFill>
                  <a:srgbClr val="FAFAF9"/>
                </a:solidFill>
                <a:latin typeface="Segoe UI"/>
              </a:rPr>
              <a:t>For millions of Deaf and nonspeaking people,</a:t>
            </a:r>
          </a:p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3600" b="1" i="0">
                <a:solidFill>
                  <a:srgbClr val="FBBF24"/>
                </a:solidFill>
                <a:latin typeface="Segoe UI"/>
              </a:rPr>
              <a:t>every room is a locked door.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22960" y="3429000"/>
            <a:ext cx="3401568" cy="2286000"/>
          </a:xfrm>
          <a:prstGeom prst="roundRect">
            <a:avLst>
              <a:gd name="adj" fmla="val 7500"/>
            </a:avLst>
          </a:prstGeom>
          <a:effectLst/>
          <a:solidFill>
            <a:srgbClr val="1C1917">
              <a:alpha val="90000"/>
            </a:srgbClr>
          </a:solidFill>
          <a:ln w="12700">
            <a:solidFill>
              <a:srgbClr val="292524"/>
            </a:solidFill>
          </a:ln>
          <a:effectLst>
            <a:outerShdw blurRad="164592" dist="50292" dir="5400000" rotWithShape="0">
              <a:srgbClr val="000000">
                <a:alpha val="38000"/>
              </a:srgbClr>
            </a:outerShdw>
          </a:effectLst>
        </p:spPr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1095085" y="3429000"/>
            <a:ext cx="2857317" cy="14630"/>
          </a:xfrm>
          <a:prstGeom prst="rect">
            <a:avLst/>
          </a:prstGeom>
          <a:effectLst/>
          <a:solidFill>
            <a:srgbClr val="44403C">
              <a:alpha val="80000"/>
            </a:srgbClr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097280" y="3703320"/>
            <a:ext cx="2852928" cy="1828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800"/>
              </a:spcAft>
            </a:pPr>
            <a:r>
              <a:rPr sz="1550" b="1" i="0">
                <a:solidFill>
                  <a:srgbClr val="FEF3C7"/>
                </a:solidFill>
                <a:latin typeface="Segoe UI"/>
              </a:rPr>
              <a:t>70M+ people sign first</a:t>
            </a:r>
          </a:p>
          <a:p>
            <a:pPr algn="l">
              <a:lnSpc>
                <a:spcPct val="132000"/>
              </a:lnSpc>
              <a:spcAft>
                <a:spcPts val="0"/>
              </a:spcAft>
            </a:pPr>
            <a:r>
              <a:rPr sz="1250" b="0" i="0">
                <a:solidFill>
                  <a:srgbClr val="A8A29E"/>
                </a:solidFill>
                <a:latin typeface="Segoe UI"/>
              </a:rPr>
              <a:t>Around 70 million Deaf people worldwide use a sign language as their first language. Most hearing people around them don't.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462272" y="3429000"/>
            <a:ext cx="3401568" cy="2286000"/>
          </a:xfrm>
          <a:prstGeom prst="roundRect">
            <a:avLst>
              <a:gd name="adj" fmla="val 7500"/>
            </a:avLst>
          </a:prstGeom>
          <a:effectLst/>
          <a:solidFill>
            <a:srgbClr val="1C1917">
              <a:alpha val="90000"/>
            </a:srgbClr>
          </a:solidFill>
          <a:ln w="12700">
            <a:solidFill>
              <a:srgbClr val="292524"/>
            </a:solidFill>
          </a:ln>
          <a:effectLst>
            <a:outerShdw blurRad="164592" dist="50292" dir="5400000" rotWithShape="0">
              <a:srgbClr val="000000">
                <a:alpha val="38000"/>
              </a:srgbClr>
            </a:outerShdw>
          </a:effectLst>
        </p:spPr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4734397" y="3429000"/>
            <a:ext cx="2857317" cy="14630"/>
          </a:xfrm>
          <a:prstGeom prst="rect">
            <a:avLst/>
          </a:prstGeom>
          <a:effectLst/>
          <a:solidFill>
            <a:srgbClr val="44403C">
              <a:alpha val="80000"/>
            </a:srgbClr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736592" y="3703320"/>
            <a:ext cx="2852928" cy="1828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800"/>
              </a:spcAft>
            </a:pPr>
            <a:r>
              <a:rPr sz="1550" b="1" i="0">
                <a:solidFill>
                  <a:srgbClr val="FEF3C7"/>
                </a:solidFill>
                <a:latin typeface="Segoe UI"/>
              </a:rPr>
              <a:t>TTS speaks — as nobody</a:t>
            </a:r>
          </a:p>
          <a:p>
            <a:pPr algn="l">
              <a:lnSpc>
                <a:spcPct val="132000"/>
              </a:lnSpc>
              <a:spcAft>
                <a:spcPts val="0"/>
              </a:spcAft>
            </a:pPr>
            <a:r>
              <a:rPr sz="1250" b="0" i="0">
                <a:solidFill>
                  <a:srgbClr val="A8A29E"/>
                </a:solidFill>
                <a:latin typeface="Segoe UI"/>
              </a:rPr>
              <a:t>Typing into a text-to-speech app is slow, breaks eye contact, and comes out in a robotic voice that belongs to no one.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101584" y="3429000"/>
            <a:ext cx="3401568" cy="2286000"/>
          </a:xfrm>
          <a:prstGeom prst="roundRect">
            <a:avLst>
              <a:gd name="adj" fmla="val 7500"/>
            </a:avLst>
          </a:prstGeom>
          <a:effectLst/>
          <a:solidFill>
            <a:srgbClr val="1C1917">
              <a:alpha val="90000"/>
            </a:srgbClr>
          </a:solidFill>
          <a:ln w="12700">
            <a:solidFill>
              <a:srgbClr val="292524"/>
            </a:solidFill>
          </a:ln>
          <a:effectLst>
            <a:outerShdw blurRad="164592" dist="50292" dir="5400000" rotWithShape="0">
              <a:srgbClr val="000000">
                <a:alpha val="38000"/>
              </a:srgbClr>
            </a:outerShdw>
          </a:effectLst>
        </p:spPr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8373709" y="3429000"/>
            <a:ext cx="2857317" cy="14630"/>
          </a:xfrm>
          <a:prstGeom prst="rect">
            <a:avLst/>
          </a:prstGeom>
          <a:effectLst/>
          <a:solidFill>
            <a:srgbClr val="44403C">
              <a:alpha val="80000"/>
            </a:srgbClr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375904" y="3703320"/>
            <a:ext cx="2852928" cy="1828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800"/>
              </a:spcAft>
            </a:pPr>
            <a:r>
              <a:rPr sz="1550" b="1" i="0">
                <a:solidFill>
                  <a:srgbClr val="FEF3C7"/>
                </a:solidFill>
                <a:latin typeface="Segoe UI"/>
              </a:rPr>
              <a:t>Identity is what's lost</a:t>
            </a:r>
          </a:p>
          <a:p>
            <a:pPr algn="l">
              <a:lnSpc>
                <a:spcPct val="132000"/>
              </a:lnSpc>
              <a:spcAft>
                <a:spcPts val="0"/>
              </a:spcAft>
            </a:pPr>
            <a:r>
              <a:rPr sz="1250" b="0" i="0">
                <a:solidFill>
                  <a:srgbClr val="A8A29E"/>
                </a:solidFill>
                <a:latin typeface="Segoe UI"/>
              </a:rPr>
              <a:t>AAC devices hand users a stranger's voice. The words get through — the person doesn't.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40080" y="6455664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900" b="0" i="0" spc="200">
                <a:solidFill>
                  <a:srgbClr val="57534E"/>
                </a:solidFill>
                <a:latin typeface="Consolas"/>
              </a:rPr>
              <a:t>RECLAIM</a:t>
            </a:r>
            <a:r>
              <a:rPr sz="900" b="0" i="0" spc="200">
                <a:solidFill>
                  <a:srgbClr val="57534E"/>
                </a:solidFill>
                <a:latin typeface="Consolas"/>
              </a:rPr>
              <a:t>  ·  AI FOR SOCIAL GOOD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062472" y="6455664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Aft>
                <a:spcPts val="0"/>
              </a:spcAft>
            </a:pPr>
            <a:r>
              <a:rPr sz="900" b="0" i="0" spc="200">
                <a:solidFill>
                  <a:srgbClr val="57534E"/>
                </a:solidFill>
                <a:latin typeface="Consolas"/>
              </a:rPr>
              <a:t>BUILT ON DIGITALOCEAN  ·  02 / 11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 xmlns:p159="http://schemas.microsoft.com/office/powerpoint/2015/09/main">
    <mc:Choice Requires="p159">
      <p:transition spd="slow" p14:dur="1100">
        <p159:morph option="byObject"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133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5" dur="55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136" dur="55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7" presetID="42" presetClass="entr" presetSubtype="0" fill="hold" grpId="0" nodeType="withEffect">
                                  <p:stCondLst>
                                    <p:cond delay="300"/>
                                  </p:stCondLst>
                                  <p:childTnLst>
                                    <p:set>
                                      <p:cBhvr>
                                        <p:cTn id="1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9" dur="5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140" dur="55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41" presetID="42" presetClass="entr" presetSubtype="0" fill="hold" grpId="0" nodeType="withEffect">
                                  <p:stCondLst>
                                    <p:cond delay="520"/>
                                  </p:stCondLst>
                                  <p:childTnLst>
                                    <p:set>
                                      <p:cBhvr>
                                        <p:cTn id="1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3" dur="5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144" dur="55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45" presetID="42" presetClass="entr" presetSubtype="0" fill="hold" grpId="0" nodeType="withEffect">
                                  <p:stCondLst>
                                    <p:cond delay="740"/>
                                  </p:stCondLst>
                                  <p:childTnLst>
                                    <p:set>
                                      <p:cBhvr>
                                        <p:cTn id="1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7" dur="5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148" dur="55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!!bg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effectLst/>
          <a:solidFill>
            <a:srgbClr val="0C0A09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" name="!!glow"/>
          <p:cNvSpPr/>
          <p:nvPr/>
        </p:nvSpPr>
        <p:spPr>
          <a:xfrm>
            <a:off x="3017520" y="-2377440"/>
            <a:ext cx="6217920" cy="6217920"/>
          </a:xfrm>
          <a:prstGeom prst="ellipse">
            <a:avLst/>
          </a:prstGeom>
          <a:effectLst/>
          <a:gradFill>
            <a:gsLst>
              <a:gs pos="0">
                <a:srgbClr val="F59E0B">
                  <a:alpha val="9000"/>
                </a:srgbClr>
              </a:gs>
              <a:gs pos="100000">
                <a:srgbClr val="0C0A09">
                  <a:alpha val="0"/>
                </a:srgbClr>
              </a:gs>
            </a:gsLst>
            <a:path path="circle">
              <a:fillToRect l="50000" t="50000" r="50000" b="50000"/>
            </a:path>
          </a:gra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235440" y="4480560"/>
            <a:ext cx="3108960" cy="2377440"/>
          </a:xfrm>
          <a:prstGeom prst="rect">
            <a:avLst/>
          </a:prstGeom>
          <a:noFill/>
        </p:spPr>
        <p:txBody>
          <a:bodyPr wrap="none" anchor="b" lIns="0" rIns="0" tIns="0" bIns="0">
            <a:spAutoFit/>
          </a:bodyPr>
          <a:lstStyle/>
          <a:p>
            <a:pPr algn="r">
              <a:spcAft>
                <a:spcPts val="0"/>
              </a:spcAft>
            </a:pPr>
            <a:r>
              <a:rPr sz="17000" b="1" i="0">
                <a:solidFill>
                  <a:srgbClr val="171310"/>
                </a:solidFill>
                <a:latin typeface="Segoe UI"/>
              </a:rPr>
              <a:t>02</a:t>
            </a:r>
          </a:p>
        </p:txBody>
      </p:sp>
      <p:sp>
        <p:nvSpPr>
          <p:cNvPr id="5" name="!!bar0"/>
          <p:cNvSpPr/>
          <p:nvPr/>
        </p:nvSpPr>
        <p:spPr>
          <a:xfrm>
            <a:off x="822960" y="5367528"/>
            <a:ext cx="201168" cy="621792"/>
          </a:xfrm>
          <a:prstGeom prst="roundRect">
            <a:avLst>
              <a:gd name="adj" fmla="val 50000"/>
            </a:avLst>
          </a:prstGeom>
          <a:effectLst/>
          <a:gradFill rotWithShape="1">
            <a:gsLst>
              <a:gs pos="0">
                <a:srgbClr val="FBBF24"/>
              </a:gs>
              <a:gs pos="100000">
                <a:srgbClr val="D97706"/>
              </a:gs>
            </a:gsLst>
            <a:lin ang="5400000" scaled="1"/>
          </a:gradFill>
          <a:ln>
            <a:noFill/>
          </a:ln>
          <a:scene3d>
            <a:camera prst="perspectiveRelaxedModerately" fov="2700000">
              <a:rot lat="120000" lon="1680000" rev="0"/>
            </a:camera>
            <a:lightRig rig="threePt" dir="t">
              <a:rot lat="0" lon="0" rev="1200000"/>
            </a:lightRig>
          </a:scene3d>
          <a:sp3d extrusionH="100584" prstMaterial="matte">
            <a:bevelT w="12700" h="12700"/>
            <a:extrusionClr>
              <a:srgbClr val="B45309"/>
            </a:extrusionClr>
          </a:sp3d>
        </p:spPr>
        <p:txBody>
          <a:bodyPr rtlCol="0" anchor="ctr"/>
          <a:lstStyle/>
          <a:p>
            <a:pPr algn="ctr"/>
          </a:p>
        </p:txBody>
      </p:sp>
      <p:sp>
        <p:nvSpPr>
          <p:cNvPr id="6" name="!!bar1"/>
          <p:cNvSpPr/>
          <p:nvPr/>
        </p:nvSpPr>
        <p:spPr>
          <a:xfrm>
            <a:off x="1147572" y="4965192"/>
            <a:ext cx="201168" cy="1024128"/>
          </a:xfrm>
          <a:prstGeom prst="roundRect">
            <a:avLst>
              <a:gd name="adj" fmla="val 50000"/>
            </a:avLst>
          </a:prstGeom>
          <a:effectLst/>
          <a:gradFill rotWithShape="1">
            <a:gsLst>
              <a:gs pos="0">
                <a:srgbClr val="FBBF24"/>
              </a:gs>
              <a:gs pos="100000">
                <a:srgbClr val="F59E0B"/>
              </a:gs>
            </a:gsLst>
            <a:lin ang="5400000" scaled="1"/>
          </a:gradFill>
          <a:ln>
            <a:noFill/>
          </a:ln>
          <a:scene3d>
            <a:camera prst="perspectiveRelaxedModerately" fov="2700000">
              <a:rot lat="120000" lon="1680000" rev="0"/>
            </a:camera>
            <a:lightRig rig="threePt" dir="t">
              <a:rot lat="0" lon="0" rev="1200000"/>
            </a:lightRig>
          </a:scene3d>
          <a:sp3d extrusionH="100584" prstMaterial="matte">
            <a:bevelT w="12700" h="12700"/>
            <a:extrusionClr>
              <a:srgbClr val="B45309"/>
            </a:extrusionClr>
          </a:sp3d>
        </p:spPr>
        <p:txBody>
          <a:bodyPr rtlCol="0" anchor="ctr"/>
          <a:lstStyle/>
          <a:p>
            <a:pPr algn="ctr"/>
          </a:p>
        </p:txBody>
      </p:sp>
      <p:sp>
        <p:nvSpPr>
          <p:cNvPr id="7" name="!!bar2"/>
          <p:cNvSpPr/>
          <p:nvPr/>
        </p:nvSpPr>
        <p:spPr>
          <a:xfrm>
            <a:off x="1472184" y="4654296"/>
            <a:ext cx="201168" cy="1335024"/>
          </a:xfrm>
          <a:prstGeom prst="roundRect">
            <a:avLst>
              <a:gd name="adj" fmla="val 50000"/>
            </a:avLst>
          </a:prstGeom>
          <a:effectLst/>
          <a:gradFill rotWithShape="1">
            <a:gsLst>
              <a:gs pos="0">
                <a:srgbClr val="FBBF24"/>
              </a:gs>
              <a:gs pos="100000">
                <a:srgbClr val="FBBF24"/>
              </a:gs>
            </a:gsLst>
            <a:lin ang="5400000" scaled="1"/>
          </a:gradFill>
          <a:ln>
            <a:noFill/>
          </a:ln>
          <a:scene3d>
            <a:camera prst="perspectiveRelaxedModerately" fov="2700000">
              <a:rot lat="120000" lon="1680000" rev="0"/>
            </a:camera>
            <a:lightRig rig="threePt" dir="t">
              <a:rot lat="0" lon="0" rev="1200000"/>
            </a:lightRig>
          </a:scene3d>
          <a:sp3d extrusionH="100584" prstMaterial="matte">
            <a:bevelT w="12700" h="12700"/>
            <a:extrusionClr>
              <a:srgbClr val="B45309"/>
            </a:extrusionClr>
          </a:sp3d>
        </p:spPr>
        <p:txBody>
          <a:bodyPr rtlCol="0" anchor="ctr"/>
          <a:lstStyle/>
          <a:p>
            <a:pPr algn="ctr"/>
          </a:p>
        </p:txBody>
      </p:sp>
      <p:sp>
        <p:nvSpPr>
          <p:cNvPr id="8" name="!!bar3"/>
          <p:cNvSpPr/>
          <p:nvPr/>
        </p:nvSpPr>
        <p:spPr>
          <a:xfrm>
            <a:off x="1796796" y="5148072"/>
            <a:ext cx="201168" cy="841248"/>
          </a:xfrm>
          <a:prstGeom prst="roundRect">
            <a:avLst>
              <a:gd name="adj" fmla="val 50000"/>
            </a:avLst>
          </a:prstGeom>
          <a:effectLst/>
          <a:gradFill rotWithShape="1">
            <a:gsLst>
              <a:gs pos="0">
                <a:srgbClr val="FBBF24"/>
              </a:gs>
              <a:gs pos="100000">
                <a:srgbClr val="F59E0B"/>
              </a:gs>
            </a:gsLst>
            <a:lin ang="5400000" scaled="1"/>
          </a:gradFill>
          <a:ln>
            <a:noFill/>
          </a:ln>
          <a:scene3d>
            <a:camera prst="perspectiveRelaxedModerately" fov="2700000">
              <a:rot lat="120000" lon="1680000" rev="0"/>
            </a:camera>
            <a:lightRig rig="threePt" dir="t">
              <a:rot lat="0" lon="0" rev="1200000"/>
            </a:lightRig>
          </a:scene3d>
          <a:sp3d extrusionH="100584" prstMaterial="matte">
            <a:bevelT w="12700" h="12700"/>
            <a:extrusionClr>
              <a:srgbClr val="B45309"/>
            </a:extrusionClr>
          </a:sp3d>
        </p:spPr>
        <p:txBody>
          <a:bodyPr rtlCol="0" anchor="ctr"/>
          <a:lstStyle/>
          <a:p>
            <a:pPr algn="ctr"/>
          </a:p>
        </p:txBody>
      </p:sp>
      <p:sp>
        <p:nvSpPr>
          <p:cNvPr id="9" name="!!bar4"/>
          <p:cNvSpPr/>
          <p:nvPr/>
        </p:nvSpPr>
        <p:spPr>
          <a:xfrm>
            <a:off x="2121408" y="5422392"/>
            <a:ext cx="201168" cy="566928"/>
          </a:xfrm>
          <a:prstGeom prst="roundRect">
            <a:avLst>
              <a:gd name="adj" fmla="val 50000"/>
            </a:avLst>
          </a:prstGeom>
          <a:effectLst/>
          <a:gradFill rotWithShape="1">
            <a:gsLst>
              <a:gs pos="0">
                <a:srgbClr val="FBBF24"/>
              </a:gs>
              <a:gs pos="100000">
                <a:srgbClr val="D97706"/>
              </a:gs>
            </a:gsLst>
            <a:lin ang="5400000" scaled="1"/>
          </a:gradFill>
          <a:ln>
            <a:noFill/>
          </a:ln>
          <a:scene3d>
            <a:camera prst="perspectiveRelaxedModerately" fov="2700000">
              <a:rot lat="120000" lon="1680000" rev="0"/>
            </a:camera>
            <a:lightRig rig="threePt" dir="t">
              <a:rot lat="0" lon="0" rev="1200000"/>
            </a:lightRig>
          </a:scene3d>
          <a:sp3d extrusionH="100584" prstMaterial="matte">
            <a:bevelT w="12700" h="12700"/>
            <a:extrusionClr>
              <a:srgbClr val="B45309"/>
            </a:extrusionClr>
          </a:sp3d>
        </p:spPr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22960" y="713232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 i="0" spc="260">
                <a:solidFill>
                  <a:srgbClr val="F59E0B"/>
                </a:solidFill>
                <a:latin typeface="Consolas"/>
              </a:rPr>
              <a:t>THE IDEA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22960" y="1115568"/>
            <a:ext cx="6949440" cy="2011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4400" b="1" i="0">
                <a:solidFill>
                  <a:srgbClr val="FAFAF9"/>
                </a:solidFill>
                <a:latin typeface="Segoe UI"/>
              </a:rPr>
              <a:t>Sign it.</a:t>
            </a:r>
          </a:p>
          <a:p>
            <a:pPr algn="l">
              <a:lnSpc>
                <a:spcPct val="108000"/>
              </a:lnSpc>
              <a:spcAft>
                <a:spcPts val="0"/>
              </a:spcAft>
            </a:pPr>
            <a:r>
              <a:rPr sz="4400" b="1" i="0">
                <a:solidFill>
                  <a:srgbClr val="FAFAF9"/>
                </a:solidFill>
                <a:latin typeface="Segoe UI"/>
              </a:rPr>
              <a:t>The room hears </a:t>
            </a:r>
            <a:r>
              <a:rPr sz="4400" b="1" i="0">
                <a:solidFill>
                  <a:srgbClr val="FBBF24"/>
                </a:solidFill>
                <a:latin typeface="Segoe UI"/>
              </a:rPr>
              <a:t>you</a:t>
            </a:r>
            <a:r>
              <a:rPr sz="4400" b="1" i="0">
                <a:solidFill>
                  <a:srgbClr val="FAFAF9"/>
                </a:solidFill>
                <a:latin typeface="Segoe UI"/>
              </a:rPr>
              <a:t>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22960" y="3246120"/>
            <a:ext cx="6035040" cy="1371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40000"/>
              </a:lnSpc>
              <a:spcAft>
                <a:spcPts val="0"/>
              </a:spcAft>
            </a:pPr>
            <a:r>
              <a:rPr sz="1500" b="0" i="0">
                <a:solidFill>
                  <a:srgbClr val="A8A29E"/>
                </a:solidFill>
                <a:latin typeface="Segoe UI"/>
              </a:rPr>
              <a:t>Record a clip of yourself signing. Reclaim translates it, lets you fix every word, rewrites it the way you actually talk, and says it out loud — in a voice cloned from you.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635240" y="1234440"/>
            <a:ext cx="3749040" cy="1371600"/>
          </a:xfrm>
          <a:prstGeom prst="roundRect">
            <a:avLst>
              <a:gd name="adj" fmla="val 7500"/>
            </a:avLst>
          </a:prstGeom>
          <a:effectLst/>
          <a:solidFill>
            <a:srgbClr val="1C1917">
              <a:alpha val="90000"/>
            </a:srgbClr>
          </a:solidFill>
          <a:ln w="12700">
            <a:solidFill>
              <a:srgbClr val="292524"/>
            </a:solidFill>
          </a:ln>
          <a:effectLst>
            <a:outerShdw blurRad="164592" dist="50292" dir="5400000" rotWithShape="0">
              <a:srgbClr val="000000">
                <a:alpha val="38000"/>
              </a:srgbClr>
            </a:outerShdw>
          </a:effectLst>
        </p:spPr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7935163" y="1234440"/>
            <a:ext cx="3149194" cy="14630"/>
          </a:xfrm>
          <a:prstGeom prst="rect">
            <a:avLst/>
          </a:prstGeom>
          <a:effectLst/>
          <a:solidFill>
            <a:srgbClr val="44403C">
              <a:alpha val="80000"/>
            </a:srgbClr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909560" y="1453896"/>
            <a:ext cx="3200400" cy="1005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100" b="1" i="0" spc="160">
                <a:solidFill>
                  <a:srgbClr val="F59E0B"/>
                </a:solidFill>
                <a:latin typeface="Consolas"/>
              </a:rPr>
              <a:t>YOUR WORDS</a:t>
            </a:r>
          </a:p>
          <a:p>
            <a:pPr algn="l">
              <a:lnSpc>
                <a:spcPct val="128000"/>
              </a:lnSpc>
              <a:spcAft>
                <a:spcPts val="0"/>
              </a:spcAft>
            </a:pPr>
            <a:r>
              <a:rPr sz="1200" b="0" i="0">
                <a:solidFill>
                  <a:srgbClr val="A8A29E"/>
                </a:solidFill>
                <a:latin typeface="Segoe UI"/>
              </a:rPr>
              <a:t>A style model trained on how you actually text — your slang, your punctuation, your energy.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635240" y="2807208"/>
            <a:ext cx="3749040" cy="1371600"/>
          </a:xfrm>
          <a:prstGeom prst="roundRect">
            <a:avLst>
              <a:gd name="adj" fmla="val 7500"/>
            </a:avLst>
          </a:prstGeom>
          <a:effectLst/>
          <a:solidFill>
            <a:srgbClr val="1C1917">
              <a:alpha val="90000"/>
            </a:srgbClr>
          </a:solidFill>
          <a:ln w="12700">
            <a:solidFill>
              <a:srgbClr val="292524"/>
            </a:solidFill>
          </a:ln>
          <a:effectLst>
            <a:outerShdw blurRad="164592" dist="50292" dir="5400000" rotWithShape="0">
              <a:srgbClr val="000000">
                <a:alpha val="38000"/>
              </a:srgbClr>
            </a:outerShdw>
          </a:effectLst>
        </p:spPr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7935163" y="2807208"/>
            <a:ext cx="3149194" cy="14630"/>
          </a:xfrm>
          <a:prstGeom prst="rect">
            <a:avLst/>
          </a:prstGeom>
          <a:effectLst/>
          <a:solidFill>
            <a:srgbClr val="44403C">
              <a:alpha val="80000"/>
            </a:srgbClr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909560" y="3026664"/>
            <a:ext cx="3200400" cy="1005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100" b="1" i="0" spc="160">
                <a:solidFill>
                  <a:srgbClr val="F59E0B"/>
                </a:solidFill>
                <a:latin typeface="Consolas"/>
              </a:rPr>
              <a:t>YOUR VOICE</a:t>
            </a:r>
          </a:p>
          <a:p>
            <a:pPr algn="l">
              <a:lnSpc>
                <a:spcPct val="128000"/>
              </a:lnSpc>
              <a:spcAft>
                <a:spcPts val="0"/>
              </a:spcAft>
            </a:pPr>
            <a:r>
              <a:rPr sz="1200" b="0" i="0">
                <a:solidFill>
                  <a:srgbClr val="A8A29E"/>
                </a:solidFill>
                <a:latin typeface="Segoe UI"/>
              </a:rPr>
              <a:t>Cloned from 1–3 minutes of speech. A library of named voices; switch anytime.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7635240" y="4379976"/>
            <a:ext cx="3749040" cy="1371600"/>
          </a:xfrm>
          <a:prstGeom prst="roundRect">
            <a:avLst>
              <a:gd name="adj" fmla="val 7500"/>
            </a:avLst>
          </a:prstGeom>
          <a:effectLst/>
          <a:solidFill>
            <a:srgbClr val="1C1917">
              <a:alpha val="90000"/>
            </a:srgbClr>
          </a:solidFill>
          <a:ln w="12700">
            <a:solidFill>
              <a:srgbClr val="292524"/>
            </a:solidFill>
          </a:ln>
          <a:effectLst>
            <a:outerShdw blurRad="164592" dist="50292" dir="5400000" rotWithShape="0">
              <a:srgbClr val="000000">
                <a:alpha val="38000"/>
              </a:srgbClr>
            </a:outerShdw>
          </a:effectLst>
        </p:spPr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7935163" y="4379976"/>
            <a:ext cx="3149194" cy="14630"/>
          </a:xfrm>
          <a:prstGeom prst="rect">
            <a:avLst/>
          </a:prstGeom>
          <a:effectLst/>
          <a:solidFill>
            <a:srgbClr val="44403C">
              <a:alpha val="80000"/>
            </a:srgbClr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7909560" y="4599432"/>
            <a:ext cx="3200400" cy="1005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100" b="1" i="0" spc="160">
                <a:solidFill>
                  <a:srgbClr val="F59E0B"/>
                </a:solidFill>
                <a:latin typeface="Consolas"/>
              </a:rPr>
              <a:t>YOUR CONTROL</a:t>
            </a:r>
          </a:p>
          <a:p>
            <a:pPr algn="l">
              <a:lnSpc>
                <a:spcPct val="128000"/>
              </a:lnSpc>
              <a:spcAft>
                <a:spcPts val="0"/>
              </a:spcAft>
            </a:pPr>
            <a:r>
              <a:rPr sz="1200" b="0" i="0">
                <a:solidFill>
                  <a:srgbClr val="A8A29E"/>
                </a:solidFill>
                <a:latin typeface="Segoe UI"/>
              </a:rPr>
              <a:t>Human in the loop: nothing is ever spoken without your review.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40080" y="6455664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900" b="0" i="0" spc="200">
                <a:solidFill>
                  <a:srgbClr val="57534E"/>
                </a:solidFill>
                <a:latin typeface="Consolas"/>
              </a:rPr>
              <a:t>RECLAIM</a:t>
            </a:r>
            <a:r>
              <a:rPr sz="900" b="0" i="0" spc="200">
                <a:solidFill>
                  <a:srgbClr val="57534E"/>
                </a:solidFill>
                <a:latin typeface="Consolas"/>
              </a:rPr>
              <a:t>  ·  AI FOR SOCIAL GOOD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062472" y="6455664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Aft>
                <a:spcPts val="0"/>
              </a:spcAft>
            </a:pPr>
            <a:r>
              <a:rPr sz="900" b="0" i="0" spc="200">
                <a:solidFill>
                  <a:srgbClr val="57534E"/>
                </a:solidFill>
                <a:latin typeface="Consolas"/>
              </a:rPr>
              <a:t>BUILT ON DIGITALOCEAN  ·  03 / 11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 xmlns:p159="http://schemas.microsoft.com/office/powerpoint/2015/09/main">
    <mc:Choice Requires="p159">
      <p:transition spd="slow" p14:dur="1100">
        <p159:morph option="byObject"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149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1" dur="55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152" dur="55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3" presetID="42" presetClass="entr" presetSubtype="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5" dur="55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156" dur="55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7" presetID="42" presetClass="entr" presetSubtype="0" fill="hold" grpId="0" nodeType="withEffect">
                                  <p:stCondLst>
                                    <p:cond delay="350"/>
                                  </p:stCondLst>
                                  <p:childTnLst>
                                    <p:set>
                                      <p:cBhvr>
                                        <p:cTn id="1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9" dur="5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160" dur="55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61" presetID="42" presetClass="entr" presetSubtype="0" fill="hold" grpId="0" nodeType="withEffect">
                                  <p:stCondLst>
                                    <p:cond delay="570"/>
                                  </p:stCondLst>
                                  <p:childTnLst>
                                    <p:set>
                                      <p:cBhvr>
                                        <p:cTn id="1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3" dur="5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164" dur="55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65" presetID="42" presetClass="entr" presetSubtype="0" fill="hold" grpId="0" nodeType="withEffect">
                                  <p:stCondLst>
                                    <p:cond delay="790"/>
                                  </p:stCondLst>
                                  <p:childTnLst>
                                    <p:set>
                                      <p:cBhvr>
                                        <p:cTn id="1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7" dur="5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168" dur="55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!!bg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effectLst/>
          <a:solidFill>
            <a:srgbClr val="0C0A09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" name="!!glow"/>
          <p:cNvSpPr/>
          <p:nvPr/>
        </p:nvSpPr>
        <p:spPr>
          <a:xfrm>
            <a:off x="3017520" y="-2377440"/>
            <a:ext cx="6217920" cy="6217920"/>
          </a:xfrm>
          <a:prstGeom prst="ellipse">
            <a:avLst/>
          </a:prstGeom>
          <a:effectLst/>
          <a:gradFill>
            <a:gsLst>
              <a:gs pos="0">
                <a:srgbClr val="F59E0B">
                  <a:alpha val="9000"/>
                </a:srgbClr>
              </a:gs>
              <a:gs pos="100000">
                <a:srgbClr val="0C0A09">
                  <a:alpha val="0"/>
                </a:srgbClr>
              </a:gs>
            </a:gsLst>
            <a:path path="circle">
              <a:fillToRect l="50000" t="50000" r="50000" b="50000"/>
            </a:path>
          </a:gra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235440" y="4480560"/>
            <a:ext cx="3108960" cy="2377440"/>
          </a:xfrm>
          <a:prstGeom prst="rect">
            <a:avLst/>
          </a:prstGeom>
          <a:noFill/>
        </p:spPr>
        <p:txBody>
          <a:bodyPr wrap="none" anchor="b" lIns="0" rIns="0" tIns="0" bIns="0">
            <a:spAutoFit/>
          </a:bodyPr>
          <a:lstStyle/>
          <a:p>
            <a:pPr algn="r">
              <a:spcAft>
                <a:spcPts val="0"/>
              </a:spcAft>
            </a:pPr>
            <a:r>
              <a:rPr sz="17000" b="1" i="0">
                <a:solidFill>
                  <a:srgbClr val="171310"/>
                </a:solidFill>
                <a:latin typeface="Segoe UI"/>
              </a:rPr>
              <a:t>03</a:t>
            </a:r>
          </a:p>
        </p:txBody>
      </p:sp>
      <p:sp>
        <p:nvSpPr>
          <p:cNvPr id="5" name="!!bar0"/>
          <p:cNvSpPr/>
          <p:nvPr/>
        </p:nvSpPr>
        <p:spPr>
          <a:xfrm>
            <a:off x="10620756" y="914400"/>
            <a:ext cx="118872" cy="274320"/>
          </a:xfrm>
          <a:prstGeom prst="roundRect">
            <a:avLst>
              <a:gd name="adj" fmla="val 50000"/>
            </a:avLst>
          </a:prstGeom>
          <a:effectLst/>
          <a:gradFill rotWithShape="1">
            <a:gsLst>
              <a:gs pos="0">
                <a:srgbClr val="FBBF24">
                  <a:alpha val="70000"/>
                </a:srgbClr>
              </a:gs>
              <a:gs pos="100000">
                <a:srgbClr val="D97706">
                  <a:alpha val="70000"/>
                </a:srgbClr>
              </a:gs>
            </a:gsLst>
            <a:lin ang="5400000" scaled="1"/>
          </a:gradFill>
          <a:ln>
            <a:noFill/>
          </a:ln>
          <a:scene3d>
            <a:camera prst="perspectiveRelaxedModerately" fov="2700000">
              <a:rot lat="0" lon="18000000" rev="0"/>
            </a:camera>
            <a:lightRig rig="threePt" dir="t">
              <a:rot lat="0" lon="0" rev="1200000"/>
            </a:lightRig>
          </a:scene3d>
          <a:sp3d extrusionH="59436" prstMaterial="matte">
            <a:bevelT w="12700" h="12700"/>
            <a:extrusionClr>
              <a:srgbClr val="B45309"/>
            </a:extrusionClr>
          </a:sp3d>
        </p:spPr>
        <p:txBody>
          <a:bodyPr rtlCol="0" anchor="ctr"/>
          <a:lstStyle/>
          <a:p>
            <a:pPr algn="ctr"/>
          </a:p>
        </p:txBody>
      </p:sp>
      <p:sp>
        <p:nvSpPr>
          <p:cNvPr id="6" name="!!bar1"/>
          <p:cNvSpPr/>
          <p:nvPr/>
        </p:nvSpPr>
        <p:spPr>
          <a:xfrm>
            <a:off x="10812780" y="713232"/>
            <a:ext cx="118872" cy="475488"/>
          </a:xfrm>
          <a:prstGeom prst="roundRect">
            <a:avLst>
              <a:gd name="adj" fmla="val 50000"/>
            </a:avLst>
          </a:prstGeom>
          <a:effectLst/>
          <a:gradFill rotWithShape="1">
            <a:gsLst>
              <a:gs pos="0">
                <a:srgbClr val="FBBF24">
                  <a:alpha val="70000"/>
                </a:srgbClr>
              </a:gs>
              <a:gs pos="100000">
                <a:srgbClr val="F59E0B">
                  <a:alpha val="70000"/>
                </a:srgbClr>
              </a:gs>
            </a:gsLst>
            <a:lin ang="5400000" scaled="1"/>
          </a:gradFill>
          <a:ln>
            <a:noFill/>
          </a:ln>
          <a:scene3d>
            <a:camera prst="perspectiveRelaxedModerately" fov="2700000">
              <a:rot lat="0" lon="18000000" rev="0"/>
            </a:camera>
            <a:lightRig rig="threePt" dir="t">
              <a:rot lat="0" lon="0" rev="1200000"/>
            </a:lightRig>
          </a:scene3d>
          <a:sp3d extrusionH="59436" prstMaterial="matte">
            <a:bevelT w="12700" h="12700"/>
            <a:extrusionClr>
              <a:srgbClr val="B45309"/>
            </a:extrusionClr>
          </a:sp3d>
        </p:spPr>
        <p:txBody>
          <a:bodyPr rtlCol="0" anchor="ctr"/>
          <a:lstStyle/>
          <a:p>
            <a:pPr algn="ctr"/>
          </a:p>
        </p:txBody>
      </p:sp>
      <p:sp>
        <p:nvSpPr>
          <p:cNvPr id="7" name="!!bar2"/>
          <p:cNvSpPr/>
          <p:nvPr/>
        </p:nvSpPr>
        <p:spPr>
          <a:xfrm>
            <a:off x="11004804" y="566928"/>
            <a:ext cx="118872" cy="621792"/>
          </a:xfrm>
          <a:prstGeom prst="roundRect">
            <a:avLst>
              <a:gd name="adj" fmla="val 50000"/>
            </a:avLst>
          </a:prstGeom>
          <a:effectLst/>
          <a:gradFill rotWithShape="1">
            <a:gsLst>
              <a:gs pos="0">
                <a:srgbClr val="FBBF24">
                  <a:alpha val="70000"/>
                </a:srgbClr>
              </a:gs>
              <a:gs pos="100000">
                <a:srgbClr val="FBBF24">
                  <a:alpha val="70000"/>
                </a:srgbClr>
              </a:gs>
            </a:gsLst>
            <a:lin ang="5400000" scaled="1"/>
          </a:gradFill>
          <a:ln>
            <a:noFill/>
          </a:ln>
          <a:scene3d>
            <a:camera prst="perspectiveRelaxedModerately" fov="2700000">
              <a:rot lat="0" lon="18000000" rev="0"/>
            </a:camera>
            <a:lightRig rig="threePt" dir="t">
              <a:rot lat="0" lon="0" rev="1200000"/>
            </a:lightRig>
          </a:scene3d>
          <a:sp3d extrusionH="59436" prstMaterial="matte">
            <a:bevelT w="12700" h="12700"/>
            <a:extrusionClr>
              <a:srgbClr val="B45309"/>
            </a:extrusionClr>
          </a:sp3d>
        </p:spPr>
        <p:txBody>
          <a:bodyPr rtlCol="0" anchor="ctr"/>
          <a:lstStyle/>
          <a:p>
            <a:pPr algn="ctr"/>
          </a:p>
        </p:txBody>
      </p:sp>
      <p:sp>
        <p:nvSpPr>
          <p:cNvPr id="8" name="!!bar3"/>
          <p:cNvSpPr/>
          <p:nvPr/>
        </p:nvSpPr>
        <p:spPr>
          <a:xfrm>
            <a:off x="11196828" y="786384"/>
            <a:ext cx="118872" cy="402336"/>
          </a:xfrm>
          <a:prstGeom prst="roundRect">
            <a:avLst>
              <a:gd name="adj" fmla="val 50000"/>
            </a:avLst>
          </a:prstGeom>
          <a:effectLst/>
          <a:gradFill rotWithShape="1">
            <a:gsLst>
              <a:gs pos="0">
                <a:srgbClr val="FBBF24">
                  <a:alpha val="70000"/>
                </a:srgbClr>
              </a:gs>
              <a:gs pos="100000">
                <a:srgbClr val="F59E0B">
                  <a:alpha val="70000"/>
                </a:srgbClr>
              </a:gs>
            </a:gsLst>
            <a:lin ang="5400000" scaled="1"/>
          </a:gradFill>
          <a:ln>
            <a:noFill/>
          </a:ln>
          <a:scene3d>
            <a:camera prst="perspectiveRelaxedModerately" fov="2700000">
              <a:rot lat="0" lon="18000000" rev="0"/>
            </a:camera>
            <a:lightRig rig="threePt" dir="t">
              <a:rot lat="0" lon="0" rev="1200000"/>
            </a:lightRig>
          </a:scene3d>
          <a:sp3d extrusionH="59436" prstMaterial="matte">
            <a:bevelT w="12700" h="12700"/>
            <a:extrusionClr>
              <a:srgbClr val="B45309"/>
            </a:extrusionClr>
          </a:sp3d>
        </p:spPr>
        <p:txBody>
          <a:bodyPr rtlCol="0" anchor="ctr"/>
          <a:lstStyle/>
          <a:p>
            <a:pPr algn="ctr"/>
          </a:p>
        </p:txBody>
      </p:sp>
      <p:sp>
        <p:nvSpPr>
          <p:cNvPr id="9" name="!!bar4"/>
          <p:cNvSpPr/>
          <p:nvPr/>
        </p:nvSpPr>
        <p:spPr>
          <a:xfrm>
            <a:off x="11388852" y="932688"/>
            <a:ext cx="118872" cy="256032"/>
          </a:xfrm>
          <a:prstGeom prst="roundRect">
            <a:avLst>
              <a:gd name="adj" fmla="val 50000"/>
            </a:avLst>
          </a:prstGeom>
          <a:effectLst/>
          <a:gradFill rotWithShape="1">
            <a:gsLst>
              <a:gs pos="0">
                <a:srgbClr val="FBBF24">
                  <a:alpha val="70000"/>
                </a:srgbClr>
              </a:gs>
              <a:gs pos="100000">
                <a:srgbClr val="D97706">
                  <a:alpha val="70000"/>
                </a:srgbClr>
              </a:gs>
            </a:gsLst>
            <a:lin ang="5400000" scaled="1"/>
          </a:gradFill>
          <a:ln>
            <a:noFill/>
          </a:ln>
          <a:scene3d>
            <a:camera prst="perspectiveRelaxedModerately" fov="2700000">
              <a:rot lat="0" lon="18000000" rev="0"/>
            </a:camera>
            <a:lightRig rig="threePt" dir="t">
              <a:rot lat="0" lon="0" rev="1200000"/>
            </a:lightRig>
          </a:scene3d>
          <a:sp3d extrusionH="59436" prstMaterial="matte">
            <a:bevelT w="12700" h="12700"/>
            <a:extrusionClr>
              <a:srgbClr val="B45309"/>
            </a:extrusionClr>
          </a:sp3d>
        </p:spPr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22960" y="566928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 i="0" spc="260">
                <a:solidFill>
                  <a:srgbClr val="F59E0B"/>
                </a:solidFill>
                <a:latin typeface="Consolas"/>
              </a:rPr>
              <a:t>THE PIPELINE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22960" y="932688"/>
            <a:ext cx="10058400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3000" b="1" i="0">
                <a:solidFill>
                  <a:srgbClr val="FAFAF9"/>
                </a:solidFill>
                <a:latin typeface="Segoe UI"/>
              </a:rPr>
              <a:t>From sign to speech in four steps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22960" y="1481328"/>
            <a:ext cx="10058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50" b="0" i="0">
                <a:solidFill>
                  <a:srgbClr val="A8A29E"/>
                </a:solidFill>
                <a:latin typeface="Segoe UI"/>
              </a:rPr>
              <a:t>Every stage is a different model doing what it's best at — stitched into one tap.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22960" y="2084832"/>
            <a:ext cx="5138928" cy="1938528"/>
          </a:xfrm>
          <a:prstGeom prst="roundRect">
            <a:avLst>
              <a:gd name="adj" fmla="val 7500"/>
            </a:avLst>
          </a:prstGeom>
          <a:effectLst/>
          <a:solidFill>
            <a:srgbClr val="1C1917">
              <a:alpha val="90000"/>
            </a:srgbClr>
          </a:solidFill>
          <a:ln w="12700">
            <a:solidFill>
              <a:srgbClr val="292524"/>
            </a:solidFill>
          </a:ln>
          <a:effectLst>
            <a:outerShdw blurRad="164592" dist="50292" dir="5400000" rotWithShape="0">
              <a:srgbClr val="000000">
                <a:alpha val="38000"/>
              </a:srgbClr>
            </a:outerShdw>
          </a:effectLst>
        </p:spPr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1234074" y="2084832"/>
            <a:ext cx="4316700" cy="14630"/>
          </a:xfrm>
          <a:prstGeom prst="rect">
            <a:avLst/>
          </a:prstGeom>
          <a:effectLst/>
          <a:solidFill>
            <a:srgbClr val="44403C">
              <a:alpha val="80000"/>
            </a:srgbClr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1078992" y="2322576"/>
            <a:ext cx="384048" cy="384048"/>
          </a:xfrm>
          <a:prstGeom prst="ellipse">
            <a:avLst/>
          </a:prstGeom>
          <a:effectLst/>
          <a:solidFill>
            <a:srgbClr val="F59E0B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078992" y="2322576"/>
            <a:ext cx="384048" cy="3840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0"/>
              </a:spcAft>
            </a:pPr>
            <a:r>
              <a:rPr sz="1500" b="1" i="0">
                <a:solidFill>
                  <a:srgbClr val="1C1917"/>
                </a:solidFill>
                <a:latin typeface="Segoe UI"/>
              </a:rPr>
              <a:t>1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627632" y="2359152"/>
            <a:ext cx="4114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650" b="1" i="0">
                <a:solidFill>
                  <a:srgbClr val="FAFAF9"/>
                </a:solidFill>
                <a:latin typeface="Segoe UI"/>
              </a:rPr>
              <a:t>Sign it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78992" y="2834640"/>
            <a:ext cx="461772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150" b="0" i="0">
                <a:solidFill>
                  <a:srgbClr val="A8A29E"/>
                </a:solidFill>
                <a:latin typeface="Segoe UI"/>
              </a:rPr>
              <a:t>Gemini ingests the recorded clip as native video — signing is motion, so real video beats sampled frames. Holding up 1–5 fingers fires a quick phrase.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78992" y="3675888"/>
            <a:ext cx="46177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950" b="0" i="0" spc="80">
                <a:solidFill>
                  <a:srgbClr val="F59E0B"/>
                </a:solidFill>
                <a:latin typeface="Consolas"/>
              </a:rPr>
              <a:t>GEMINI · NATIVE VIDEO INPUT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190488" y="2084832"/>
            <a:ext cx="5138928" cy="1938528"/>
          </a:xfrm>
          <a:prstGeom prst="roundRect">
            <a:avLst>
              <a:gd name="adj" fmla="val 7500"/>
            </a:avLst>
          </a:prstGeom>
          <a:effectLst/>
          <a:solidFill>
            <a:srgbClr val="1C1917">
              <a:alpha val="90000"/>
            </a:srgbClr>
          </a:solidFill>
          <a:ln w="12700">
            <a:solidFill>
              <a:srgbClr val="292524"/>
            </a:solidFill>
          </a:ln>
          <a:effectLst>
            <a:outerShdw blurRad="164592" dist="50292" dir="5400000" rotWithShape="0">
              <a:srgbClr val="000000">
                <a:alpha val="38000"/>
              </a:srgbClr>
            </a:outerShdw>
          </a:effectLst>
        </p:spPr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6601602" y="2084832"/>
            <a:ext cx="4316700" cy="14630"/>
          </a:xfrm>
          <a:prstGeom prst="rect">
            <a:avLst/>
          </a:prstGeom>
          <a:effectLst/>
          <a:solidFill>
            <a:srgbClr val="44403C">
              <a:alpha val="80000"/>
            </a:srgbClr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6446520" y="2322576"/>
            <a:ext cx="384048" cy="384048"/>
          </a:xfrm>
          <a:prstGeom prst="ellipse">
            <a:avLst/>
          </a:prstGeom>
          <a:effectLst/>
          <a:solidFill>
            <a:srgbClr val="F59E0B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446520" y="2322576"/>
            <a:ext cx="384048" cy="3840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0"/>
              </a:spcAft>
            </a:pPr>
            <a:r>
              <a:rPr sz="1500" b="1" i="0">
                <a:solidFill>
                  <a:srgbClr val="1C1917"/>
                </a:solidFill>
                <a:latin typeface="Segoe UI"/>
              </a:rPr>
              <a:t>2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995160" y="2359152"/>
            <a:ext cx="4114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650" b="1" i="0">
                <a:solidFill>
                  <a:srgbClr val="FAFAF9"/>
                </a:solidFill>
                <a:latin typeface="Segoe UI"/>
              </a:rPr>
              <a:t>Check it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446520" y="2834640"/>
            <a:ext cx="461772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150" b="0" i="0">
                <a:solidFill>
                  <a:srgbClr val="A8A29E"/>
                </a:solidFill>
                <a:latin typeface="Segoe UI"/>
              </a:rPr>
              <a:t>The translation comes back as editable text. Nothing is spoken without your review — you stay in control of every word.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446520" y="3675888"/>
            <a:ext cx="46177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950" b="0" i="0" spc="80">
                <a:solidFill>
                  <a:srgbClr val="F59E0B"/>
                </a:solidFill>
                <a:latin typeface="Consolas"/>
              </a:rPr>
              <a:t>HUMAN IN THE LOOP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822960" y="4206240"/>
            <a:ext cx="5138928" cy="1938528"/>
          </a:xfrm>
          <a:prstGeom prst="roundRect">
            <a:avLst>
              <a:gd name="adj" fmla="val 7500"/>
            </a:avLst>
          </a:prstGeom>
          <a:effectLst/>
          <a:solidFill>
            <a:srgbClr val="1C1917">
              <a:alpha val="90000"/>
            </a:srgbClr>
          </a:solidFill>
          <a:ln w="12700">
            <a:solidFill>
              <a:srgbClr val="292524"/>
            </a:solidFill>
          </a:ln>
          <a:effectLst>
            <a:outerShdw blurRad="164592" dist="50292" dir="5400000" rotWithShape="0">
              <a:srgbClr val="000000">
                <a:alpha val="38000"/>
              </a:srgbClr>
            </a:outerShdw>
          </a:effectLst>
        </p:spPr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1234074" y="4206240"/>
            <a:ext cx="4316700" cy="14630"/>
          </a:xfrm>
          <a:prstGeom prst="rect">
            <a:avLst/>
          </a:prstGeom>
          <a:effectLst/>
          <a:solidFill>
            <a:srgbClr val="44403C">
              <a:alpha val="80000"/>
            </a:srgbClr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9" name="Oval 28"/>
          <p:cNvSpPr/>
          <p:nvPr/>
        </p:nvSpPr>
        <p:spPr>
          <a:xfrm>
            <a:off x="1078992" y="4443984"/>
            <a:ext cx="384048" cy="384048"/>
          </a:xfrm>
          <a:prstGeom prst="ellipse">
            <a:avLst/>
          </a:prstGeom>
          <a:effectLst/>
          <a:solidFill>
            <a:srgbClr val="F59E0B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1078992" y="4443984"/>
            <a:ext cx="384048" cy="3840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0"/>
              </a:spcAft>
            </a:pPr>
            <a:r>
              <a:rPr sz="1500" b="1" i="0">
                <a:solidFill>
                  <a:srgbClr val="1C1917"/>
                </a:solidFill>
                <a:latin typeface="Segoe UI"/>
              </a:rPr>
              <a:t>3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627632" y="4480560"/>
            <a:ext cx="4114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650" b="1" i="0">
                <a:solidFill>
                  <a:srgbClr val="FAFAF9"/>
                </a:solidFill>
                <a:latin typeface="Segoe UI"/>
              </a:rPr>
              <a:t>Make it yours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078992" y="4956048"/>
            <a:ext cx="461772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150" b="0" i="0">
                <a:solidFill>
                  <a:srgbClr val="A8A29E"/>
                </a:solidFill>
                <a:latin typeface="Segoe UI"/>
              </a:rPr>
              <a:t>An LLM rewrites the sentence the way you text — a distilled style card plus your most similar past messages, retrieved semantically.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078992" y="5797296"/>
            <a:ext cx="46177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950" b="0" i="0" spc="80">
                <a:solidFill>
                  <a:srgbClr val="F59E0B"/>
                </a:solidFill>
                <a:latin typeface="Consolas"/>
              </a:rPr>
              <a:t>LLAMA 3.3 70B · DO GRADIENT · GTE-LARGE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6190488" y="4206240"/>
            <a:ext cx="5138928" cy="1938528"/>
          </a:xfrm>
          <a:prstGeom prst="roundRect">
            <a:avLst>
              <a:gd name="adj" fmla="val 7500"/>
            </a:avLst>
          </a:prstGeom>
          <a:effectLst/>
          <a:solidFill>
            <a:srgbClr val="1C1917">
              <a:alpha val="90000"/>
            </a:srgbClr>
          </a:solidFill>
          <a:ln w="12700">
            <a:solidFill>
              <a:srgbClr val="292524"/>
            </a:solidFill>
          </a:ln>
          <a:effectLst>
            <a:outerShdw blurRad="164592" dist="50292" dir="5400000" rotWithShape="0">
              <a:srgbClr val="000000">
                <a:alpha val="38000"/>
              </a:srgbClr>
            </a:outerShdw>
          </a:effectLst>
        </p:spPr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6601602" y="4206240"/>
            <a:ext cx="4316700" cy="14630"/>
          </a:xfrm>
          <a:prstGeom prst="rect">
            <a:avLst/>
          </a:prstGeom>
          <a:effectLst/>
          <a:solidFill>
            <a:srgbClr val="44403C">
              <a:alpha val="80000"/>
            </a:srgbClr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6" name="Oval 35"/>
          <p:cNvSpPr/>
          <p:nvPr/>
        </p:nvSpPr>
        <p:spPr>
          <a:xfrm>
            <a:off x="6446520" y="4443984"/>
            <a:ext cx="384048" cy="384048"/>
          </a:xfrm>
          <a:prstGeom prst="ellipse">
            <a:avLst/>
          </a:prstGeom>
          <a:effectLst/>
          <a:solidFill>
            <a:srgbClr val="F59E0B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6446520" y="4443984"/>
            <a:ext cx="384048" cy="3840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0"/>
              </a:spcAft>
            </a:pPr>
            <a:r>
              <a:rPr sz="1500" b="1" i="0">
                <a:solidFill>
                  <a:srgbClr val="1C1917"/>
                </a:solidFill>
                <a:latin typeface="Segoe UI"/>
              </a:rPr>
              <a:t>4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995160" y="4480560"/>
            <a:ext cx="4114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650" b="1" i="0">
                <a:solidFill>
                  <a:srgbClr val="FAFAF9"/>
                </a:solidFill>
                <a:latin typeface="Segoe UI"/>
              </a:rPr>
              <a:t>Say it out loud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6446520" y="4956048"/>
            <a:ext cx="461772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150" b="0" i="0">
                <a:solidFill>
                  <a:srgbClr val="A8A29E"/>
                </a:solidFill>
                <a:latin typeface="Segoe UI"/>
              </a:rPr>
              <a:t>Spoken in your cloned voice from your voice library. Repeated phrases return instantly from cache without spending TTS credits.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6446520" y="5797296"/>
            <a:ext cx="46177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950" b="0" i="0" spc="80">
                <a:solidFill>
                  <a:srgbClr val="F59E0B"/>
                </a:solidFill>
                <a:latin typeface="Consolas"/>
              </a:rPr>
              <a:t>ELEVENLABS FLASH V2.5 · DO MANAGED VALKEY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640080" y="6455664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900" b="0" i="0" spc="200">
                <a:solidFill>
                  <a:srgbClr val="57534E"/>
                </a:solidFill>
                <a:latin typeface="Consolas"/>
              </a:rPr>
              <a:t>RECLAIM</a:t>
            </a:r>
            <a:r>
              <a:rPr sz="900" b="0" i="0" spc="200">
                <a:solidFill>
                  <a:srgbClr val="57534E"/>
                </a:solidFill>
                <a:latin typeface="Consolas"/>
              </a:rPr>
              <a:t>  ·  AI FOR SOCIAL GOOD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6062472" y="6455664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Aft>
                <a:spcPts val="0"/>
              </a:spcAft>
            </a:pPr>
            <a:r>
              <a:rPr sz="900" b="0" i="0" spc="200">
                <a:solidFill>
                  <a:srgbClr val="57534E"/>
                </a:solidFill>
                <a:latin typeface="Consolas"/>
              </a:rPr>
              <a:t>BUILT ON DIGITALOCEAN  ·  04 / 11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 xmlns:p159="http://schemas.microsoft.com/office/powerpoint/2015/09/main">
    <mc:Choice Requires="p159">
      <p:transition spd="slow" p14:dur="1100">
        <p159:morph option="byObject"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169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1" dur="55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172" dur="55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3" presetID="42" presetClass="entr" presetSubtype="0" fill="hold" grpId="0" nodeType="withEffect">
                                  <p:stCondLst>
                                    <p:cond delay="120"/>
                                  </p:stCondLst>
                                  <p:childTnLst>
                                    <p:set>
                                      <p:cBhvr>
                                        <p:cTn id="1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5" dur="55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176" dur="55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7" presetID="42" presetClass="entr" presetSubtype="0" fill="hold" grpId="0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1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9" dur="5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180" dur="55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81" presetID="42" presetClass="entr" presetSubtype="0" fill="hold" grpId="0" nodeType="withEffect">
                                  <p:stCondLst>
                                    <p:cond delay="330"/>
                                  </p:stCondLst>
                                  <p:childTnLst>
                                    <p:set>
                                      <p:cBhvr>
                                        <p:cTn id="1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3" dur="5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184" dur="55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85" presetID="10" presetClass="entr" presetSubtype="0" fill="hold" grpId="0" nodeType="withEffect">
                                  <p:stCondLst>
                                    <p:cond delay="410"/>
                                  </p:stCondLst>
                                  <p:childTnLst>
                                    <p:set>
                                      <p:cBhvr>
                                        <p:cTn id="1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7" dur="5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9" presetID="42" presetClass="entr" presetSubtype="0" fill="hold" grpId="0" nodeType="withEffect">
                                  <p:stCondLst>
                                    <p:cond delay="450"/>
                                  </p:stCondLst>
                                  <p:childTnLst>
                                    <p:set>
                                      <p:cBhvr>
                                        <p:cTn id="1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1" dur="5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192" dur="55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93" presetID="42" presetClass="entr" presetSubtype="0" fill="hold" grpId="0" nodeType="withEffect">
                                  <p:stCondLst>
                                    <p:cond delay="530"/>
                                  </p:stCondLst>
                                  <p:childTnLst>
                                    <p:set>
                                      <p:cBhvr>
                                        <p:cTn id="19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5" dur="5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196" dur="55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97" presetID="10" presetClass="entr" presetSubtype="0" fill="hold" grpId="0" nodeType="withEffect">
                                  <p:stCondLst>
                                    <p:cond delay="610"/>
                                  </p:stCondLst>
                                  <p:childTnLst>
                                    <p:set>
                                      <p:cBhvr>
                                        <p:cTn id="19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9" dur="5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1" presetID="42" presetClass="entr" presetSubtype="0" fill="hold" grpId="0" nodeType="withEffect">
                                  <p:stCondLst>
                                    <p:cond delay="650"/>
                                  </p:stCondLst>
                                  <p:childTnLst>
                                    <p:set>
                                      <p:cBhvr>
                                        <p:cTn id="20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3" dur="55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204" dur="55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05" presetID="42" presetClass="entr" presetSubtype="0" fill="hold" grpId="0" nodeType="withEffect">
                                  <p:stCondLst>
                                    <p:cond delay="730"/>
                                  </p:stCondLst>
                                  <p:childTnLst>
                                    <p:set>
                                      <p:cBhvr>
                                        <p:cTn id="20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7" dur="55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208" dur="550" fill="hold"/>
                                        <p:tgtEl>
                                          <p:spTgt spid="3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09" presetID="10" presetClass="entr" presetSubtype="0" fill="hold" grpId="0" nodeType="withEffect">
                                  <p:stCondLst>
                                    <p:cond delay="810"/>
                                  </p:stCondLst>
                                  <p:childTnLst>
                                    <p:set>
                                      <p:cBhvr>
                                        <p:cTn id="2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1" dur="55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3" presetID="42" presetClass="entr" presetSubtype="0" fill="hold" grpId="0" nodeType="withEffect">
                                  <p:stCondLst>
                                    <p:cond delay="850"/>
                                  </p:stCondLst>
                                  <p:childTnLst>
                                    <p:set>
                                      <p:cBhvr>
                                        <p:cTn id="2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5" dur="55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216" dur="550" fill="hold"/>
                                        <p:tgtEl>
                                          <p:spTgt spid="3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7" presetID="42" presetClass="entr" presetSubtype="0" fill="hold" grpId="0" nodeType="withEffect">
                                  <p:stCondLst>
                                    <p:cond delay="930"/>
                                  </p:stCondLst>
                                  <p:childTnLst>
                                    <p:set>
                                      <p:cBhvr>
                                        <p:cTn id="2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9" dur="55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220" dur="550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21" presetID="10" presetClass="entr" presetSubtype="0" fill="hold" grpId="0" nodeType="withEffect">
                                  <p:stCondLst>
                                    <p:cond delay="1010"/>
                                  </p:stCondLst>
                                  <p:childTnLst>
                                    <p:set>
                                      <p:cBhvr>
                                        <p:cTn id="2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3" dur="55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!!bg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effectLst/>
          <a:solidFill>
            <a:srgbClr val="0C0A09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" name="!!glow"/>
          <p:cNvSpPr/>
          <p:nvPr/>
        </p:nvSpPr>
        <p:spPr>
          <a:xfrm>
            <a:off x="3017520" y="-2377440"/>
            <a:ext cx="6217920" cy="6217920"/>
          </a:xfrm>
          <a:prstGeom prst="ellipse">
            <a:avLst/>
          </a:prstGeom>
          <a:effectLst/>
          <a:gradFill>
            <a:gsLst>
              <a:gs pos="0">
                <a:srgbClr val="F59E0B">
                  <a:alpha val="9000"/>
                </a:srgbClr>
              </a:gs>
              <a:gs pos="100000">
                <a:srgbClr val="0C0A09">
                  <a:alpha val="0"/>
                </a:srgbClr>
              </a:gs>
            </a:gsLst>
            <a:path path="circle">
              <a:fillToRect l="50000" t="50000" r="50000" b="50000"/>
            </a:path>
          </a:gra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235440" y="4480560"/>
            <a:ext cx="3108960" cy="2377440"/>
          </a:xfrm>
          <a:prstGeom prst="rect">
            <a:avLst/>
          </a:prstGeom>
          <a:noFill/>
        </p:spPr>
        <p:txBody>
          <a:bodyPr wrap="none" anchor="b" lIns="0" rIns="0" tIns="0" bIns="0">
            <a:spAutoFit/>
          </a:bodyPr>
          <a:lstStyle/>
          <a:p>
            <a:pPr algn="r">
              <a:spcAft>
                <a:spcPts val="0"/>
              </a:spcAft>
            </a:pPr>
            <a:r>
              <a:rPr sz="17000" b="1" i="0">
                <a:solidFill>
                  <a:srgbClr val="171310"/>
                </a:solidFill>
                <a:latin typeface="Segoe UI"/>
              </a:rPr>
              <a:t>04</a:t>
            </a:r>
          </a:p>
        </p:txBody>
      </p:sp>
      <p:sp>
        <p:nvSpPr>
          <p:cNvPr id="5" name="!!bar0"/>
          <p:cNvSpPr/>
          <p:nvPr/>
        </p:nvSpPr>
        <p:spPr>
          <a:xfrm>
            <a:off x="10849356" y="5907024"/>
            <a:ext cx="100584" cy="237744"/>
          </a:xfrm>
          <a:prstGeom prst="roundRect">
            <a:avLst>
              <a:gd name="adj" fmla="val 50000"/>
            </a:avLst>
          </a:prstGeom>
          <a:effectLst/>
          <a:gradFill rotWithShape="1">
            <a:gsLst>
              <a:gs pos="0">
                <a:srgbClr val="FBBF24">
                  <a:alpha val="70000"/>
                </a:srgbClr>
              </a:gs>
              <a:gs pos="100000">
                <a:srgbClr val="D97706">
                  <a:alpha val="70000"/>
                </a:srgbClr>
              </a:gs>
            </a:gsLst>
            <a:lin ang="5400000" scaled="1"/>
          </a:gradFill>
          <a:ln>
            <a:noFill/>
          </a:ln>
          <a:scene3d>
            <a:camera prst="perspectiveRelaxedModerately" fov="2700000">
              <a:rot lat="0" lon="2700000" rev="0"/>
            </a:camera>
            <a:lightRig rig="threePt" dir="t">
              <a:rot lat="0" lon="0" rev="1200000"/>
            </a:lightRig>
          </a:scene3d>
          <a:sp3d extrusionH="50292" prstMaterial="matte">
            <a:bevelT w="12700" h="12700"/>
            <a:extrusionClr>
              <a:srgbClr val="B45309"/>
            </a:extrusionClr>
          </a:sp3d>
        </p:spPr>
        <p:txBody>
          <a:bodyPr rtlCol="0" anchor="ctr"/>
          <a:lstStyle/>
          <a:p>
            <a:pPr algn="ctr"/>
          </a:p>
        </p:txBody>
      </p:sp>
      <p:sp>
        <p:nvSpPr>
          <p:cNvPr id="6" name="!!bar1"/>
          <p:cNvSpPr/>
          <p:nvPr/>
        </p:nvSpPr>
        <p:spPr>
          <a:xfrm>
            <a:off x="11013948" y="5742432"/>
            <a:ext cx="100584" cy="402336"/>
          </a:xfrm>
          <a:prstGeom prst="roundRect">
            <a:avLst>
              <a:gd name="adj" fmla="val 50000"/>
            </a:avLst>
          </a:prstGeom>
          <a:effectLst/>
          <a:gradFill rotWithShape="1">
            <a:gsLst>
              <a:gs pos="0">
                <a:srgbClr val="FBBF24">
                  <a:alpha val="70000"/>
                </a:srgbClr>
              </a:gs>
              <a:gs pos="100000">
                <a:srgbClr val="F59E0B">
                  <a:alpha val="70000"/>
                </a:srgbClr>
              </a:gs>
            </a:gsLst>
            <a:lin ang="5400000" scaled="1"/>
          </a:gradFill>
          <a:ln>
            <a:noFill/>
          </a:ln>
          <a:scene3d>
            <a:camera prst="perspectiveRelaxedModerately" fov="2700000">
              <a:rot lat="0" lon="2700000" rev="0"/>
            </a:camera>
            <a:lightRig rig="threePt" dir="t">
              <a:rot lat="0" lon="0" rev="1200000"/>
            </a:lightRig>
          </a:scene3d>
          <a:sp3d extrusionH="50292" prstMaterial="matte">
            <a:bevelT w="12700" h="12700"/>
            <a:extrusionClr>
              <a:srgbClr val="B45309"/>
            </a:extrusionClr>
          </a:sp3d>
        </p:spPr>
        <p:txBody>
          <a:bodyPr rtlCol="0" anchor="ctr"/>
          <a:lstStyle/>
          <a:p>
            <a:pPr algn="ctr"/>
          </a:p>
        </p:txBody>
      </p:sp>
      <p:sp>
        <p:nvSpPr>
          <p:cNvPr id="7" name="!!bar2"/>
          <p:cNvSpPr/>
          <p:nvPr/>
        </p:nvSpPr>
        <p:spPr>
          <a:xfrm>
            <a:off x="11178540" y="5614416"/>
            <a:ext cx="100584" cy="530352"/>
          </a:xfrm>
          <a:prstGeom prst="roundRect">
            <a:avLst>
              <a:gd name="adj" fmla="val 50000"/>
            </a:avLst>
          </a:prstGeom>
          <a:effectLst/>
          <a:gradFill rotWithShape="1">
            <a:gsLst>
              <a:gs pos="0">
                <a:srgbClr val="FBBF24">
                  <a:alpha val="70000"/>
                </a:srgbClr>
              </a:gs>
              <a:gs pos="100000">
                <a:srgbClr val="FBBF24">
                  <a:alpha val="70000"/>
                </a:srgbClr>
              </a:gs>
            </a:gsLst>
            <a:lin ang="5400000" scaled="1"/>
          </a:gradFill>
          <a:ln>
            <a:noFill/>
          </a:ln>
          <a:scene3d>
            <a:camera prst="perspectiveRelaxedModerately" fov="2700000">
              <a:rot lat="0" lon="2700000" rev="0"/>
            </a:camera>
            <a:lightRig rig="threePt" dir="t">
              <a:rot lat="0" lon="0" rev="1200000"/>
            </a:lightRig>
          </a:scene3d>
          <a:sp3d extrusionH="50292" prstMaterial="matte">
            <a:bevelT w="12700" h="12700"/>
            <a:extrusionClr>
              <a:srgbClr val="B45309"/>
            </a:extrusionClr>
          </a:sp3d>
        </p:spPr>
        <p:txBody>
          <a:bodyPr rtlCol="0" anchor="ctr"/>
          <a:lstStyle/>
          <a:p>
            <a:pPr algn="ctr"/>
          </a:p>
        </p:txBody>
      </p:sp>
      <p:sp>
        <p:nvSpPr>
          <p:cNvPr id="8" name="!!bar3"/>
          <p:cNvSpPr/>
          <p:nvPr/>
        </p:nvSpPr>
        <p:spPr>
          <a:xfrm>
            <a:off x="11343132" y="5797296"/>
            <a:ext cx="100584" cy="347472"/>
          </a:xfrm>
          <a:prstGeom prst="roundRect">
            <a:avLst>
              <a:gd name="adj" fmla="val 50000"/>
            </a:avLst>
          </a:prstGeom>
          <a:effectLst/>
          <a:gradFill rotWithShape="1">
            <a:gsLst>
              <a:gs pos="0">
                <a:srgbClr val="FBBF24">
                  <a:alpha val="70000"/>
                </a:srgbClr>
              </a:gs>
              <a:gs pos="100000">
                <a:srgbClr val="F59E0B">
                  <a:alpha val="70000"/>
                </a:srgbClr>
              </a:gs>
            </a:gsLst>
            <a:lin ang="5400000" scaled="1"/>
          </a:gradFill>
          <a:ln>
            <a:noFill/>
          </a:ln>
          <a:scene3d>
            <a:camera prst="perspectiveRelaxedModerately" fov="2700000">
              <a:rot lat="0" lon="2700000" rev="0"/>
            </a:camera>
            <a:lightRig rig="threePt" dir="t">
              <a:rot lat="0" lon="0" rev="1200000"/>
            </a:lightRig>
          </a:scene3d>
          <a:sp3d extrusionH="50292" prstMaterial="matte">
            <a:bevelT w="12700" h="12700"/>
            <a:extrusionClr>
              <a:srgbClr val="B45309"/>
            </a:extrusionClr>
          </a:sp3d>
        </p:spPr>
        <p:txBody>
          <a:bodyPr rtlCol="0" anchor="ctr"/>
          <a:lstStyle/>
          <a:p>
            <a:pPr algn="ctr"/>
          </a:p>
        </p:txBody>
      </p:sp>
      <p:sp>
        <p:nvSpPr>
          <p:cNvPr id="9" name="!!bar4"/>
          <p:cNvSpPr/>
          <p:nvPr/>
        </p:nvSpPr>
        <p:spPr>
          <a:xfrm>
            <a:off x="11507724" y="5925312"/>
            <a:ext cx="100584" cy="219456"/>
          </a:xfrm>
          <a:prstGeom prst="roundRect">
            <a:avLst>
              <a:gd name="adj" fmla="val 50000"/>
            </a:avLst>
          </a:prstGeom>
          <a:effectLst/>
          <a:gradFill rotWithShape="1">
            <a:gsLst>
              <a:gs pos="0">
                <a:srgbClr val="FBBF24">
                  <a:alpha val="70000"/>
                </a:srgbClr>
              </a:gs>
              <a:gs pos="100000">
                <a:srgbClr val="D97706">
                  <a:alpha val="70000"/>
                </a:srgbClr>
              </a:gs>
            </a:gsLst>
            <a:lin ang="5400000" scaled="1"/>
          </a:gradFill>
          <a:ln>
            <a:noFill/>
          </a:ln>
          <a:scene3d>
            <a:camera prst="perspectiveRelaxedModerately" fov="2700000">
              <a:rot lat="0" lon="2700000" rev="0"/>
            </a:camera>
            <a:lightRig rig="threePt" dir="t">
              <a:rot lat="0" lon="0" rev="1200000"/>
            </a:lightRig>
          </a:scene3d>
          <a:sp3d extrusionH="50292" prstMaterial="matte">
            <a:bevelT w="12700" h="12700"/>
            <a:extrusionClr>
              <a:srgbClr val="B45309"/>
            </a:extrusionClr>
          </a:sp3d>
        </p:spPr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343400" y="713232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 i="0" spc="260">
                <a:solidFill>
                  <a:srgbClr val="F59E0B"/>
                </a:solidFill>
                <a:latin typeface="Consolas"/>
              </a:rPr>
              <a:t>THE APP — LIVE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343400" y="1097280"/>
            <a:ext cx="7315200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3000" b="1" i="0">
                <a:solidFill>
                  <a:srgbClr val="FAFAF9"/>
                </a:solidFill>
                <a:latin typeface="Segoe UI"/>
              </a:rPr>
              <a:t>The Speak screen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343400" y="1645920"/>
            <a:ext cx="69494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50" b="0" i="0">
                <a:solidFill>
                  <a:srgbClr val="A8A29E"/>
                </a:solidFill>
                <a:latin typeface="Segoe UI"/>
              </a:rPr>
              <a:t>Every element on this slide is a component from the running app.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960120" y="868680"/>
            <a:ext cx="2697480" cy="5230368"/>
          </a:xfrm>
          <a:prstGeom prst="roundRect">
            <a:avLst>
              <a:gd name="adj" fmla="val 12000"/>
            </a:avLst>
          </a:prstGeom>
          <a:effectLst/>
          <a:solidFill>
            <a:srgbClr val="141110"/>
          </a:solidFill>
          <a:ln w="20320">
            <a:solidFill>
              <a:srgbClr val="44403C"/>
            </a:solidFill>
          </a:ln>
          <a:effectLst>
            <a:outerShdw blurRad="256032" dist="73152" dir="5400000" rotWithShape="0">
              <a:srgbClr val="000000">
                <a:alpha val="55000"/>
              </a:srgbClr>
            </a:outerShdw>
          </a:effectLst>
        </p:spPr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1069848" y="987552"/>
            <a:ext cx="2478024" cy="402336"/>
          </a:xfrm>
          <a:prstGeom prst="roundRect">
            <a:avLst>
              <a:gd name="adj" fmla="val 18000"/>
            </a:avLst>
          </a:prstGeom>
          <a:effectLst/>
          <a:solidFill>
            <a:srgbClr val="0C0A09">
              <a:alpha val="75000"/>
            </a:srgbClr>
          </a:solidFill>
          <a:ln w="9525">
            <a:solidFill>
              <a:srgbClr val="FFFFFF">
                <a:alpha val="6000"/>
              </a:srgbClr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1234440" y="1185520"/>
            <a:ext cx="32004" cy="85496"/>
          </a:xfrm>
          <a:prstGeom prst="roundRect">
            <a:avLst>
              <a:gd name="adj" fmla="val 50000"/>
            </a:avLst>
          </a:prstGeom>
          <a:effectLst/>
          <a:solidFill>
            <a:srgbClr val="F59E0B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1286561" y="1138885"/>
            <a:ext cx="32004" cy="132131"/>
          </a:xfrm>
          <a:prstGeom prst="roundRect">
            <a:avLst>
              <a:gd name="adj" fmla="val 50000"/>
            </a:avLst>
          </a:prstGeom>
          <a:effectLst/>
          <a:solidFill>
            <a:srgbClr val="F59E0B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1338682" y="1115568"/>
            <a:ext cx="32004" cy="155448"/>
          </a:xfrm>
          <a:prstGeom prst="roundRect">
            <a:avLst>
              <a:gd name="adj" fmla="val 50000"/>
            </a:avLst>
          </a:prstGeom>
          <a:effectLst/>
          <a:solidFill>
            <a:srgbClr val="F59E0B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1390802" y="1162202"/>
            <a:ext cx="32004" cy="108814"/>
          </a:xfrm>
          <a:prstGeom prst="roundRect">
            <a:avLst>
              <a:gd name="adj" fmla="val 50000"/>
            </a:avLst>
          </a:prstGeom>
          <a:effectLst/>
          <a:solidFill>
            <a:srgbClr val="F59E0B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9" name="Rounded Rectangle 18"/>
          <p:cNvSpPr/>
          <p:nvPr/>
        </p:nvSpPr>
        <p:spPr>
          <a:xfrm>
            <a:off x="1442923" y="1201064"/>
            <a:ext cx="32004" cy="69952"/>
          </a:xfrm>
          <a:prstGeom prst="roundRect">
            <a:avLst>
              <a:gd name="adj" fmla="val 50000"/>
            </a:avLst>
          </a:prstGeom>
          <a:effectLst/>
          <a:solidFill>
            <a:srgbClr val="F59E0B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527048" y="987552"/>
            <a:ext cx="1463040" cy="40233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 i="0">
                <a:solidFill>
                  <a:srgbClr val="FAFAF9"/>
                </a:solidFill>
                <a:latin typeface="Segoe UI"/>
              </a:rPr>
              <a:t>Reclaim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1069848" y="1490472"/>
            <a:ext cx="2478024" cy="2212848"/>
          </a:xfrm>
          <a:prstGeom prst="roundRect">
            <a:avLst>
              <a:gd name="adj" fmla="val 6000"/>
            </a:avLst>
          </a:prstGeom>
          <a:effectLst/>
          <a:solidFill>
            <a:srgbClr val="0A0908"/>
          </a:solidFill>
          <a:ln w="12700">
            <a:solidFill>
              <a:srgbClr val="292524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1197864" y="1618488"/>
            <a:ext cx="201168" cy="18288"/>
          </a:xfrm>
          <a:prstGeom prst="rect">
            <a:avLst/>
          </a:prstGeom>
          <a:effectLst/>
          <a:solidFill>
            <a:srgbClr val="78716C">
              <a:alpha val="70000"/>
            </a:srgbClr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1197864" y="1618488"/>
            <a:ext cx="18288" cy="201168"/>
          </a:xfrm>
          <a:prstGeom prst="rect">
            <a:avLst/>
          </a:prstGeom>
          <a:effectLst/>
          <a:solidFill>
            <a:srgbClr val="78716C">
              <a:alpha val="70000"/>
            </a:srgbClr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3218688" y="1618488"/>
            <a:ext cx="201168" cy="18288"/>
          </a:xfrm>
          <a:prstGeom prst="rect">
            <a:avLst/>
          </a:prstGeom>
          <a:effectLst/>
          <a:solidFill>
            <a:srgbClr val="78716C">
              <a:alpha val="70000"/>
            </a:srgbClr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3401568" y="1618488"/>
            <a:ext cx="18288" cy="201168"/>
          </a:xfrm>
          <a:prstGeom prst="rect">
            <a:avLst/>
          </a:prstGeom>
          <a:effectLst/>
          <a:solidFill>
            <a:srgbClr val="78716C">
              <a:alpha val="70000"/>
            </a:srgbClr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1197864" y="3502152"/>
            <a:ext cx="201168" cy="18288"/>
          </a:xfrm>
          <a:prstGeom prst="rect">
            <a:avLst/>
          </a:prstGeom>
          <a:effectLst/>
          <a:solidFill>
            <a:srgbClr val="78716C">
              <a:alpha val="70000"/>
            </a:srgbClr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1197864" y="3319272"/>
            <a:ext cx="18288" cy="201168"/>
          </a:xfrm>
          <a:prstGeom prst="rect">
            <a:avLst/>
          </a:prstGeom>
          <a:effectLst/>
          <a:solidFill>
            <a:srgbClr val="78716C">
              <a:alpha val="70000"/>
            </a:srgbClr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3218688" y="3502152"/>
            <a:ext cx="201168" cy="18288"/>
          </a:xfrm>
          <a:prstGeom prst="rect">
            <a:avLst/>
          </a:prstGeom>
          <a:effectLst/>
          <a:solidFill>
            <a:srgbClr val="78716C">
              <a:alpha val="70000"/>
            </a:srgbClr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3401568" y="3319272"/>
            <a:ext cx="18288" cy="201168"/>
          </a:xfrm>
          <a:prstGeom prst="rect">
            <a:avLst/>
          </a:prstGeom>
          <a:effectLst/>
          <a:solidFill>
            <a:srgbClr val="78716C">
              <a:alpha val="70000"/>
            </a:srgbClr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0" name="Rounded Rectangle 29"/>
          <p:cNvSpPr/>
          <p:nvPr/>
        </p:nvSpPr>
        <p:spPr>
          <a:xfrm>
            <a:off x="1234440" y="1691640"/>
            <a:ext cx="786384" cy="274320"/>
          </a:xfrm>
          <a:prstGeom prst="roundRect">
            <a:avLst>
              <a:gd name="adj" fmla="val 50000"/>
            </a:avLst>
          </a:prstGeom>
          <a:effectLst/>
          <a:solidFill>
            <a:srgbClr val="000000">
              <a:alpha val="60000"/>
            </a:srgbClr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1" name="Oval 30"/>
          <p:cNvSpPr/>
          <p:nvPr/>
        </p:nvSpPr>
        <p:spPr>
          <a:xfrm>
            <a:off x="1325880" y="1787652"/>
            <a:ext cx="82296" cy="82296"/>
          </a:xfrm>
          <a:prstGeom prst="ellipse">
            <a:avLst/>
          </a:prstGeom>
          <a:effectLst/>
          <a:solidFill>
            <a:srgbClr val="F43F5E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1444752" y="1691640"/>
            <a:ext cx="548640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0" i="0">
                <a:solidFill>
                  <a:srgbClr val="FFFFFF"/>
                </a:solidFill>
                <a:latin typeface="Consolas"/>
              </a:rPr>
              <a:t>0:07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069848" y="2651760"/>
            <a:ext cx="2478024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Aft>
                <a:spcPts val="0"/>
              </a:spcAft>
            </a:pPr>
            <a:r>
              <a:rPr sz="1200" b="0" i="1">
                <a:solidFill>
                  <a:srgbClr val="78716C"/>
                </a:solidFill>
                <a:latin typeface="Segoe UI"/>
              </a:rPr>
              <a:t>signing…</a:t>
            </a:r>
          </a:p>
        </p:txBody>
      </p:sp>
      <p:sp>
        <p:nvSpPr>
          <p:cNvPr id="34" name="Oval 33"/>
          <p:cNvSpPr/>
          <p:nvPr/>
        </p:nvSpPr>
        <p:spPr>
          <a:xfrm>
            <a:off x="1860804" y="3694176"/>
            <a:ext cx="896112" cy="896112"/>
          </a:xfrm>
          <a:prstGeom prst="ellipse">
            <a:avLst/>
          </a:prstGeom>
          <a:effectLst/>
          <a:noFill/>
          <a:ln w="20320">
            <a:solidFill>
              <a:srgbClr val="F43F5E">
                <a:alpha val="12000"/>
              </a:srgbClr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5" name="Oval 34"/>
          <p:cNvSpPr/>
          <p:nvPr/>
        </p:nvSpPr>
        <p:spPr>
          <a:xfrm>
            <a:off x="1961388" y="3794760"/>
            <a:ext cx="694944" cy="694944"/>
          </a:xfrm>
          <a:prstGeom prst="ellipse">
            <a:avLst/>
          </a:prstGeom>
          <a:effectLst/>
          <a:noFill/>
          <a:ln w="20320">
            <a:solidFill>
              <a:srgbClr val="F43F5E">
                <a:alpha val="28000"/>
              </a:srgbClr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6" name="Oval 35"/>
          <p:cNvSpPr/>
          <p:nvPr/>
        </p:nvSpPr>
        <p:spPr>
          <a:xfrm>
            <a:off x="2061972" y="3895344"/>
            <a:ext cx="493776" cy="493776"/>
          </a:xfrm>
          <a:prstGeom prst="ellipse">
            <a:avLst/>
          </a:prstGeom>
          <a:effectLst/>
          <a:solidFill>
            <a:srgbClr val="E11D48"/>
          </a:solidFill>
          <a:ln>
            <a:noFill/>
          </a:ln>
          <a:effectLst>
            <a:outerShdw blurRad="128016" dist="18288" dir="5400000" rotWithShape="0">
              <a:srgbClr val="000000">
                <a:alpha val="45000"/>
              </a:srgbClr>
            </a:outerShdw>
          </a:effectLst>
        </p:spPr>
        <p:txBody>
          <a:bodyPr rtlCol="0" anchor="ctr"/>
          <a:lstStyle/>
          <a:p>
            <a:pPr algn="ctr"/>
          </a:p>
        </p:txBody>
      </p:sp>
      <p:sp>
        <p:nvSpPr>
          <p:cNvPr id="37" name="Rounded Rectangle 36"/>
          <p:cNvSpPr/>
          <p:nvPr/>
        </p:nvSpPr>
        <p:spPr>
          <a:xfrm>
            <a:off x="2231136" y="4064508"/>
            <a:ext cx="155448" cy="155448"/>
          </a:xfrm>
          <a:prstGeom prst="roundRect">
            <a:avLst>
              <a:gd name="adj" fmla="val 25000"/>
            </a:avLst>
          </a:prstGeom>
          <a:effectLst/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8" name="Rounded Rectangle 37"/>
          <p:cNvSpPr/>
          <p:nvPr/>
        </p:nvSpPr>
        <p:spPr>
          <a:xfrm>
            <a:off x="1069848" y="4636008"/>
            <a:ext cx="2478024" cy="868680"/>
          </a:xfrm>
          <a:prstGeom prst="roundRect">
            <a:avLst>
              <a:gd name="adj" fmla="val 10000"/>
            </a:avLst>
          </a:prstGeom>
          <a:effectLst/>
          <a:solidFill>
            <a:srgbClr val="1C1917">
              <a:alpha val="90000"/>
            </a:srgbClr>
          </a:solidFill>
          <a:ln w="12700">
            <a:solidFill>
              <a:srgbClr val="292524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1216152" y="4745736"/>
            <a:ext cx="2185416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800" b="0" i="0" spc="80">
                <a:solidFill>
                  <a:srgbClr val="F59E0B"/>
                </a:solidFill>
                <a:latin typeface="Consolas"/>
              </a:rPr>
              <a:t>TRANSLATION — EDIT ANYTHING</a:t>
            </a:r>
          </a:p>
          <a:p>
            <a:pPr algn="l">
              <a:spcAft>
                <a:spcPts val="0"/>
              </a:spcAft>
            </a:pPr>
            <a:r>
              <a:rPr sz="1250" b="0" i="0">
                <a:solidFill>
                  <a:srgbClr val="FAFAF9"/>
                </a:solidFill>
                <a:latin typeface="Segoe UI"/>
              </a:rPr>
              <a:t>coffee run — want anything?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1069848" y="5641848"/>
            <a:ext cx="1170432" cy="365760"/>
          </a:xfrm>
          <a:prstGeom prst="roundRect">
            <a:avLst>
              <a:gd name="adj" fmla="val 28000"/>
            </a:avLst>
          </a:prstGeom>
          <a:effectLst/>
          <a:solidFill>
            <a:srgbClr val="1C1917">
              <a:alpha val="60000"/>
            </a:srgbClr>
          </a:solidFill>
          <a:ln w="15240">
            <a:solidFill>
              <a:srgbClr val="44403C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1069848" y="5641848"/>
            <a:ext cx="1170432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0"/>
              </a:spcAft>
            </a:pPr>
            <a:r>
              <a:rPr sz="1100" b="0" i="0">
                <a:solidFill>
                  <a:srgbClr val="E7E5E4"/>
                </a:solidFill>
                <a:latin typeface="Segoe UI"/>
              </a:rPr>
              <a:t>Re-sign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2340864" y="5641848"/>
            <a:ext cx="1207008" cy="365760"/>
          </a:xfrm>
          <a:prstGeom prst="roundRect">
            <a:avLst>
              <a:gd name="adj" fmla="val 28000"/>
            </a:avLst>
          </a:prstGeom>
          <a:effectLst/>
          <a:solidFill>
            <a:srgbClr val="F59E0B"/>
          </a:solidFill>
          <a:ln>
            <a:noFill/>
          </a:ln>
          <a:effectLst>
            <a:outerShdw blurRad="109728" dist="27432" dir="5400000" rotWithShape="0">
              <a:srgbClr val="000000">
                <a:alpha val="30000"/>
              </a:srgbClr>
            </a:outerShdw>
          </a:effectLst>
        </p:spPr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2340864" y="5641848"/>
            <a:ext cx="1207008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0"/>
              </a:spcAft>
            </a:pPr>
            <a:r>
              <a:rPr sz="1100" b="1" i="0">
                <a:solidFill>
                  <a:srgbClr val="1C1917"/>
                </a:solidFill>
                <a:latin typeface="Segoe UI"/>
              </a:rPr>
              <a:t>Say it</a:t>
            </a:r>
          </a:p>
        </p:txBody>
      </p:sp>
      <p:sp>
        <p:nvSpPr>
          <p:cNvPr id="44" name="Rounded Rectangle 43"/>
          <p:cNvSpPr/>
          <p:nvPr/>
        </p:nvSpPr>
        <p:spPr>
          <a:xfrm>
            <a:off x="4370832" y="2414016"/>
            <a:ext cx="109728" cy="109728"/>
          </a:xfrm>
          <a:prstGeom prst="roundRect">
            <a:avLst>
              <a:gd name="adj" fmla="val 35000"/>
            </a:avLst>
          </a:prstGeom>
          <a:effectLst/>
          <a:solidFill>
            <a:srgbClr val="F59E0B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4617720" y="2331720"/>
            <a:ext cx="676656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350" b="1" i="0">
                <a:solidFill>
                  <a:srgbClr val="FEF3C7"/>
                </a:solidFill>
                <a:latin typeface="Segoe UI"/>
              </a:rPr>
              <a:t>Recording pulse — </a:t>
            </a:r>
            <a:r>
              <a:rPr sz="1300" b="0" i="0">
                <a:solidFill>
                  <a:srgbClr val="A8A29E"/>
                </a:solidFill>
                <a:latin typeface="Segoe UI"/>
              </a:rPr>
              <a:t>The rose capture ring pulses while the camera records your signing — 20 s max, auto-stops.</a:t>
            </a:r>
          </a:p>
        </p:txBody>
      </p:sp>
      <p:sp>
        <p:nvSpPr>
          <p:cNvPr id="46" name="Rounded Rectangle 45"/>
          <p:cNvSpPr/>
          <p:nvPr/>
        </p:nvSpPr>
        <p:spPr>
          <a:xfrm>
            <a:off x="4370832" y="3401568"/>
            <a:ext cx="109728" cy="109728"/>
          </a:xfrm>
          <a:prstGeom prst="roundRect">
            <a:avLst>
              <a:gd name="adj" fmla="val 35000"/>
            </a:avLst>
          </a:prstGeom>
          <a:effectLst/>
          <a:solidFill>
            <a:srgbClr val="F59E0B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4617720" y="3319272"/>
            <a:ext cx="676656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350" b="1" i="0">
                <a:solidFill>
                  <a:srgbClr val="FEF3C7"/>
                </a:solidFill>
                <a:latin typeface="Segoe UI"/>
              </a:rPr>
              <a:t>Human in the loop — </a:t>
            </a:r>
            <a:r>
              <a:rPr sz="1300" b="0" i="0">
                <a:solidFill>
                  <a:srgbClr val="A8A29E"/>
                </a:solidFill>
                <a:latin typeface="Segoe UI"/>
              </a:rPr>
              <a:t>Gemini's translation lands in an editable card. Fix anything before it's ever spoken.</a:t>
            </a:r>
          </a:p>
        </p:txBody>
      </p:sp>
      <p:sp>
        <p:nvSpPr>
          <p:cNvPr id="48" name="Rounded Rectangle 47"/>
          <p:cNvSpPr/>
          <p:nvPr/>
        </p:nvSpPr>
        <p:spPr>
          <a:xfrm>
            <a:off x="4370832" y="4389120"/>
            <a:ext cx="109728" cy="109728"/>
          </a:xfrm>
          <a:prstGeom prst="roundRect">
            <a:avLst>
              <a:gd name="adj" fmla="val 35000"/>
            </a:avLst>
          </a:prstGeom>
          <a:effectLst/>
          <a:solidFill>
            <a:srgbClr val="F59E0B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4617720" y="4306824"/>
            <a:ext cx="676656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350" b="1" i="0">
                <a:solidFill>
                  <a:srgbClr val="FEF3C7"/>
                </a:solidFill>
                <a:latin typeface="Segoe UI"/>
              </a:rPr>
              <a:t>One amber tap — </a:t>
            </a:r>
            <a:r>
              <a:rPr sz="1300" b="0" i="0">
                <a:solidFill>
                  <a:srgbClr val="A8A29E"/>
                </a:solidFill>
                <a:latin typeface="Segoe UI"/>
              </a:rPr>
              <a:t>“Say it” restyles the sentence and speaks it in your cloned voice — the room hears you.</a:t>
            </a:r>
          </a:p>
        </p:txBody>
      </p:sp>
      <p:sp>
        <p:nvSpPr>
          <p:cNvPr id="50" name="Rounded Rectangle 49"/>
          <p:cNvSpPr/>
          <p:nvPr/>
        </p:nvSpPr>
        <p:spPr>
          <a:xfrm>
            <a:off x="4370832" y="5376672"/>
            <a:ext cx="109728" cy="109728"/>
          </a:xfrm>
          <a:prstGeom prst="roundRect">
            <a:avLst>
              <a:gd name="adj" fmla="val 35000"/>
            </a:avLst>
          </a:prstGeom>
          <a:effectLst/>
          <a:solidFill>
            <a:srgbClr val="F59E0B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4617720" y="5294376"/>
            <a:ext cx="676656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350" b="1" i="0">
                <a:solidFill>
                  <a:srgbClr val="FEF3C7"/>
                </a:solidFill>
                <a:latin typeface="Segoe UI"/>
              </a:rPr>
              <a:t>Quick phrases — </a:t>
            </a:r>
            <a:r>
              <a:rPr sz="1300" b="0" i="0">
                <a:solidFill>
                  <a:srgbClr val="A8A29E"/>
                </a:solidFill>
                <a:latin typeface="Segoe UI"/>
              </a:rPr>
              <a:t>Hold up 1–5 fingers as the clip starts: deterministic phrases like “I want a coffee.”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640080" y="6455664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900" b="0" i="0" spc="200">
                <a:solidFill>
                  <a:srgbClr val="57534E"/>
                </a:solidFill>
                <a:latin typeface="Consolas"/>
              </a:rPr>
              <a:t>RECLAIM</a:t>
            </a:r>
            <a:r>
              <a:rPr sz="900" b="0" i="0" spc="200">
                <a:solidFill>
                  <a:srgbClr val="57534E"/>
                </a:solidFill>
                <a:latin typeface="Consolas"/>
              </a:rPr>
              <a:t>  ·  AI FOR SOCIAL GOOD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6062472" y="6455664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Aft>
                <a:spcPts val="0"/>
              </a:spcAft>
            </a:pPr>
            <a:r>
              <a:rPr sz="900" b="0" i="0" spc="200">
                <a:solidFill>
                  <a:srgbClr val="57534E"/>
                </a:solidFill>
                <a:latin typeface="Consolas"/>
              </a:rPr>
              <a:t>BUILT ON DIGITALOCEAN  ·  05 / 11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 xmlns:p159="http://schemas.microsoft.com/office/powerpoint/2015/09/main">
    <mc:Choice Requires="p159">
      <p:transition spd="slow" p14:dur="1100">
        <p159:morph option="byObject"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225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7" dur="55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228" dur="55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29" presetID="42" presetClass="entr" presetSubtype="0" fill="hold" grpId="0" nodeType="withEffect">
                                  <p:stCondLst>
                                    <p:cond delay="120"/>
                                  </p:stCondLst>
                                  <p:childTnLst>
                                    <p:set>
                                      <p:cBhvr>
                                        <p:cTn id="2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1" dur="55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232" dur="55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33" presetID="42" presetClass="entr" presetSubtype="0" fill="hold" grpId="0" nodeType="withEffect">
                                  <p:stCondLst>
                                    <p:cond delay="350"/>
                                  </p:stCondLst>
                                  <p:childTnLst>
                                    <p:set>
                                      <p:cBhvr>
                                        <p:cTn id="2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5" dur="550"/>
                                        <p:tgtEl>
                                          <p:spTgt spid="45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236" dur="550" fill="hold"/>
                                        <p:tgtEl>
                                          <p:spTgt spid="4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37" presetID="42" presetClass="entr" presetSubtype="0" fill="hold" grpId="0" nodeType="withEffect">
                                  <p:stCondLst>
                                    <p:cond delay="550"/>
                                  </p:stCondLst>
                                  <p:childTnLst>
                                    <p:set>
                                      <p:cBhvr>
                                        <p:cTn id="2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9" dur="550"/>
                                        <p:tgtEl>
                                          <p:spTgt spid="47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240" dur="550" fill="hold"/>
                                        <p:tgtEl>
                                          <p:spTgt spid="4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41" presetID="42" presetClass="entr" presetSubtype="0" fill="hold" grpId="0" nodeType="withEffect">
                                  <p:stCondLst>
                                    <p:cond delay="750"/>
                                  </p:stCondLst>
                                  <p:childTnLst>
                                    <p:set>
                                      <p:cBhvr>
                                        <p:cTn id="2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3" dur="550"/>
                                        <p:tgtEl>
                                          <p:spTgt spid="49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244" dur="550" fill="hold"/>
                                        <p:tgtEl>
                                          <p:spTgt spid="4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45" presetID="42" presetClass="entr" presetSubtype="0" fill="hold" grpId="0" nodeType="withEffect">
                                  <p:stCondLst>
                                    <p:cond delay="950"/>
                                  </p:stCondLst>
                                  <p:childTnLst>
                                    <p:set>
                                      <p:cBhvr>
                                        <p:cTn id="2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7" dur="550"/>
                                        <p:tgtEl>
                                          <p:spTgt spid="51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248" dur="550" fill="hold"/>
                                        <p:tgtEl>
                                          <p:spTgt spid="5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!!bg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effectLst/>
          <a:solidFill>
            <a:srgbClr val="0C0A09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" name="!!glow"/>
          <p:cNvSpPr/>
          <p:nvPr/>
        </p:nvSpPr>
        <p:spPr>
          <a:xfrm>
            <a:off x="3017520" y="-2377440"/>
            <a:ext cx="6217920" cy="6217920"/>
          </a:xfrm>
          <a:prstGeom prst="ellipse">
            <a:avLst/>
          </a:prstGeom>
          <a:effectLst/>
          <a:gradFill>
            <a:gsLst>
              <a:gs pos="0">
                <a:srgbClr val="F59E0B">
                  <a:alpha val="9000"/>
                </a:srgbClr>
              </a:gs>
              <a:gs pos="100000">
                <a:srgbClr val="0C0A09">
                  <a:alpha val="0"/>
                </a:srgbClr>
              </a:gs>
            </a:gsLst>
            <a:path path="circle">
              <a:fillToRect l="50000" t="50000" r="50000" b="50000"/>
            </a:path>
          </a:gra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235440" y="4480560"/>
            <a:ext cx="3108960" cy="2377440"/>
          </a:xfrm>
          <a:prstGeom prst="rect">
            <a:avLst/>
          </a:prstGeom>
          <a:noFill/>
        </p:spPr>
        <p:txBody>
          <a:bodyPr wrap="none" anchor="b" lIns="0" rIns="0" tIns="0" bIns="0">
            <a:spAutoFit/>
          </a:bodyPr>
          <a:lstStyle/>
          <a:p>
            <a:pPr algn="r">
              <a:spcAft>
                <a:spcPts val="0"/>
              </a:spcAft>
            </a:pPr>
            <a:r>
              <a:rPr sz="17000" b="1" i="0">
                <a:solidFill>
                  <a:srgbClr val="171310"/>
                </a:solidFill>
                <a:latin typeface="Segoe UI"/>
              </a:rPr>
              <a:t>05</a:t>
            </a:r>
          </a:p>
        </p:txBody>
      </p:sp>
      <p:sp>
        <p:nvSpPr>
          <p:cNvPr id="5" name="!!bar0"/>
          <p:cNvSpPr/>
          <p:nvPr/>
        </p:nvSpPr>
        <p:spPr>
          <a:xfrm>
            <a:off x="854964" y="5907024"/>
            <a:ext cx="100584" cy="237744"/>
          </a:xfrm>
          <a:prstGeom prst="roundRect">
            <a:avLst>
              <a:gd name="adj" fmla="val 50000"/>
            </a:avLst>
          </a:prstGeom>
          <a:effectLst/>
          <a:gradFill rotWithShape="1">
            <a:gsLst>
              <a:gs pos="0">
                <a:srgbClr val="FBBF24">
                  <a:alpha val="70000"/>
                </a:srgbClr>
              </a:gs>
              <a:gs pos="100000">
                <a:srgbClr val="D97706">
                  <a:alpha val="70000"/>
                </a:srgbClr>
              </a:gs>
            </a:gsLst>
            <a:lin ang="5400000" scaled="1"/>
          </a:gradFill>
          <a:ln>
            <a:noFill/>
          </a:ln>
          <a:scene3d>
            <a:camera prst="perspectiveRelaxedModerately" fov="2700000">
              <a:rot lat="0" lon="4200000" rev="0"/>
            </a:camera>
            <a:lightRig rig="threePt" dir="t">
              <a:rot lat="0" lon="0" rev="1200000"/>
            </a:lightRig>
          </a:scene3d>
          <a:sp3d extrusionH="50292" prstMaterial="matte">
            <a:bevelT w="12700" h="12700"/>
            <a:extrusionClr>
              <a:srgbClr val="B45309"/>
            </a:extrusionClr>
          </a:sp3d>
        </p:spPr>
        <p:txBody>
          <a:bodyPr rtlCol="0" anchor="ctr"/>
          <a:lstStyle/>
          <a:p>
            <a:pPr algn="ctr"/>
          </a:p>
        </p:txBody>
      </p:sp>
      <p:sp>
        <p:nvSpPr>
          <p:cNvPr id="6" name="!!bar1"/>
          <p:cNvSpPr/>
          <p:nvPr/>
        </p:nvSpPr>
        <p:spPr>
          <a:xfrm>
            <a:off x="1019556" y="5742432"/>
            <a:ext cx="100584" cy="402336"/>
          </a:xfrm>
          <a:prstGeom prst="roundRect">
            <a:avLst>
              <a:gd name="adj" fmla="val 50000"/>
            </a:avLst>
          </a:prstGeom>
          <a:effectLst/>
          <a:gradFill rotWithShape="1">
            <a:gsLst>
              <a:gs pos="0">
                <a:srgbClr val="FBBF24">
                  <a:alpha val="70000"/>
                </a:srgbClr>
              </a:gs>
              <a:gs pos="100000">
                <a:srgbClr val="F59E0B">
                  <a:alpha val="70000"/>
                </a:srgbClr>
              </a:gs>
            </a:gsLst>
            <a:lin ang="5400000" scaled="1"/>
          </a:gradFill>
          <a:ln>
            <a:noFill/>
          </a:ln>
          <a:scene3d>
            <a:camera prst="perspectiveRelaxedModerately" fov="2700000">
              <a:rot lat="0" lon="4200000" rev="0"/>
            </a:camera>
            <a:lightRig rig="threePt" dir="t">
              <a:rot lat="0" lon="0" rev="1200000"/>
            </a:lightRig>
          </a:scene3d>
          <a:sp3d extrusionH="50292" prstMaterial="matte">
            <a:bevelT w="12700" h="12700"/>
            <a:extrusionClr>
              <a:srgbClr val="B45309"/>
            </a:extrusionClr>
          </a:sp3d>
        </p:spPr>
        <p:txBody>
          <a:bodyPr rtlCol="0" anchor="ctr"/>
          <a:lstStyle/>
          <a:p>
            <a:pPr algn="ctr"/>
          </a:p>
        </p:txBody>
      </p:sp>
      <p:sp>
        <p:nvSpPr>
          <p:cNvPr id="7" name="!!bar2"/>
          <p:cNvSpPr/>
          <p:nvPr/>
        </p:nvSpPr>
        <p:spPr>
          <a:xfrm>
            <a:off x="1184148" y="5614416"/>
            <a:ext cx="100584" cy="530352"/>
          </a:xfrm>
          <a:prstGeom prst="roundRect">
            <a:avLst>
              <a:gd name="adj" fmla="val 50000"/>
            </a:avLst>
          </a:prstGeom>
          <a:effectLst/>
          <a:gradFill rotWithShape="1">
            <a:gsLst>
              <a:gs pos="0">
                <a:srgbClr val="FBBF24">
                  <a:alpha val="70000"/>
                </a:srgbClr>
              </a:gs>
              <a:gs pos="100000">
                <a:srgbClr val="FBBF24">
                  <a:alpha val="70000"/>
                </a:srgbClr>
              </a:gs>
            </a:gsLst>
            <a:lin ang="5400000" scaled="1"/>
          </a:gradFill>
          <a:ln>
            <a:noFill/>
          </a:ln>
          <a:scene3d>
            <a:camera prst="perspectiveRelaxedModerately" fov="2700000">
              <a:rot lat="0" lon="4200000" rev="0"/>
            </a:camera>
            <a:lightRig rig="threePt" dir="t">
              <a:rot lat="0" lon="0" rev="1200000"/>
            </a:lightRig>
          </a:scene3d>
          <a:sp3d extrusionH="50292" prstMaterial="matte">
            <a:bevelT w="12700" h="12700"/>
            <a:extrusionClr>
              <a:srgbClr val="B45309"/>
            </a:extrusionClr>
          </a:sp3d>
        </p:spPr>
        <p:txBody>
          <a:bodyPr rtlCol="0" anchor="ctr"/>
          <a:lstStyle/>
          <a:p>
            <a:pPr algn="ctr"/>
          </a:p>
        </p:txBody>
      </p:sp>
      <p:sp>
        <p:nvSpPr>
          <p:cNvPr id="8" name="!!bar3"/>
          <p:cNvSpPr/>
          <p:nvPr/>
        </p:nvSpPr>
        <p:spPr>
          <a:xfrm>
            <a:off x="1348740" y="5797296"/>
            <a:ext cx="100584" cy="347472"/>
          </a:xfrm>
          <a:prstGeom prst="roundRect">
            <a:avLst>
              <a:gd name="adj" fmla="val 50000"/>
            </a:avLst>
          </a:prstGeom>
          <a:effectLst/>
          <a:gradFill rotWithShape="1">
            <a:gsLst>
              <a:gs pos="0">
                <a:srgbClr val="FBBF24">
                  <a:alpha val="70000"/>
                </a:srgbClr>
              </a:gs>
              <a:gs pos="100000">
                <a:srgbClr val="F59E0B">
                  <a:alpha val="70000"/>
                </a:srgbClr>
              </a:gs>
            </a:gsLst>
            <a:lin ang="5400000" scaled="1"/>
          </a:gradFill>
          <a:ln>
            <a:noFill/>
          </a:ln>
          <a:scene3d>
            <a:camera prst="perspectiveRelaxedModerately" fov="2700000">
              <a:rot lat="0" lon="4200000" rev="0"/>
            </a:camera>
            <a:lightRig rig="threePt" dir="t">
              <a:rot lat="0" lon="0" rev="1200000"/>
            </a:lightRig>
          </a:scene3d>
          <a:sp3d extrusionH="50292" prstMaterial="matte">
            <a:bevelT w="12700" h="12700"/>
            <a:extrusionClr>
              <a:srgbClr val="B45309"/>
            </a:extrusionClr>
          </a:sp3d>
        </p:spPr>
        <p:txBody>
          <a:bodyPr rtlCol="0" anchor="ctr"/>
          <a:lstStyle/>
          <a:p>
            <a:pPr algn="ctr"/>
          </a:p>
        </p:txBody>
      </p:sp>
      <p:sp>
        <p:nvSpPr>
          <p:cNvPr id="9" name="!!bar4"/>
          <p:cNvSpPr/>
          <p:nvPr/>
        </p:nvSpPr>
        <p:spPr>
          <a:xfrm>
            <a:off x="1513332" y="5925312"/>
            <a:ext cx="100584" cy="219456"/>
          </a:xfrm>
          <a:prstGeom prst="roundRect">
            <a:avLst>
              <a:gd name="adj" fmla="val 50000"/>
            </a:avLst>
          </a:prstGeom>
          <a:effectLst/>
          <a:gradFill rotWithShape="1">
            <a:gsLst>
              <a:gs pos="0">
                <a:srgbClr val="FBBF24">
                  <a:alpha val="70000"/>
                </a:srgbClr>
              </a:gs>
              <a:gs pos="100000">
                <a:srgbClr val="D97706">
                  <a:alpha val="70000"/>
                </a:srgbClr>
              </a:gs>
            </a:gsLst>
            <a:lin ang="5400000" scaled="1"/>
          </a:gradFill>
          <a:ln>
            <a:noFill/>
          </a:ln>
          <a:scene3d>
            <a:camera prst="perspectiveRelaxedModerately" fov="2700000">
              <a:rot lat="0" lon="4200000" rev="0"/>
            </a:camera>
            <a:lightRig rig="threePt" dir="t">
              <a:rot lat="0" lon="0" rev="1200000"/>
            </a:lightRig>
          </a:scene3d>
          <a:sp3d extrusionH="50292" prstMaterial="matte">
            <a:bevelT w="12700" h="12700"/>
            <a:extrusionClr>
              <a:srgbClr val="B45309"/>
            </a:extrusionClr>
          </a:sp3d>
        </p:spPr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22960" y="713232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 i="0" spc="260">
                <a:solidFill>
                  <a:srgbClr val="F59E0B"/>
                </a:solidFill>
                <a:latin typeface="Consolas"/>
              </a:rPr>
              <a:t>CONVERSATION MODE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22960" y="1097280"/>
            <a:ext cx="6035040" cy="1463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3600" b="1" i="0">
                <a:solidFill>
                  <a:srgbClr val="FAFAF9"/>
                </a:solidFill>
                <a:latin typeface="Segoe UI"/>
              </a:rPr>
              <a:t>A real
back-and-forth.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22960" y="2514600"/>
            <a:ext cx="5394960" cy="2011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40000"/>
              </a:lnSpc>
              <a:spcAft>
                <a:spcPts val="0"/>
              </a:spcAft>
            </a:pPr>
            <a:r>
              <a:rPr sz="1450" b="0" i="0">
                <a:solidFill>
                  <a:srgbClr val="A8A29E"/>
                </a:solidFill>
                <a:latin typeface="Segoe UI"/>
              </a:rPr>
              <a:t>The other person just talks. Gemini transcribes them; Llama 3.3 on DigitalOcean Gradient drafts three replies in your style. Tap one — it's spoken in your voice.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22960" y="4160520"/>
            <a:ext cx="53949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0" i="0" spc="120">
                <a:solidFill>
                  <a:srgbClr val="F59E0B"/>
                </a:solidFill>
                <a:latin typeface="Consolas"/>
              </a:rPr>
              <a:t>HEAR → DRAFT ×3 → TAP → SPEAK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537960" y="1188720"/>
            <a:ext cx="4800600" cy="841248"/>
          </a:xfrm>
          <a:prstGeom prst="roundRect">
            <a:avLst>
              <a:gd name="adj" fmla="val 16000"/>
            </a:avLst>
          </a:prstGeom>
          <a:effectLst/>
          <a:solidFill>
            <a:srgbClr val="292524">
              <a:alpha val="95000"/>
            </a:srgbClr>
          </a:solidFill>
          <a:ln w="12700">
            <a:solidFill>
              <a:srgbClr val="44403C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812280" y="1298448"/>
            <a:ext cx="429768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850" b="0" i="0" spc="80">
                <a:solidFill>
                  <a:srgbClr val="78716C"/>
                </a:solidFill>
                <a:latin typeface="Consolas"/>
              </a:rPr>
              <a:t>PARTNER · TRANSCRIBED BY GEMINI</a:t>
            </a:r>
          </a:p>
          <a:p>
            <a:pPr algn="l">
              <a:spcAft>
                <a:spcPts val="0"/>
              </a:spcAft>
            </a:pPr>
            <a:r>
              <a:rPr sz="1350" b="0" i="0">
                <a:solidFill>
                  <a:srgbClr val="E7E5E4"/>
                </a:solidFill>
                <a:latin typeface="Segoe UI"/>
              </a:rPr>
              <a:t>“What do you want to do for lunch?”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537960" y="2212848"/>
            <a:ext cx="48006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850" b="0" i="0" spc="80">
                <a:solidFill>
                  <a:srgbClr val="F59E0B"/>
                </a:solidFill>
                <a:latin typeface="Consolas"/>
              </a:rPr>
              <a:t>YOUR REPLIES · DRAFTED IN YOUR STYLE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537960" y="2606040"/>
            <a:ext cx="4800600" cy="713232"/>
          </a:xfrm>
          <a:prstGeom prst="roundRect">
            <a:avLst>
              <a:gd name="adj" fmla="val 50000"/>
            </a:avLst>
          </a:prstGeom>
          <a:effectLst/>
          <a:solidFill>
            <a:srgbClr val="1C1917">
              <a:alpha val="85000"/>
            </a:srgbClr>
          </a:solidFill>
          <a:ln w="12700">
            <a:solidFill>
              <a:srgbClr val="44403C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858000" y="2606040"/>
            <a:ext cx="3840480" cy="71323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0" i="0">
                <a:solidFill>
                  <a:srgbClr val="D6D3D1"/>
                </a:solidFill>
                <a:latin typeface="Segoe UI"/>
              </a:rPr>
              <a:t>tbh i could demolish a burrito rn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537960" y="3502152"/>
            <a:ext cx="4800600" cy="713232"/>
          </a:xfrm>
          <a:prstGeom prst="roundRect">
            <a:avLst>
              <a:gd name="adj" fmla="val 50000"/>
            </a:avLst>
          </a:prstGeom>
          <a:effectLst/>
          <a:solidFill>
            <a:srgbClr val="F59E0B">
              <a:alpha val="14000"/>
            </a:srgbClr>
          </a:solidFill>
          <a:ln w="17780">
            <a:solidFill>
              <a:srgbClr val="F59E0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858000" y="3502152"/>
            <a:ext cx="3840480" cy="71323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0" i="0">
                <a:solidFill>
                  <a:srgbClr val="FAFAF9"/>
                </a:solidFill>
                <a:latin typeface="Segoe UI"/>
              </a:rPr>
              <a:t>wherever u want, i'm easy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10716768" y="3846881"/>
            <a:ext cx="32004" cy="130759"/>
          </a:xfrm>
          <a:prstGeom prst="roundRect">
            <a:avLst>
              <a:gd name="adj" fmla="val 50000"/>
            </a:avLst>
          </a:prstGeom>
          <a:effectLst/>
          <a:solidFill>
            <a:srgbClr val="F59E0B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2" name="Rounded Rectangle 21"/>
          <p:cNvSpPr/>
          <p:nvPr/>
        </p:nvSpPr>
        <p:spPr>
          <a:xfrm>
            <a:off x="10768889" y="3775558"/>
            <a:ext cx="32004" cy="202082"/>
          </a:xfrm>
          <a:prstGeom prst="roundRect">
            <a:avLst>
              <a:gd name="adj" fmla="val 50000"/>
            </a:avLst>
          </a:prstGeom>
          <a:effectLst/>
          <a:solidFill>
            <a:srgbClr val="F59E0B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3" name="Rounded Rectangle 22"/>
          <p:cNvSpPr/>
          <p:nvPr/>
        </p:nvSpPr>
        <p:spPr>
          <a:xfrm>
            <a:off x="10821010" y="3739896"/>
            <a:ext cx="32004" cy="237744"/>
          </a:xfrm>
          <a:prstGeom prst="roundRect">
            <a:avLst>
              <a:gd name="adj" fmla="val 50000"/>
            </a:avLst>
          </a:prstGeom>
          <a:effectLst/>
          <a:solidFill>
            <a:srgbClr val="F59E0B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4" name="Rounded Rectangle 23"/>
          <p:cNvSpPr/>
          <p:nvPr/>
        </p:nvSpPr>
        <p:spPr>
          <a:xfrm>
            <a:off x="10873130" y="3811219"/>
            <a:ext cx="32004" cy="166421"/>
          </a:xfrm>
          <a:prstGeom prst="roundRect">
            <a:avLst>
              <a:gd name="adj" fmla="val 50000"/>
            </a:avLst>
          </a:prstGeom>
          <a:effectLst/>
          <a:solidFill>
            <a:srgbClr val="F59E0B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5" name="Rounded Rectangle 24"/>
          <p:cNvSpPr/>
          <p:nvPr/>
        </p:nvSpPr>
        <p:spPr>
          <a:xfrm>
            <a:off x="10925251" y="3870655"/>
            <a:ext cx="32004" cy="106985"/>
          </a:xfrm>
          <a:prstGeom prst="roundRect">
            <a:avLst>
              <a:gd name="adj" fmla="val 50000"/>
            </a:avLst>
          </a:prstGeom>
          <a:effectLst/>
          <a:solidFill>
            <a:srgbClr val="F59E0B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6" name="Rounded Rectangle 25"/>
          <p:cNvSpPr/>
          <p:nvPr/>
        </p:nvSpPr>
        <p:spPr>
          <a:xfrm>
            <a:off x="6537960" y="4398264"/>
            <a:ext cx="4800600" cy="713232"/>
          </a:xfrm>
          <a:prstGeom prst="roundRect">
            <a:avLst>
              <a:gd name="adj" fmla="val 50000"/>
            </a:avLst>
          </a:prstGeom>
          <a:effectLst/>
          <a:solidFill>
            <a:srgbClr val="1C1917">
              <a:alpha val="85000"/>
            </a:srgbClr>
          </a:solidFill>
          <a:ln w="12700">
            <a:solidFill>
              <a:srgbClr val="44403C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858000" y="4398264"/>
            <a:ext cx="3840480" cy="71323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0" i="0">
                <a:solidFill>
                  <a:srgbClr val="D6D3D1"/>
                </a:solidFill>
                <a:latin typeface="Segoe UI"/>
              </a:rPr>
              <a:t>gotta be quick — i'm slammed today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537960" y="5349240"/>
            <a:ext cx="48006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Aft>
                <a:spcPts val="0"/>
              </a:spcAft>
            </a:pPr>
            <a:r>
              <a:rPr sz="1000" b="0" i="0" spc="60">
                <a:solidFill>
                  <a:srgbClr val="F59E0B"/>
                </a:solidFill>
                <a:latin typeface="Consolas"/>
              </a:rPr>
              <a:t>▲ playing in your cloned voice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40080" y="6455664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900" b="0" i="0" spc="200">
                <a:solidFill>
                  <a:srgbClr val="57534E"/>
                </a:solidFill>
                <a:latin typeface="Consolas"/>
              </a:rPr>
              <a:t>RECLAIM</a:t>
            </a:r>
            <a:r>
              <a:rPr sz="900" b="0" i="0" spc="200">
                <a:solidFill>
                  <a:srgbClr val="57534E"/>
                </a:solidFill>
                <a:latin typeface="Consolas"/>
              </a:rPr>
              <a:t>  ·  AI FOR SOCIAL GOOD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062472" y="6455664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Aft>
                <a:spcPts val="0"/>
              </a:spcAft>
            </a:pPr>
            <a:r>
              <a:rPr sz="900" b="0" i="0" spc="200">
                <a:solidFill>
                  <a:srgbClr val="57534E"/>
                </a:solidFill>
                <a:latin typeface="Consolas"/>
              </a:rPr>
              <a:t>BUILT ON DIGITALOCEAN  ·  06 / 11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 xmlns:p159="http://schemas.microsoft.com/office/powerpoint/2015/09/main">
    <mc:Choice Requires="p159">
      <p:transition spd="slow" p14:dur="1100">
        <p159:morph option="byObject"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249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1" dur="55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252" dur="55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3" presetID="42" presetClass="entr" presetSubtype="0" fill="hold" grpId="0" nodeType="withEffect">
                                  <p:stCondLst>
                                    <p:cond delay="150"/>
                                  </p:stCondLst>
                                  <p:childTnLst>
                                    <p:set>
                                      <p:cBhvr>
                                        <p:cTn id="2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5" dur="55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256" dur="55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7" presetID="10" presetClass="entr" presetSubtype="0" fill="hold" grpId="0" nodeType="withEffect">
                                  <p:stCondLst>
                                    <p:cond delay="280"/>
                                  </p:stCondLst>
                                  <p:childTnLst>
                                    <p:set>
                                      <p:cBhvr>
                                        <p:cTn id="2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9" dur="55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1" presetID="42" presetClass="entr" presetSubtype="0" fill="hold" grpId="0" nodeType="withEffect">
                                  <p:stCondLst>
                                    <p:cond delay="380"/>
                                  </p:stCondLst>
                                  <p:childTnLst>
                                    <p:set>
                                      <p:cBhvr>
                                        <p:cTn id="2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3" dur="5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264" dur="55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65" presetID="10" presetClass="entr" presetSubtype="0" fill="hold" grpId="0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2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7" dur="5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9" presetID="42" presetClass="entr" presetSubtype="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2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1" dur="5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272" dur="55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73" presetID="42" presetClass="entr" presetSubtype="0" fill="hold" grpId="0" nodeType="withEffect">
                                  <p:stCondLst>
                                    <p:cond delay="620"/>
                                  </p:stCondLst>
                                  <p:childTnLst>
                                    <p:set>
                                      <p:cBhvr>
                                        <p:cTn id="2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5" dur="5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276" dur="55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77" presetID="42" presetClass="entr" presetSubtype="0" fill="hold" grpId="0" nodeType="withEffect">
                                  <p:stCondLst>
                                    <p:cond delay="840"/>
                                  </p:stCondLst>
                                  <p:childTnLst>
                                    <p:set>
                                      <p:cBhvr>
                                        <p:cTn id="2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9" dur="5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280" dur="55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81" presetID="10" presetClass="entr" presetSubtype="0" fill="hold" grpId="0" nodeType="withEffect">
                                  <p:stCondLst>
                                    <p:cond delay="1150"/>
                                  </p:stCondLst>
                                  <p:childTnLst>
                                    <p:set>
                                      <p:cBhvr>
                                        <p:cTn id="2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3" dur="5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!!bg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effectLst/>
          <a:solidFill>
            <a:srgbClr val="0C0A09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" name="!!glow"/>
          <p:cNvSpPr/>
          <p:nvPr/>
        </p:nvSpPr>
        <p:spPr>
          <a:xfrm>
            <a:off x="3017520" y="-2377440"/>
            <a:ext cx="6217920" cy="6217920"/>
          </a:xfrm>
          <a:prstGeom prst="ellipse">
            <a:avLst/>
          </a:prstGeom>
          <a:effectLst/>
          <a:gradFill>
            <a:gsLst>
              <a:gs pos="0">
                <a:srgbClr val="F59E0B">
                  <a:alpha val="9000"/>
                </a:srgbClr>
              </a:gs>
              <a:gs pos="100000">
                <a:srgbClr val="0C0A09">
                  <a:alpha val="0"/>
                </a:srgbClr>
              </a:gs>
            </a:gsLst>
            <a:path path="circle">
              <a:fillToRect l="50000" t="50000" r="50000" b="50000"/>
            </a:path>
          </a:gra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235440" y="4480560"/>
            <a:ext cx="3108960" cy="2377440"/>
          </a:xfrm>
          <a:prstGeom prst="rect">
            <a:avLst/>
          </a:prstGeom>
          <a:noFill/>
        </p:spPr>
        <p:txBody>
          <a:bodyPr wrap="none" anchor="b" lIns="0" rIns="0" tIns="0" bIns="0">
            <a:spAutoFit/>
          </a:bodyPr>
          <a:lstStyle/>
          <a:p>
            <a:pPr algn="r">
              <a:spcAft>
                <a:spcPts val="0"/>
              </a:spcAft>
            </a:pPr>
            <a:r>
              <a:rPr sz="17000" b="1" i="0">
                <a:solidFill>
                  <a:srgbClr val="171310"/>
                </a:solidFill>
                <a:latin typeface="Segoe UI"/>
              </a:rPr>
              <a:t>06</a:t>
            </a:r>
          </a:p>
        </p:txBody>
      </p:sp>
      <p:sp>
        <p:nvSpPr>
          <p:cNvPr id="5" name="!!bar0"/>
          <p:cNvSpPr/>
          <p:nvPr/>
        </p:nvSpPr>
        <p:spPr>
          <a:xfrm>
            <a:off x="10012680" y="1508760"/>
            <a:ext cx="146304" cy="365760"/>
          </a:xfrm>
          <a:prstGeom prst="roundRect">
            <a:avLst>
              <a:gd name="adj" fmla="val 50000"/>
            </a:avLst>
          </a:prstGeom>
          <a:effectLst/>
          <a:gradFill rotWithShape="1">
            <a:gsLst>
              <a:gs pos="0">
                <a:srgbClr val="FBBF24"/>
              </a:gs>
              <a:gs pos="100000">
                <a:srgbClr val="D97706"/>
              </a:gs>
            </a:gsLst>
            <a:lin ang="5400000" scaled="1"/>
          </a:gradFill>
          <a:ln>
            <a:noFill/>
          </a:ln>
          <a:scene3d>
            <a:camera prst="perspectiveRelaxedModerately" fov="2700000">
              <a:rot lat="360000" lon="19800000" rev="480000"/>
            </a:camera>
            <a:lightRig rig="threePt" dir="t">
              <a:rot lat="0" lon="0" rev="1200000"/>
            </a:lightRig>
          </a:scene3d>
          <a:sp3d extrusionH="73152" prstMaterial="matte">
            <a:bevelT w="12700" h="12700"/>
            <a:extrusionClr>
              <a:srgbClr val="B45309"/>
            </a:extrusionClr>
          </a:sp3d>
        </p:spPr>
        <p:txBody>
          <a:bodyPr rtlCol="0" anchor="ctr"/>
          <a:lstStyle/>
          <a:p>
            <a:pPr algn="ctr"/>
          </a:p>
        </p:txBody>
      </p:sp>
      <p:sp>
        <p:nvSpPr>
          <p:cNvPr id="6" name="!!bar1"/>
          <p:cNvSpPr/>
          <p:nvPr/>
        </p:nvSpPr>
        <p:spPr>
          <a:xfrm>
            <a:off x="10250424" y="1271016"/>
            <a:ext cx="146304" cy="603504"/>
          </a:xfrm>
          <a:prstGeom prst="roundRect">
            <a:avLst>
              <a:gd name="adj" fmla="val 50000"/>
            </a:avLst>
          </a:prstGeom>
          <a:effectLst/>
          <a:gradFill rotWithShape="1">
            <a:gsLst>
              <a:gs pos="0">
                <a:srgbClr val="FBBF24"/>
              </a:gs>
              <a:gs pos="100000">
                <a:srgbClr val="F59E0B"/>
              </a:gs>
            </a:gsLst>
            <a:lin ang="5400000" scaled="1"/>
          </a:gradFill>
          <a:ln>
            <a:noFill/>
          </a:ln>
          <a:scene3d>
            <a:camera prst="perspectiveRelaxedModerately" fov="2700000">
              <a:rot lat="360000" lon="19800000" rev="480000"/>
            </a:camera>
            <a:lightRig rig="threePt" dir="t">
              <a:rot lat="0" lon="0" rev="1200000"/>
            </a:lightRig>
          </a:scene3d>
          <a:sp3d extrusionH="73152" prstMaterial="matte">
            <a:bevelT w="12700" h="12700"/>
            <a:extrusionClr>
              <a:srgbClr val="B45309"/>
            </a:extrusionClr>
          </a:sp3d>
        </p:spPr>
        <p:txBody>
          <a:bodyPr rtlCol="0" anchor="ctr"/>
          <a:lstStyle/>
          <a:p>
            <a:pPr algn="ctr"/>
          </a:p>
        </p:txBody>
      </p:sp>
      <p:sp>
        <p:nvSpPr>
          <p:cNvPr id="7" name="!!bar2"/>
          <p:cNvSpPr/>
          <p:nvPr/>
        </p:nvSpPr>
        <p:spPr>
          <a:xfrm>
            <a:off x="10488168" y="1088136"/>
            <a:ext cx="146304" cy="786384"/>
          </a:xfrm>
          <a:prstGeom prst="roundRect">
            <a:avLst>
              <a:gd name="adj" fmla="val 50000"/>
            </a:avLst>
          </a:prstGeom>
          <a:effectLst/>
          <a:gradFill rotWithShape="1">
            <a:gsLst>
              <a:gs pos="0">
                <a:srgbClr val="FBBF24"/>
              </a:gs>
              <a:gs pos="100000">
                <a:srgbClr val="FBBF24"/>
              </a:gs>
            </a:gsLst>
            <a:lin ang="5400000" scaled="1"/>
          </a:gradFill>
          <a:ln>
            <a:noFill/>
          </a:ln>
          <a:scene3d>
            <a:camera prst="perspectiveRelaxedModerately" fov="2700000">
              <a:rot lat="360000" lon="19800000" rev="480000"/>
            </a:camera>
            <a:lightRig rig="threePt" dir="t">
              <a:rot lat="0" lon="0" rev="1200000"/>
            </a:lightRig>
          </a:scene3d>
          <a:sp3d extrusionH="73152" prstMaterial="matte">
            <a:bevelT w="12700" h="12700"/>
            <a:extrusionClr>
              <a:srgbClr val="B45309"/>
            </a:extrusionClr>
          </a:sp3d>
        </p:spPr>
        <p:txBody>
          <a:bodyPr rtlCol="0" anchor="ctr"/>
          <a:lstStyle/>
          <a:p>
            <a:pPr algn="ctr"/>
          </a:p>
        </p:txBody>
      </p:sp>
      <p:sp>
        <p:nvSpPr>
          <p:cNvPr id="8" name="!!bar3"/>
          <p:cNvSpPr/>
          <p:nvPr/>
        </p:nvSpPr>
        <p:spPr>
          <a:xfrm>
            <a:off x="10725912" y="1362456"/>
            <a:ext cx="146304" cy="512064"/>
          </a:xfrm>
          <a:prstGeom prst="roundRect">
            <a:avLst>
              <a:gd name="adj" fmla="val 50000"/>
            </a:avLst>
          </a:prstGeom>
          <a:effectLst/>
          <a:gradFill rotWithShape="1">
            <a:gsLst>
              <a:gs pos="0">
                <a:srgbClr val="FBBF24"/>
              </a:gs>
              <a:gs pos="100000">
                <a:srgbClr val="F59E0B"/>
              </a:gs>
            </a:gsLst>
            <a:lin ang="5400000" scaled="1"/>
          </a:gradFill>
          <a:ln>
            <a:noFill/>
          </a:ln>
          <a:scene3d>
            <a:camera prst="perspectiveRelaxedModerately" fov="2700000">
              <a:rot lat="360000" lon="19800000" rev="480000"/>
            </a:camera>
            <a:lightRig rig="threePt" dir="t">
              <a:rot lat="0" lon="0" rev="1200000"/>
            </a:lightRig>
          </a:scene3d>
          <a:sp3d extrusionH="73152" prstMaterial="matte">
            <a:bevelT w="12700" h="12700"/>
            <a:extrusionClr>
              <a:srgbClr val="B45309"/>
            </a:extrusionClr>
          </a:sp3d>
        </p:spPr>
        <p:txBody>
          <a:bodyPr rtlCol="0" anchor="ctr"/>
          <a:lstStyle/>
          <a:p>
            <a:pPr algn="ctr"/>
          </a:p>
        </p:txBody>
      </p:sp>
      <p:sp>
        <p:nvSpPr>
          <p:cNvPr id="9" name="!!bar4"/>
          <p:cNvSpPr/>
          <p:nvPr/>
        </p:nvSpPr>
        <p:spPr>
          <a:xfrm>
            <a:off x="10963656" y="1545336"/>
            <a:ext cx="146304" cy="329184"/>
          </a:xfrm>
          <a:prstGeom prst="roundRect">
            <a:avLst>
              <a:gd name="adj" fmla="val 50000"/>
            </a:avLst>
          </a:prstGeom>
          <a:effectLst/>
          <a:gradFill rotWithShape="1">
            <a:gsLst>
              <a:gs pos="0">
                <a:srgbClr val="FBBF24"/>
              </a:gs>
              <a:gs pos="100000">
                <a:srgbClr val="D97706"/>
              </a:gs>
            </a:gsLst>
            <a:lin ang="5400000" scaled="1"/>
          </a:gradFill>
          <a:ln>
            <a:noFill/>
          </a:ln>
          <a:scene3d>
            <a:camera prst="perspectiveRelaxedModerately" fov="2700000">
              <a:rot lat="360000" lon="19800000" rev="480000"/>
            </a:camera>
            <a:lightRig rig="threePt" dir="t">
              <a:rot lat="0" lon="0" rev="1200000"/>
            </a:lightRig>
          </a:scene3d>
          <a:sp3d extrusionH="73152" prstMaterial="matte">
            <a:bevelT w="12700" h="12700"/>
            <a:extrusionClr>
              <a:srgbClr val="B45309"/>
            </a:extrusionClr>
          </a:sp3d>
        </p:spPr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22960" y="566928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 i="0" spc="260">
                <a:solidFill>
                  <a:srgbClr val="66B2FF"/>
                </a:solidFill>
                <a:latin typeface="Consolas"/>
              </a:rPr>
              <a:t>KEY TECHNOLOGY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22960" y="932688"/>
            <a:ext cx="9601200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3000" b="1" i="0">
                <a:solidFill>
                  <a:srgbClr val="FAFAF9"/>
                </a:solidFill>
                <a:latin typeface="Segoe UI"/>
              </a:rPr>
              <a:t>DigitalOcean is the backbone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22960" y="1481328"/>
            <a:ext cx="8778240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1350" b="0" i="0">
                <a:solidFill>
                  <a:srgbClr val="A8A29E"/>
                </a:solidFill>
                <a:latin typeface="Segoe UI"/>
              </a:rPr>
              <a:t>One tap on “Say it” fans out across these services — and degrades gracefully at every rung. The flow never blocks.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22960" y="2212848"/>
            <a:ext cx="10543032" cy="3913632"/>
          </a:xfrm>
          <a:prstGeom prst="roundRect">
            <a:avLst>
              <a:gd name="adj" fmla="val 4500"/>
            </a:avLst>
          </a:prstGeom>
          <a:effectLst/>
          <a:solidFill>
            <a:srgbClr val="1C1917">
              <a:alpha val="45000"/>
            </a:srgbClr>
          </a:solidFill>
          <a:ln w="12700">
            <a:solidFill>
              <a:srgbClr val="292524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859536" y="2249424"/>
            <a:ext cx="10469880" cy="548640"/>
          </a:xfrm>
          <a:prstGeom prst="rect">
            <a:avLst/>
          </a:prstGeom>
          <a:effectLst/>
          <a:solidFill>
            <a:srgbClr val="1C1917">
              <a:alpha val="75000"/>
            </a:srgbClr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1042416" y="2464308"/>
            <a:ext cx="118872" cy="118872"/>
          </a:xfrm>
          <a:prstGeom prst="roundRect">
            <a:avLst>
              <a:gd name="adj" fmla="val 40000"/>
            </a:avLst>
          </a:prstGeom>
          <a:effectLst/>
          <a:solidFill>
            <a:srgbClr val="0080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325880" y="2249424"/>
            <a:ext cx="2788920" cy="5486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050" b="1" i="0" spc="60">
                <a:solidFill>
                  <a:srgbClr val="66B2FF"/>
                </a:solidFill>
                <a:latin typeface="Consolas"/>
              </a:rPr>
              <a:t>GRADIENT INFERENCE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206240" y="2249424"/>
            <a:ext cx="7040880" cy="5486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0" i="0">
                <a:solidFill>
                  <a:srgbClr val="D6D3D1"/>
                </a:solidFill>
                <a:latin typeface="Segoe UI"/>
              </a:rPr>
              <a:t>Llama 3.3 70B — serverless — rewrites every sentence in your own style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1042416" y="3012948"/>
            <a:ext cx="118872" cy="118872"/>
          </a:xfrm>
          <a:prstGeom prst="roundRect">
            <a:avLst>
              <a:gd name="adj" fmla="val 40000"/>
            </a:avLst>
          </a:prstGeom>
          <a:effectLst/>
          <a:solidFill>
            <a:srgbClr val="0080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325880" y="2798064"/>
            <a:ext cx="2788920" cy="5486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050" b="1" i="0" spc="60">
                <a:solidFill>
                  <a:srgbClr val="66B2FF"/>
                </a:solidFill>
                <a:latin typeface="Consolas"/>
              </a:rPr>
              <a:t>GRADIENT EMBEDDINGS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206240" y="2798064"/>
            <a:ext cx="7040880" cy="5486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0" i="0">
                <a:solidFill>
                  <a:srgbClr val="D6D3D1"/>
                </a:solidFill>
                <a:latin typeface="Segoe UI"/>
              </a:rPr>
              <a:t>GTE-Large embeds your corpus; the closest past texts become few-shot examples</a:t>
            </a:r>
          </a:p>
        </p:txBody>
      </p:sp>
      <p:sp>
        <p:nvSpPr>
          <p:cNvPr id="21" name="Rectangle 20"/>
          <p:cNvSpPr/>
          <p:nvPr/>
        </p:nvSpPr>
        <p:spPr>
          <a:xfrm>
            <a:off x="859536" y="3346704"/>
            <a:ext cx="10469880" cy="548640"/>
          </a:xfrm>
          <a:prstGeom prst="rect">
            <a:avLst/>
          </a:prstGeom>
          <a:effectLst/>
          <a:solidFill>
            <a:srgbClr val="1C1917">
              <a:alpha val="75000"/>
            </a:srgbClr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2" name="Rounded Rectangle 21"/>
          <p:cNvSpPr/>
          <p:nvPr/>
        </p:nvSpPr>
        <p:spPr>
          <a:xfrm>
            <a:off x="1042416" y="3561588"/>
            <a:ext cx="118872" cy="118872"/>
          </a:xfrm>
          <a:prstGeom prst="roundRect">
            <a:avLst>
              <a:gd name="adj" fmla="val 40000"/>
            </a:avLst>
          </a:prstGeom>
          <a:effectLst/>
          <a:solidFill>
            <a:srgbClr val="0080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1325880" y="3346704"/>
            <a:ext cx="2788920" cy="5486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050" b="1" i="0" spc="60">
                <a:solidFill>
                  <a:srgbClr val="66B2FF"/>
                </a:solidFill>
                <a:latin typeface="Consolas"/>
              </a:rPr>
              <a:t>MANAGED VALKEY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206240" y="3346704"/>
            <a:ext cx="7040880" cy="5486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0" i="0">
                <a:solidFill>
                  <a:srgbClr val="D6D3D1"/>
                </a:solidFill>
                <a:latin typeface="Segoe UI"/>
              </a:rPr>
              <a:t>Audio cached per (voice, sentence) — instant repeats, zero wasted TTS credits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1042416" y="4110228"/>
            <a:ext cx="118872" cy="118872"/>
          </a:xfrm>
          <a:prstGeom prst="roundRect">
            <a:avLst>
              <a:gd name="adj" fmla="val 40000"/>
            </a:avLst>
          </a:prstGeom>
          <a:effectLst/>
          <a:solidFill>
            <a:srgbClr val="0080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1325880" y="3895344"/>
            <a:ext cx="2788920" cy="5486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050" b="1" i="0" spc="60">
                <a:solidFill>
                  <a:srgbClr val="66B2FF"/>
                </a:solidFill>
                <a:latin typeface="Consolas"/>
              </a:rPr>
              <a:t>SPACES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206240" y="3895344"/>
            <a:ext cx="7040880" cy="5486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0" i="0">
                <a:solidFill>
                  <a:srgbClr val="D6D3D1"/>
                </a:solidFill>
                <a:latin typeface="Segoe UI"/>
              </a:rPr>
              <a:t>S3-compatible object storage — private per-user prefix, PII redacted before write</a:t>
            </a:r>
          </a:p>
        </p:txBody>
      </p:sp>
      <p:sp>
        <p:nvSpPr>
          <p:cNvPr id="28" name="Rectangle 27"/>
          <p:cNvSpPr/>
          <p:nvPr/>
        </p:nvSpPr>
        <p:spPr>
          <a:xfrm>
            <a:off x="859536" y="4443984"/>
            <a:ext cx="10469880" cy="548640"/>
          </a:xfrm>
          <a:prstGeom prst="rect">
            <a:avLst/>
          </a:prstGeom>
          <a:effectLst/>
          <a:solidFill>
            <a:srgbClr val="1C1917">
              <a:alpha val="75000"/>
            </a:srgbClr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9" name="Rounded Rectangle 28"/>
          <p:cNvSpPr/>
          <p:nvPr/>
        </p:nvSpPr>
        <p:spPr>
          <a:xfrm>
            <a:off x="1042416" y="4658868"/>
            <a:ext cx="118872" cy="118872"/>
          </a:xfrm>
          <a:prstGeom prst="roundRect">
            <a:avLst>
              <a:gd name="adj" fmla="val 40000"/>
            </a:avLst>
          </a:prstGeom>
          <a:effectLst/>
          <a:solidFill>
            <a:srgbClr val="0080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1325880" y="4443984"/>
            <a:ext cx="2788920" cy="5486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050" b="1" i="0" spc="60">
                <a:solidFill>
                  <a:srgbClr val="66B2FF"/>
                </a:solidFill>
                <a:latin typeface="Consolas"/>
              </a:rPr>
              <a:t>APP PLATFORM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206240" y="4443984"/>
            <a:ext cx="7040880" cy="5486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0" i="0">
                <a:solidFill>
                  <a:srgbClr val="D6D3D1"/>
                </a:solidFill>
                <a:latin typeface="Segoe UI"/>
              </a:rPr>
              <a:t>Auto-deployed from GitHub — the live demo is running on it right now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1042416" y="5207508"/>
            <a:ext cx="118872" cy="118872"/>
          </a:xfrm>
          <a:prstGeom prst="roundRect">
            <a:avLst>
              <a:gd name="adj" fmla="val 40000"/>
            </a:avLst>
          </a:prstGeom>
          <a:effectLst/>
          <a:solidFill>
            <a:srgbClr val="0080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1325880" y="4992624"/>
            <a:ext cx="2788920" cy="5486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050" b="1" i="0" spc="60">
                <a:solidFill>
                  <a:srgbClr val="66B2FF"/>
                </a:solidFill>
                <a:latin typeface="Consolas"/>
              </a:rPr>
              <a:t>GPU DROPLET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4206240" y="4992624"/>
            <a:ext cx="7040880" cy="5486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0" i="0">
                <a:solidFill>
                  <a:srgbClr val="D6D3D1"/>
                </a:solidFill>
                <a:latin typeface="Segoe UI"/>
              </a:rPr>
              <a:t>Self-hosted F5-TTS voice cloning — first-party voice biometrics at scale</a:t>
            </a:r>
          </a:p>
        </p:txBody>
      </p:sp>
      <p:sp>
        <p:nvSpPr>
          <p:cNvPr id="35" name="Rectangle 34"/>
          <p:cNvSpPr/>
          <p:nvPr/>
        </p:nvSpPr>
        <p:spPr>
          <a:xfrm>
            <a:off x="859536" y="5541264"/>
            <a:ext cx="10469880" cy="548640"/>
          </a:xfrm>
          <a:prstGeom prst="rect">
            <a:avLst/>
          </a:prstGeom>
          <a:effectLst/>
          <a:solidFill>
            <a:srgbClr val="1C1917">
              <a:alpha val="75000"/>
            </a:srgbClr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6" name="Rounded Rectangle 35"/>
          <p:cNvSpPr/>
          <p:nvPr/>
        </p:nvSpPr>
        <p:spPr>
          <a:xfrm>
            <a:off x="1042416" y="5756148"/>
            <a:ext cx="118872" cy="118872"/>
          </a:xfrm>
          <a:prstGeom prst="roundRect">
            <a:avLst>
              <a:gd name="adj" fmla="val 40000"/>
            </a:avLst>
          </a:prstGeom>
          <a:effectLst/>
          <a:solidFill>
            <a:srgbClr val="0080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1325880" y="5541264"/>
            <a:ext cx="2788920" cy="5486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050" b="1" i="0" spc="60">
                <a:solidFill>
                  <a:srgbClr val="66B2FF"/>
                </a:solidFill>
                <a:latin typeface="Consolas"/>
              </a:rPr>
              <a:t>QWEN3 TTS · GRADIENT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4206240" y="5541264"/>
            <a:ext cx="7040880" cy="5486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0" i="0">
                <a:solidFill>
                  <a:srgbClr val="D6D3D1"/>
                </a:solidFill>
                <a:latin typeface="Segoe UI"/>
              </a:rPr>
              <a:t>Neutral-voice fallback when a user has no clone yet — nobody is left silent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640080" y="6455664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900" b="0" i="0" spc="200">
                <a:solidFill>
                  <a:srgbClr val="57534E"/>
                </a:solidFill>
                <a:latin typeface="Consolas"/>
              </a:rPr>
              <a:t>RECLAIM</a:t>
            </a:r>
            <a:r>
              <a:rPr sz="900" b="0" i="0" spc="200">
                <a:solidFill>
                  <a:srgbClr val="57534E"/>
                </a:solidFill>
                <a:latin typeface="Consolas"/>
              </a:rPr>
              <a:t>  ·  AI FOR SOCIAL GOOD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6062472" y="6455664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Aft>
                <a:spcPts val="0"/>
              </a:spcAft>
            </a:pPr>
            <a:r>
              <a:rPr sz="900" b="0" i="0" spc="200">
                <a:solidFill>
                  <a:srgbClr val="57534E"/>
                </a:solidFill>
                <a:latin typeface="Consolas"/>
              </a:rPr>
              <a:t>BUILT ON DIGITALOCEAN  ·  07 / 11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 xmlns:p159="http://schemas.microsoft.com/office/powerpoint/2015/09/main">
    <mc:Choice Requires="p159">
      <p:transition spd="slow" p14:dur="1100">
        <p159:morph option="byObject"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285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7" dur="55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288" dur="55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89" presetID="42" presetClass="entr" presetSubtype="0" fill="hold" grpId="0" nodeType="withEffect">
                                  <p:stCondLst>
                                    <p:cond delay="120"/>
                                  </p:stCondLst>
                                  <p:childTnLst>
                                    <p:set>
                                      <p:cBhvr>
                                        <p:cTn id="2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1" dur="55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292" dur="55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3" presetID="42" presetClass="entr" presetSubtype="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29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5" dur="55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296" dur="55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7" presetID="10" presetClass="entr" presetSubtype="0" fill="hold" grpId="0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29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9" dur="5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1" presetID="10" presetClass="entr" presetSubtype="0" fill="hold" grpId="0" nodeType="withEffect">
                                  <p:stCondLst>
                                    <p:cond delay="310"/>
                                  </p:stCondLst>
                                  <p:childTnLst>
                                    <p:set>
                                      <p:cBhvr>
                                        <p:cTn id="30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3" dur="5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5" presetID="10" presetClass="entr" presetSubtype="0" fill="hold" grpId="0" nodeType="withEffect">
                                  <p:stCondLst>
                                    <p:cond delay="380"/>
                                  </p:stCondLst>
                                  <p:childTnLst>
                                    <p:set>
                                      <p:cBhvr>
                                        <p:cTn id="30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7" dur="5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9" presetID="10" presetClass="entr" presetSubtype="0" fill="hold" grpId="0" nodeType="withEffect">
                                  <p:stCondLst>
                                    <p:cond delay="440"/>
                                  </p:stCondLst>
                                  <p:childTnLst>
                                    <p:set>
                                      <p:cBhvr>
                                        <p:cTn id="3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1" dur="5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3" presetID="10" presetClass="entr" presetSubtype="0" fill="hold" grpId="0" nodeType="withEffect">
                                  <p:stCondLst>
                                    <p:cond delay="510"/>
                                  </p:stCondLst>
                                  <p:childTnLst>
                                    <p:set>
                                      <p:cBhvr>
                                        <p:cTn id="3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5" dur="5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7" presetID="10" presetClass="entr" presetSubtype="0" fill="hold" grpId="0" nodeType="withEffect">
                                  <p:stCondLst>
                                    <p:cond delay="570"/>
                                  </p:stCondLst>
                                  <p:childTnLst>
                                    <p:set>
                                      <p:cBhvr>
                                        <p:cTn id="3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9" dur="5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1" presetID="10" presetClass="entr" presetSubtype="0" fill="hold" grpId="0" nodeType="withEffect">
                                  <p:stCondLst>
                                    <p:cond delay="640"/>
                                  </p:stCondLst>
                                  <p:childTnLst>
                                    <p:set>
                                      <p:cBhvr>
                                        <p:cTn id="3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3" dur="5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5" presetID="10" presetClass="entr" presetSubtype="0" fill="hold" grpId="0" nodeType="withEffect">
                                  <p:stCondLst>
                                    <p:cond delay="700"/>
                                  </p:stCondLst>
                                  <p:childTnLst>
                                    <p:set>
                                      <p:cBhvr>
                                        <p:cTn id="3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7" dur="5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9" presetID="10" presetClass="entr" presetSubtype="0" fill="hold" grpId="0" nodeType="withEffect">
                                  <p:stCondLst>
                                    <p:cond delay="770"/>
                                  </p:stCondLst>
                                  <p:childTnLst>
                                    <p:set>
                                      <p:cBhvr>
                                        <p:cTn id="3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1" dur="55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3" presetID="10" presetClass="entr" presetSubtype="0" fill="hold" grpId="0" nodeType="withEffect">
                                  <p:stCondLst>
                                    <p:cond delay="830"/>
                                  </p:stCondLst>
                                  <p:childTnLst>
                                    <p:set>
                                      <p:cBhvr>
                                        <p:cTn id="3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5" dur="55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7" presetID="10" presetClass="entr" presetSubtype="0" fill="hold" grpId="0" nodeType="withEffect">
                                  <p:stCondLst>
                                    <p:cond delay="900"/>
                                  </p:stCondLst>
                                  <p:childTnLst>
                                    <p:set>
                                      <p:cBhvr>
                                        <p:cTn id="3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9" dur="55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41" presetID="10" presetClass="entr" presetSubtype="0" fill="hold" grpId="0" nodeType="withEffect">
                                  <p:stCondLst>
                                    <p:cond delay="960"/>
                                  </p:stCondLst>
                                  <p:childTnLst>
                                    <p:set>
                                      <p:cBhvr>
                                        <p:cTn id="3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3" dur="55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45" presetID="10" presetClass="entr" presetSubtype="0" fill="hold" grpId="0" nodeType="withEffect">
                                  <p:stCondLst>
                                    <p:cond delay="1030"/>
                                  </p:stCondLst>
                                  <p:childTnLst>
                                    <p:set>
                                      <p:cBhvr>
                                        <p:cTn id="3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7" dur="55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49" presetID="10" presetClass="entr" presetSubtype="0" fill="hold" grpId="0" nodeType="withEffect">
                                  <p:stCondLst>
                                    <p:cond delay="1090"/>
                                  </p:stCondLst>
                                  <p:childTnLst>
                                    <p:set>
                                      <p:cBhvr>
                                        <p:cTn id="3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1" dur="55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!!bg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effectLst/>
          <a:solidFill>
            <a:srgbClr val="0C0A09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" name="!!glow"/>
          <p:cNvSpPr/>
          <p:nvPr/>
        </p:nvSpPr>
        <p:spPr>
          <a:xfrm>
            <a:off x="3017520" y="-2377440"/>
            <a:ext cx="6217920" cy="6217920"/>
          </a:xfrm>
          <a:prstGeom prst="ellipse">
            <a:avLst/>
          </a:prstGeom>
          <a:effectLst/>
          <a:gradFill>
            <a:gsLst>
              <a:gs pos="0">
                <a:srgbClr val="F59E0B">
                  <a:alpha val="9000"/>
                </a:srgbClr>
              </a:gs>
              <a:gs pos="100000">
                <a:srgbClr val="0C0A09">
                  <a:alpha val="0"/>
                </a:srgbClr>
              </a:gs>
            </a:gsLst>
            <a:path path="circle">
              <a:fillToRect l="50000" t="50000" r="50000" b="50000"/>
            </a:path>
          </a:gra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235440" y="4480560"/>
            <a:ext cx="3108960" cy="2377440"/>
          </a:xfrm>
          <a:prstGeom prst="rect">
            <a:avLst/>
          </a:prstGeom>
          <a:noFill/>
        </p:spPr>
        <p:txBody>
          <a:bodyPr wrap="none" anchor="b" lIns="0" rIns="0" tIns="0" bIns="0">
            <a:spAutoFit/>
          </a:bodyPr>
          <a:lstStyle/>
          <a:p>
            <a:pPr algn="r">
              <a:spcAft>
                <a:spcPts val="0"/>
              </a:spcAft>
            </a:pPr>
            <a:r>
              <a:rPr sz="17000" b="1" i="0">
                <a:solidFill>
                  <a:srgbClr val="171310"/>
                </a:solidFill>
                <a:latin typeface="Segoe UI"/>
              </a:rPr>
              <a:t>07</a:t>
            </a:r>
          </a:p>
        </p:txBody>
      </p:sp>
      <p:sp>
        <p:nvSpPr>
          <p:cNvPr id="5" name="!!bar0"/>
          <p:cNvSpPr/>
          <p:nvPr/>
        </p:nvSpPr>
        <p:spPr>
          <a:xfrm>
            <a:off x="11128248" y="694944"/>
            <a:ext cx="91440" cy="201168"/>
          </a:xfrm>
          <a:prstGeom prst="roundRect">
            <a:avLst>
              <a:gd name="adj" fmla="val 50000"/>
            </a:avLst>
          </a:prstGeom>
          <a:effectLst/>
          <a:gradFill rotWithShape="1">
            <a:gsLst>
              <a:gs pos="0">
                <a:srgbClr val="FBBF24">
                  <a:alpha val="60000"/>
                </a:srgbClr>
              </a:gs>
              <a:gs pos="100000">
                <a:srgbClr val="D97706">
                  <a:alpha val="60000"/>
                </a:srgbClr>
              </a:gs>
            </a:gsLst>
            <a:lin ang="5400000" scaled="1"/>
          </a:gradFill>
          <a:ln>
            <a:noFill/>
          </a:ln>
          <a:scene3d>
            <a:camera prst="perspectiveRelaxedModerately" fov="2700000">
              <a:rot lat="0" lon="17100000" rev="0"/>
            </a:camera>
            <a:lightRig rig="threePt" dir="t">
              <a:rot lat="0" lon="0" rev="1200000"/>
            </a:lightRig>
          </a:scene3d>
          <a:sp3d extrusionH="45720" prstMaterial="matte">
            <a:bevelT w="12700" h="12700"/>
            <a:extrusionClr>
              <a:srgbClr val="B45309"/>
            </a:extrusionClr>
          </a:sp3d>
        </p:spPr>
        <p:txBody>
          <a:bodyPr rtlCol="0" anchor="ctr"/>
          <a:lstStyle/>
          <a:p>
            <a:pPr algn="ctr"/>
          </a:p>
        </p:txBody>
      </p:sp>
      <p:sp>
        <p:nvSpPr>
          <p:cNvPr id="6" name="!!bar1"/>
          <p:cNvSpPr/>
          <p:nvPr/>
        </p:nvSpPr>
        <p:spPr>
          <a:xfrm>
            <a:off x="11279124" y="548640"/>
            <a:ext cx="91440" cy="347472"/>
          </a:xfrm>
          <a:prstGeom prst="roundRect">
            <a:avLst>
              <a:gd name="adj" fmla="val 50000"/>
            </a:avLst>
          </a:prstGeom>
          <a:effectLst/>
          <a:gradFill rotWithShape="1">
            <a:gsLst>
              <a:gs pos="0">
                <a:srgbClr val="FBBF24">
                  <a:alpha val="60000"/>
                </a:srgbClr>
              </a:gs>
              <a:gs pos="100000">
                <a:srgbClr val="F59E0B">
                  <a:alpha val="60000"/>
                </a:srgbClr>
              </a:gs>
            </a:gsLst>
            <a:lin ang="5400000" scaled="1"/>
          </a:gradFill>
          <a:ln>
            <a:noFill/>
          </a:ln>
          <a:scene3d>
            <a:camera prst="perspectiveRelaxedModerately" fov="2700000">
              <a:rot lat="0" lon="17100000" rev="0"/>
            </a:camera>
            <a:lightRig rig="threePt" dir="t">
              <a:rot lat="0" lon="0" rev="1200000"/>
            </a:lightRig>
          </a:scene3d>
          <a:sp3d extrusionH="45720" prstMaterial="matte">
            <a:bevelT w="12700" h="12700"/>
            <a:extrusionClr>
              <a:srgbClr val="B45309"/>
            </a:extrusionClr>
          </a:sp3d>
        </p:spPr>
        <p:txBody>
          <a:bodyPr rtlCol="0" anchor="ctr"/>
          <a:lstStyle/>
          <a:p>
            <a:pPr algn="ctr"/>
          </a:p>
        </p:txBody>
      </p:sp>
      <p:sp>
        <p:nvSpPr>
          <p:cNvPr id="7" name="!!bar2"/>
          <p:cNvSpPr/>
          <p:nvPr/>
        </p:nvSpPr>
        <p:spPr>
          <a:xfrm>
            <a:off x="11430000" y="438912"/>
            <a:ext cx="91440" cy="457200"/>
          </a:xfrm>
          <a:prstGeom prst="roundRect">
            <a:avLst>
              <a:gd name="adj" fmla="val 50000"/>
            </a:avLst>
          </a:prstGeom>
          <a:effectLst/>
          <a:gradFill rotWithShape="1">
            <a:gsLst>
              <a:gs pos="0">
                <a:srgbClr val="FBBF24">
                  <a:alpha val="60000"/>
                </a:srgbClr>
              </a:gs>
              <a:gs pos="100000">
                <a:srgbClr val="FBBF24">
                  <a:alpha val="60000"/>
                </a:srgbClr>
              </a:gs>
            </a:gsLst>
            <a:lin ang="5400000" scaled="1"/>
          </a:gradFill>
          <a:ln>
            <a:noFill/>
          </a:ln>
          <a:scene3d>
            <a:camera prst="perspectiveRelaxedModerately" fov="2700000">
              <a:rot lat="0" lon="17100000" rev="0"/>
            </a:camera>
            <a:lightRig rig="threePt" dir="t">
              <a:rot lat="0" lon="0" rev="1200000"/>
            </a:lightRig>
          </a:scene3d>
          <a:sp3d extrusionH="45720" prstMaterial="matte">
            <a:bevelT w="12700" h="12700"/>
            <a:extrusionClr>
              <a:srgbClr val="B45309"/>
            </a:extrusionClr>
          </a:sp3d>
        </p:spPr>
        <p:txBody>
          <a:bodyPr rtlCol="0" anchor="ctr"/>
          <a:lstStyle/>
          <a:p>
            <a:pPr algn="ctr"/>
          </a:p>
        </p:txBody>
      </p:sp>
      <p:sp>
        <p:nvSpPr>
          <p:cNvPr id="8" name="!!bar3"/>
          <p:cNvSpPr/>
          <p:nvPr/>
        </p:nvSpPr>
        <p:spPr>
          <a:xfrm>
            <a:off x="11580876" y="603504"/>
            <a:ext cx="91440" cy="292608"/>
          </a:xfrm>
          <a:prstGeom prst="roundRect">
            <a:avLst>
              <a:gd name="adj" fmla="val 50000"/>
            </a:avLst>
          </a:prstGeom>
          <a:effectLst/>
          <a:gradFill rotWithShape="1">
            <a:gsLst>
              <a:gs pos="0">
                <a:srgbClr val="FBBF24">
                  <a:alpha val="60000"/>
                </a:srgbClr>
              </a:gs>
              <a:gs pos="100000">
                <a:srgbClr val="F59E0B">
                  <a:alpha val="60000"/>
                </a:srgbClr>
              </a:gs>
            </a:gsLst>
            <a:lin ang="5400000" scaled="1"/>
          </a:gradFill>
          <a:ln>
            <a:noFill/>
          </a:ln>
          <a:scene3d>
            <a:camera prst="perspectiveRelaxedModerately" fov="2700000">
              <a:rot lat="0" lon="17100000" rev="0"/>
            </a:camera>
            <a:lightRig rig="threePt" dir="t">
              <a:rot lat="0" lon="0" rev="1200000"/>
            </a:lightRig>
          </a:scene3d>
          <a:sp3d extrusionH="45720" prstMaterial="matte">
            <a:bevelT w="12700" h="12700"/>
            <a:extrusionClr>
              <a:srgbClr val="B45309"/>
            </a:extrusionClr>
          </a:sp3d>
        </p:spPr>
        <p:txBody>
          <a:bodyPr rtlCol="0" anchor="ctr"/>
          <a:lstStyle/>
          <a:p>
            <a:pPr algn="ctr"/>
          </a:p>
        </p:txBody>
      </p:sp>
      <p:sp>
        <p:nvSpPr>
          <p:cNvPr id="9" name="!!bar4"/>
          <p:cNvSpPr/>
          <p:nvPr/>
        </p:nvSpPr>
        <p:spPr>
          <a:xfrm>
            <a:off x="11731752" y="713232"/>
            <a:ext cx="91440" cy="182880"/>
          </a:xfrm>
          <a:prstGeom prst="roundRect">
            <a:avLst>
              <a:gd name="adj" fmla="val 50000"/>
            </a:avLst>
          </a:prstGeom>
          <a:effectLst/>
          <a:gradFill rotWithShape="1">
            <a:gsLst>
              <a:gs pos="0">
                <a:srgbClr val="FBBF24">
                  <a:alpha val="60000"/>
                </a:srgbClr>
              </a:gs>
              <a:gs pos="100000">
                <a:srgbClr val="D97706">
                  <a:alpha val="60000"/>
                </a:srgbClr>
              </a:gs>
            </a:gsLst>
            <a:lin ang="5400000" scaled="1"/>
          </a:gradFill>
          <a:ln>
            <a:noFill/>
          </a:ln>
          <a:scene3d>
            <a:camera prst="perspectiveRelaxedModerately" fov="2700000">
              <a:rot lat="0" lon="17100000" rev="0"/>
            </a:camera>
            <a:lightRig rig="threePt" dir="t">
              <a:rot lat="0" lon="0" rev="1200000"/>
            </a:lightRig>
          </a:scene3d>
          <a:sp3d extrusionH="45720" prstMaterial="matte">
            <a:bevelT w="12700" h="12700"/>
            <a:extrusionClr>
              <a:srgbClr val="B45309"/>
            </a:extrusionClr>
          </a:sp3d>
        </p:spPr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48640" y="384048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 i="0" spc="260">
                <a:solidFill>
                  <a:srgbClr val="F59E0B"/>
                </a:solidFill>
                <a:latin typeface="Consolas"/>
              </a:rPr>
              <a:t>ARCHITECTURE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48640" y="731520"/>
            <a:ext cx="68580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2000" b="1" i="0">
                <a:solidFill>
                  <a:srgbClr val="FAFAF9"/>
                </a:solidFill>
                <a:latin typeface="Segoe UI"/>
              </a:rPr>
              <a:t>Sign-to-speech serverless backend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77824" y="2020824"/>
            <a:ext cx="713232" cy="713232"/>
          </a:xfrm>
          <a:prstGeom prst="roundRect">
            <a:avLst>
              <a:gd name="adj" fmla="val 18000"/>
            </a:avLst>
          </a:prstGeom>
          <a:effectLst/>
          <a:gradFill rotWithShape="1">
            <a:gsLst>
              <a:gs pos="0">
                <a:srgbClr val="E11D48"/>
              </a:gs>
              <a:gs pos="100000">
                <a:srgbClr val="E11D48"/>
              </a:gs>
            </a:gsLst>
            <a:lin ang="5400000" scaled="1"/>
          </a:gradFill>
          <a:ln w="12700">
            <a:solidFill>
              <a:srgbClr val="FFFFFF">
                <a:alpha val="14000"/>
              </a:srgbClr>
            </a:solidFill>
          </a:ln>
          <a:effectLst>
            <a:outerShdw blurRad="128016" dist="41148" dir="5400000" rotWithShape="0">
              <a:srgbClr val="000000">
                <a:alpha val="45000"/>
              </a:srgbClr>
            </a:outerShdw>
          </a:effectLst>
        </p:spPr>
        <p:txBody>
          <a:bodyPr rtlCol="0" anchor="ctr"/>
          <a:lstStyle/>
          <a:p>
            <a:pPr algn="ctr"/>
          </a:p>
        </p:txBody>
      </p:sp>
      <p:sp>
        <p:nvSpPr>
          <p:cNvPr id="13" name="Donut 12"/>
          <p:cNvSpPr/>
          <p:nvPr/>
        </p:nvSpPr>
        <p:spPr>
          <a:xfrm>
            <a:off x="1152144" y="2221992"/>
            <a:ext cx="164592" cy="164592"/>
          </a:xfrm>
          <a:prstGeom prst="donut">
            <a:avLst/>
          </a:prstGeom>
          <a:effectLst/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1115568" y="2340864"/>
            <a:ext cx="237744" cy="182880"/>
          </a:xfrm>
          <a:prstGeom prst="roundRect">
            <a:avLst>
              <a:gd name="adj" fmla="val 20000"/>
            </a:avLst>
          </a:prstGeom>
          <a:effectLst/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274320" y="2779776"/>
            <a:ext cx="1920240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5000"/>
              </a:lnSpc>
              <a:spcAft>
                <a:spcPts val="0"/>
              </a:spcAft>
            </a:pPr>
            <a:r>
              <a:rPr sz="1050" b="0" i="0">
                <a:solidFill>
                  <a:srgbClr val="D6D3D1"/>
                </a:solidFill>
                <a:latin typeface="Segoe UI"/>
              </a:rPr>
              <a:t>AWS Amplify
Auth</a:t>
            </a:r>
          </a:p>
        </p:txBody>
      </p:sp>
      <p:sp>
        <p:nvSpPr>
          <p:cNvPr id="16" name="Rectangle 15"/>
          <p:cNvSpPr/>
          <p:nvPr/>
        </p:nvSpPr>
        <p:spPr>
          <a:xfrm>
            <a:off x="2034540" y="3154680"/>
            <a:ext cx="960120" cy="1280160"/>
          </a:xfrm>
          <a:prstGeom prst="rect">
            <a:avLst/>
          </a:prstGeom>
          <a:effectLst/>
          <a:solidFill>
            <a:srgbClr val="0C0A09">
              <a:alpha val="40000"/>
            </a:srgbClr>
          </a:solidFill>
          <a:ln w="22225">
            <a:solidFill>
              <a:srgbClr val="D6D3D1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2313432" y="3401568"/>
            <a:ext cx="402336" cy="310896"/>
          </a:xfrm>
          <a:prstGeom prst="roundRect">
            <a:avLst>
              <a:gd name="adj" fmla="val 12000"/>
            </a:avLst>
          </a:prstGeom>
          <a:effectLst/>
          <a:noFill/>
          <a:ln w="25400">
            <a:solidFill>
              <a:srgbClr val="E7E5E4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2468880" y="3712464"/>
            <a:ext cx="91440" cy="82296"/>
          </a:xfrm>
          <a:prstGeom prst="rect">
            <a:avLst/>
          </a:prstGeom>
          <a:effectLst/>
          <a:solidFill>
            <a:srgbClr val="E7E5E4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2034540" y="3950208"/>
            <a:ext cx="9601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Aft>
                <a:spcPts val="0"/>
              </a:spcAft>
            </a:pPr>
            <a:r>
              <a:rPr sz="1150" b="0" i="0">
                <a:solidFill>
                  <a:srgbClr val="E7E5E4"/>
                </a:solidFill>
                <a:latin typeface="Segoe UI"/>
              </a:rPr>
              <a:t>Client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668780" y="4480560"/>
            <a:ext cx="16916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Aft>
                <a:spcPts val="0"/>
              </a:spcAft>
            </a:pPr>
            <a:r>
              <a:rPr sz="950" b="0" i="0">
                <a:solidFill>
                  <a:srgbClr val="78716C"/>
                </a:solidFill>
                <a:latin typeface="Segoe UI"/>
              </a:rPr>
              <a:t>Web · Expo mobile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3941064" y="3438144"/>
            <a:ext cx="713232" cy="713232"/>
          </a:xfrm>
          <a:prstGeom prst="roundRect">
            <a:avLst>
              <a:gd name="adj" fmla="val 18000"/>
            </a:avLst>
          </a:prstGeom>
          <a:effectLst/>
          <a:gradFill rotWithShape="1">
            <a:gsLst>
              <a:gs pos="0">
                <a:srgbClr val="0080FF"/>
              </a:gs>
              <a:gs pos="100000">
                <a:srgbClr val="0080FF"/>
              </a:gs>
            </a:gsLst>
            <a:lin ang="5400000" scaled="1"/>
          </a:gradFill>
          <a:ln w="12700">
            <a:solidFill>
              <a:srgbClr val="FFFFFF">
                <a:alpha val="14000"/>
              </a:srgbClr>
            </a:solidFill>
          </a:ln>
          <a:effectLst>
            <a:outerShdw blurRad="128016" dist="41148" dir="5400000" rotWithShape="0">
              <a:srgbClr val="000000">
                <a:alpha val="45000"/>
              </a:srgbClr>
            </a:outerShdw>
          </a:effectLst>
        </p:spPr>
        <p:txBody>
          <a:bodyPr rtlCol="0" anchor="ctr"/>
          <a:lstStyle/>
          <a:p>
            <a:pPr algn="ctr"/>
          </a:p>
        </p:txBody>
      </p:sp>
      <p:sp>
        <p:nvSpPr>
          <p:cNvPr id="22" name="Cloud 21"/>
          <p:cNvSpPr/>
          <p:nvPr/>
        </p:nvSpPr>
        <p:spPr>
          <a:xfrm>
            <a:off x="4114800" y="3675888"/>
            <a:ext cx="365760" cy="237744"/>
          </a:xfrm>
          <a:prstGeom prst="cloud">
            <a:avLst/>
          </a:prstGeom>
          <a:effectLst/>
          <a:noFill/>
          <a:ln w="254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3337560" y="4197096"/>
            <a:ext cx="1920240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5000"/>
              </a:lnSpc>
              <a:spcAft>
                <a:spcPts val="0"/>
              </a:spcAft>
            </a:pPr>
            <a:r>
              <a:rPr sz="1050" b="0" i="0">
                <a:solidFill>
                  <a:srgbClr val="D6D3D1"/>
                </a:solidFill>
                <a:latin typeface="Segoe UI"/>
              </a:rPr>
              <a:t>Next.js API
DO App Platform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3941064" y="1197864"/>
            <a:ext cx="713232" cy="713232"/>
          </a:xfrm>
          <a:prstGeom prst="roundRect">
            <a:avLst>
              <a:gd name="adj" fmla="val 18000"/>
            </a:avLst>
          </a:prstGeom>
          <a:effectLst/>
          <a:gradFill rotWithShape="1">
            <a:gsLst>
              <a:gs pos="0">
                <a:srgbClr val="8B5CF6"/>
              </a:gs>
              <a:gs pos="100000">
                <a:srgbClr val="8B5CF6"/>
              </a:gs>
            </a:gsLst>
            <a:lin ang="5400000" scaled="1"/>
          </a:gradFill>
          <a:ln w="12700">
            <a:solidFill>
              <a:srgbClr val="FFFFFF">
                <a:alpha val="14000"/>
              </a:srgbClr>
            </a:solidFill>
          </a:ln>
          <a:effectLst>
            <a:outerShdw blurRad="128016" dist="41148" dir="5400000" rotWithShape="0">
              <a:srgbClr val="000000">
                <a:alpha val="45000"/>
              </a:srgbClr>
            </a:outerShdw>
          </a:effectLst>
        </p:spPr>
        <p:txBody>
          <a:bodyPr rtlCol="0" anchor="ctr"/>
          <a:lstStyle/>
          <a:p>
            <a:pPr algn="ctr"/>
          </a:p>
        </p:txBody>
      </p:sp>
      <p:sp>
        <p:nvSpPr>
          <p:cNvPr id="25" name="Rounded Rectangle 24"/>
          <p:cNvSpPr/>
          <p:nvPr/>
        </p:nvSpPr>
        <p:spPr>
          <a:xfrm>
            <a:off x="4114800" y="1435608"/>
            <a:ext cx="256032" cy="237744"/>
          </a:xfrm>
          <a:prstGeom prst="roundRect">
            <a:avLst>
              <a:gd name="adj" fmla="val 25000"/>
            </a:avLst>
          </a:prstGeom>
          <a:effectLst/>
          <a:noFill/>
          <a:ln w="254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6" name="Isosceles Triangle 25"/>
          <p:cNvSpPr/>
          <p:nvPr/>
        </p:nvSpPr>
        <p:spPr>
          <a:xfrm rot="16200000">
            <a:off x="4389120" y="1463040"/>
            <a:ext cx="128016" cy="182880"/>
          </a:xfrm>
          <a:prstGeom prst="triangle">
            <a:avLst/>
          </a:prstGeom>
          <a:effectLst/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3337560" y="1956816"/>
            <a:ext cx="1920240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5000"/>
              </a:lnSpc>
              <a:spcAft>
                <a:spcPts val="0"/>
              </a:spcAft>
            </a:pPr>
            <a:r>
              <a:rPr sz="1050" b="0" i="0">
                <a:solidFill>
                  <a:srgbClr val="D6D3D1"/>
                </a:solidFill>
                <a:latin typeface="Segoe UI"/>
              </a:rPr>
              <a:t>Gemini
sign recognition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6044184" y="1197864"/>
            <a:ext cx="713232" cy="713232"/>
          </a:xfrm>
          <a:prstGeom prst="roundRect">
            <a:avLst>
              <a:gd name="adj" fmla="val 18000"/>
            </a:avLst>
          </a:prstGeom>
          <a:effectLst/>
          <a:gradFill rotWithShape="1">
            <a:gsLst>
              <a:gs pos="0">
                <a:srgbClr val="0080FF"/>
              </a:gs>
              <a:gs pos="100000">
                <a:srgbClr val="0080FF"/>
              </a:gs>
            </a:gsLst>
            <a:lin ang="5400000" scaled="1"/>
          </a:gradFill>
          <a:ln w="12700">
            <a:solidFill>
              <a:srgbClr val="FFFFFF">
                <a:alpha val="14000"/>
              </a:srgbClr>
            </a:solidFill>
          </a:ln>
          <a:effectLst>
            <a:outerShdw blurRad="128016" dist="41148" dir="5400000" rotWithShape="0">
              <a:srgbClr val="000000">
                <a:alpha val="45000"/>
              </a:srgbClr>
            </a:outerShdw>
          </a:effectLst>
        </p:spPr>
        <p:txBody>
          <a:bodyPr rtlCol="0" anchor="ctr"/>
          <a:lstStyle/>
          <a:p>
            <a:pPr algn="ctr"/>
          </a:p>
        </p:txBody>
      </p:sp>
      <p:sp>
        <p:nvSpPr>
          <p:cNvPr id="29" name="Oval 28"/>
          <p:cNvSpPr/>
          <p:nvPr/>
        </p:nvSpPr>
        <p:spPr>
          <a:xfrm>
            <a:off x="6236208" y="1408176"/>
            <a:ext cx="91440" cy="91440"/>
          </a:xfrm>
          <a:prstGeom prst="ellipse">
            <a:avLst/>
          </a:prstGeom>
          <a:effectLst/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0" name="Oval 29"/>
          <p:cNvSpPr/>
          <p:nvPr/>
        </p:nvSpPr>
        <p:spPr>
          <a:xfrm>
            <a:off x="6451092" y="1431036"/>
            <a:ext cx="118872" cy="118872"/>
          </a:xfrm>
          <a:prstGeom prst="ellipse">
            <a:avLst/>
          </a:prstGeom>
          <a:effectLst/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1" name="Oval 30"/>
          <p:cNvSpPr/>
          <p:nvPr/>
        </p:nvSpPr>
        <p:spPr>
          <a:xfrm>
            <a:off x="6327648" y="1600200"/>
            <a:ext cx="91440" cy="91440"/>
          </a:xfrm>
          <a:prstGeom prst="ellipse">
            <a:avLst/>
          </a:prstGeom>
          <a:effectLst/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2" name="Oval 31"/>
          <p:cNvSpPr/>
          <p:nvPr/>
        </p:nvSpPr>
        <p:spPr>
          <a:xfrm>
            <a:off x="6455664" y="1636776"/>
            <a:ext cx="73152" cy="73152"/>
          </a:xfrm>
          <a:prstGeom prst="ellipse">
            <a:avLst/>
          </a:prstGeom>
          <a:effectLst/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5440680" y="1956816"/>
            <a:ext cx="1920240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5000"/>
              </a:lnSpc>
              <a:spcAft>
                <a:spcPts val="0"/>
              </a:spcAft>
            </a:pPr>
            <a:r>
              <a:rPr sz="1050" b="0" i="0">
                <a:solidFill>
                  <a:srgbClr val="D6D3D1"/>
                </a:solidFill>
                <a:latin typeface="Segoe UI"/>
              </a:rPr>
              <a:t>Gradient Embeddings
GTE-Large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8238744" y="1197864"/>
            <a:ext cx="713232" cy="713232"/>
          </a:xfrm>
          <a:prstGeom prst="roundRect">
            <a:avLst>
              <a:gd name="adj" fmla="val 18000"/>
            </a:avLst>
          </a:prstGeom>
          <a:effectLst/>
          <a:gradFill rotWithShape="1">
            <a:gsLst>
              <a:gs pos="0">
                <a:srgbClr val="0080FF"/>
              </a:gs>
              <a:gs pos="100000">
                <a:srgbClr val="0080FF"/>
              </a:gs>
            </a:gsLst>
            <a:lin ang="5400000" scaled="1"/>
          </a:gradFill>
          <a:ln w="12700">
            <a:solidFill>
              <a:srgbClr val="FFFFFF">
                <a:alpha val="14000"/>
              </a:srgbClr>
            </a:solidFill>
          </a:ln>
          <a:effectLst>
            <a:outerShdw blurRad="128016" dist="41148" dir="5400000" rotWithShape="0">
              <a:srgbClr val="000000">
                <a:alpha val="45000"/>
              </a:srgbClr>
            </a:outerShdw>
          </a:effectLst>
        </p:spPr>
        <p:txBody>
          <a:bodyPr rtlCol="0" anchor="ctr"/>
          <a:lstStyle/>
          <a:p>
            <a:pPr algn="ctr"/>
          </a:p>
        </p:txBody>
      </p:sp>
      <p:sp>
        <p:nvSpPr>
          <p:cNvPr id="35" name="Can 34"/>
          <p:cNvSpPr/>
          <p:nvPr/>
        </p:nvSpPr>
        <p:spPr>
          <a:xfrm>
            <a:off x="8467344" y="1408176"/>
            <a:ext cx="256032" cy="292608"/>
          </a:xfrm>
          <a:prstGeom prst="can">
            <a:avLst/>
          </a:prstGeom>
          <a:effectLst/>
          <a:noFill/>
          <a:ln w="254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7635240" y="1956816"/>
            <a:ext cx="1920240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5000"/>
              </a:lnSpc>
              <a:spcAft>
                <a:spcPts val="0"/>
              </a:spcAft>
            </a:pPr>
            <a:r>
              <a:rPr sz="1050" b="0" i="0">
                <a:solidFill>
                  <a:srgbClr val="D6D3D1"/>
                </a:solidFill>
                <a:latin typeface="Segoe UI"/>
              </a:rPr>
              <a:t>DO Spaces
corpus · PII-redacted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6044184" y="3438144"/>
            <a:ext cx="713232" cy="713232"/>
          </a:xfrm>
          <a:prstGeom prst="roundRect">
            <a:avLst>
              <a:gd name="adj" fmla="val 18000"/>
            </a:avLst>
          </a:prstGeom>
          <a:effectLst/>
          <a:gradFill rotWithShape="1">
            <a:gsLst>
              <a:gs pos="0">
                <a:srgbClr val="0080FF"/>
              </a:gs>
              <a:gs pos="100000">
                <a:srgbClr val="0080FF"/>
              </a:gs>
            </a:gsLst>
            <a:lin ang="5400000" scaled="1"/>
          </a:gradFill>
          <a:ln w="12700">
            <a:solidFill>
              <a:srgbClr val="FFFFFF">
                <a:alpha val="14000"/>
              </a:srgbClr>
            </a:solidFill>
          </a:ln>
          <a:effectLst>
            <a:outerShdw blurRad="128016" dist="41148" dir="5400000" rotWithShape="0">
              <a:srgbClr val="000000">
                <a:alpha val="45000"/>
              </a:srgbClr>
            </a:outerShdw>
          </a:effectLst>
        </p:spPr>
        <p:txBody>
          <a:bodyPr rtlCol="0" anchor="ctr"/>
          <a:lstStyle/>
          <a:p>
            <a:pPr algn="ctr"/>
          </a:p>
        </p:txBody>
      </p:sp>
      <p:sp>
        <p:nvSpPr>
          <p:cNvPr id="38" name="4-Point Star 37"/>
          <p:cNvSpPr/>
          <p:nvPr/>
        </p:nvSpPr>
        <p:spPr>
          <a:xfrm>
            <a:off x="6245352" y="3639312"/>
            <a:ext cx="310896" cy="310896"/>
          </a:xfrm>
          <a:prstGeom prst="star4">
            <a:avLst/>
          </a:prstGeom>
          <a:effectLst/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5440680" y="4197096"/>
            <a:ext cx="1920240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5000"/>
              </a:lnSpc>
              <a:spcAft>
                <a:spcPts val="0"/>
              </a:spcAft>
            </a:pPr>
            <a:r>
              <a:rPr sz="1050" b="0" i="0">
                <a:solidFill>
                  <a:srgbClr val="D6D3D1"/>
                </a:solidFill>
                <a:latin typeface="Segoe UI"/>
              </a:rPr>
              <a:t>Gradient Inference
Llama 3.3 70B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8238744" y="3438144"/>
            <a:ext cx="713232" cy="713232"/>
          </a:xfrm>
          <a:prstGeom prst="roundRect">
            <a:avLst>
              <a:gd name="adj" fmla="val 18000"/>
            </a:avLst>
          </a:prstGeom>
          <a:effectLst/>
          <a:gradFill rotWithShape="1">
            <a:gsLst>
              <a:gs pos="0">
                <a:srgbClr val="26211E"/>
              </a:gs>
              <a:gs pos="100000">
                <a:srgbClr val="26211E"/>
              </a:gs>
            </a:gsLst>
            <a:lin ang="5400000" scaled="1"/>
          </a:gradFill>
          <a:ln w="12700">
            <a:solidFill>
              <a:srgbClr val="FFFFFF">
                <a:alpha val="14000"/>
              </a:srgbClr>
            </a:solidFill>
          </a:ln>
          <a:effectLst>
            <a:outerShdw blurRad="128016" dist="41148" dir="5400000" rotWithShape="0">
              <a:srgbClr val="000000">
                <a:alpha val="45000"/>
              </a:srgbClr>
            </a:outerShdw>
          </a:effectLst>
        </p:spPr>
        <p:txBody>
          <a:bodyPr rtlCol="0" anchor="ctr"/>
          <a:lstStyle/>
          <a:p>
            <a:pPr algn="ctr"/>
          </a:p>
        </p:txBody>
      </p:sp>
      <p:sp>
        <p:nvSpPr>
          <p:cNvPr id="41" name="Rounded Rectangle 40"/>
          <p:cNvSpPr/>
          <p:nvPr/>
        </p:nvSpPr>
        <p:spPr>
          <a:xfrm>
            <a:off x="8441284" y="3779215"/>
            <a:ext cx="41148" cy="170993"/>
          </a:xfrm>
          <a:prstGeom prst="roundRect">
            <a:avLst>
              <a:gd name="adj" fmla="val 50000"/>
            </a:avLst>
          </a:prstGeom>
          <a:effectLst/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2" name="Rounded Rectangle 41"/>
          <p:cNvSpPr/>
          <p:nvPr/>
        </p:nvSpPr>
        <p:spPr>
          <a:xfrm>
            <a:off x="8508035" y="3685946"/>
            <a:ext cx="41148" cy="264262"/>
          </a:xfrm>
          <a:prstGeom prst="roundRect">
            <a:avLst>
              <a:gd name="adj" fmla="val 50000"/>
            </a:avLst>
          </a:prstGeom>
          <a:effectLst/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3" name="Rounded Rectangle 42"/>
          <p:cNvSpPr/>
          <p:nvPr/>
        </p:nvSpPr>
        <p:spPr>
          <a:xfrm>
            <a:off x="8574786" y="3639312"/>
            <a:ext cx="41148" cy="310896"/>
          </a:xfrm>
          <a:prstGeom prst="roundRect">
            <a:avLst>
              <a:gd name="adj" fmla="val 50000"/>
            </a:avLst>
          </a:prstGeom>
          <a:effectLst/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4" name="Rounded Rectangle 43"/>
          <p:cNvSpPr/>
          <p:nvPr/>
        </p:nvSpPr>
        <p:spPr>
          <a:xfrm>
            <a:off x="8641537" y="3732581"/>
            <a:ext cx="41148" cy="217627"/>
          </a:xfrm>
          <a:prstGeom prst="roundRect">
            <a:avLst>
              <a:gd name="adj" fmla="val 50000"/>
            </a:avLst>
          </a:prstGeom>
          <a:effectLst/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5" name="Rounded Rectangle 44"/>
          <p:cNvSpPr/>
          <p:nvPr/>
        </p:nvSpPr>
        <p:spPr>
          <a:xfrm>
            <a:off x="8708288" y="3810305"/>
            <a:ext cx="41148" cy="139903"/>
          </a:xfrm>
          <a:prstGeom prst="roundRect">
            <a:avLst>
              <a:gd name="adj" fmla="val 50000"/>
            </a:avLst>
          </a:prstGeom>
          <a:effectLst/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7635240" y="4197096"/>
            <a:ext cx="1920240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5000"/>
              </a:lnSpc>
              <a:spcAft>
                <a:spcPts val="0"/>
              </a:spcAft>
            </a:pPr>
            <a:r>
              <a:rPr sz="1050" b="0" i="0">
                <a:solidFill>
                  <a:srgbClr val="D6D3D1"/>
                </a:solidFill>
                <a:latin typeface="Segoe UI"/>
              </a:rPr>
              <a:t>ElevenLabs
clone + Flash TTS</a:t>
            </a:r>
          </a:p>
        </p:txBody>
      </p:sp>
      <p:sp>
        <p:nvSpPr>
          <p:cNvPr id="47" name="Rounded Rectangle 46"/>
          <p:cNvSpPr/>
          <p:nvPr/>
        </p:nvSpPr>
        <p:spPr>
          <a:xfrm>
            <a:off x="10341864" y="3438144"/>
            <a:ext cx="713232" cy="713232"/>
          </a:xfrm>
          <a:prstGeom prst="roundRect">
            <a:avLst>
              <a:gd name="adj" fmla="val 18000"/>
            </a:avLst>
          </a:prstGeom>
          <a:effectLst/>
          <a:gradFill rotWithShape="1">
            <a:gsLst>
              <a:gs pos="0">
                <a:srgbClr val="0080FF"/>
              </a:gs>
              <a:gs pos="100000">
                <a:srgbClr val="0080FF"/>
              </a:gs>
            </a:gsLst>
            <a:lin ang="5400000" scaled="1"/>
          </a:gradFill>
          <a:ln w="12700">
            <a:solidFill>
              <a:srgbClr val="FFFFFF">
                <a:alpha val="14000"/>
              </a:srgbClr>
            </a:solidFill>
          </a:ln>
          <a:effectLst>
            <a:outerShdw blurRad="128016" dist="41148" dir="5400000" rotWithShape="0">
              <a:srgbClr val="000000">
                <a:alpha val="45000"/>
              </a:srgbClr>
            </a:outerShdw>
          </a:effectLst>
        </p:spPr>
        <p:txBody>
          <a:bodyPr rtlCol="0" anchor="ctr"/>
          <a:lstStyle/>
          <a:p>
            <a:pPr algn="ctr"/>
          </a:p>
        </p:txBody>
      </p:sp>
      <p:sp>
        <p:nvSpPr>
          <p:cNvPr id="48" name="Lightning Bolt 47"/>
          <p:cNvSpPr/>
          <p:nvPr/>
        </p:nvSpPr>
        <p:spPr>
          <a:xfrm>
            <a:off x="10579608" y="3639312"/>
            <a:ext cx="237744" cy="310896"/>
          </a:xfrm>
          <a:prstGeom prst="lightningBolt">
            <a:avLst/>
          </a:prstGeom>
          <a:effectLst/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9738360" y="4197096"/>
            <a:ext cx="1920240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5000"/>
              </a:lnSpc>
              <a:spcAft>
                <a:spcPts val="0"/>
              </a:spcAft>
            </a:pPr>
            <a:r>
              <a:rPr sz="1050" b="0" i="0">
                <a:solidFill>
                  <a:srgbClr val="D6D3D1"/>
                </a:solidFill>
                <a:latin typeface="Segoe UI"/>
              </a:rPr>
              <a:t>Managed Valkey
TTS cache</a:t>
            </a:r>
          </a:p>
        </p:txBody>
      </p:sp>
      <p:sp>
        <p:nvSpPr>
          <p:cNvPr id="50" name="Rounded Rectangle 49"/>
          <p:cNvSpPr/>
          <p:nvPr/>
        </p:nvSpPr>
        <p:spPr>
          <a:xfrm>
            <a:off x="2157984" y="5449824"/>
            <a:ext cx="713232" cy="713232"/>
          </a:xfrm>
          <a:prstGeom prst="roundRect">
            <a:avLst>
              <a:gd name="adj" fmla="val 18000"/>
            </a:avLst>
          </a:prstGeom>
          <a:effectLst/>
          <a:gradFill rotWithShape="1">
            <a:gsLst>
              <a:gs pos="0">
                <a:srgbClr val="0080FF"/>
              </a:gs>
              <a:gs pos="100000">
                <a:srgbClr val="0080FF"/>
              </a:gs>
            </a:gsLst>
            <a:lin ang="5400000" scaled="1"/>
          </a:gradFill>
          <a:ln w="12700">
            <a:solidFill>
              <a:srgbClr val="FFFFFF">
                <a:alpha val="14000"/>
              </a:srgbClr>
            </a:solidFill>
          </a:ln>
          <a:effectLst>
            <a:outerShdw blurRad="128016" dist="41148" dir="5400000" rotWithShape="0">
              <a:srgbClr val="000000">
                <a:alpha val="45000"/>
              </a:srgbClr>
            </a:outerShdw>
          </a:effectLst>
        </p:spPr>
        <p:txBody>
          <a:bodyPr rtlCol="0" anchor="ctr"/>
          <a:lstStyle/>
          <a:p>
            <a:pPr algn="ctr"/>
          </a:p>
        </p:txBody>
      </p:sp>
      <p:sp>
        <p:nvSpPr>
          <p:cNvPr id="51" name="Rounded Rectangle 50"/>
          <p:cNvSpPr/>
          <p:nvPr/>
        </p:nvSpPr>
        <p:spPr>
          <a:xfrm>
            <a:off x="2377440" y="5669280"/>
            <a:ext cx="274320" cy="274320"/>
          </a:xfrm>
          <a:prstGeom prst="roundRect">
            <a:avLst>
              <a:gd name="adj" fmla="val 12000"/>
            </a:avLst>
          </a:prstGeom>
          <a:effectLst/>
          <a:noFill/>
          <a:ln w="254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2" name="Rectangle 51"/>
          <p:cNvSpPr/>
          <p:nvPr/>
        </p:nvSpPr>
        <p:spPr>
          <a:xfrm>
            <a:off x="2459736" y="5751576"/>
            <a:ext cx="109728" cy="109728"/>
          </a:xfrm>
          <a:prstGeom prst="rect">
            <a:avLst/>
          </a:prstGeom>
          <a:effectLst/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1554480" y="6208776"/>
            <a:ext cx="1920240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5000"/>
              </a:lnSpc>
              <a:spcAft>
                <a:spcPts val="0"/>
              </a:spcAft>
            </a:pPr>
            <a:r>
              <a:rPr sz="1050" b="0" i="0">
                <a:solidFill>
                  <a:srgbClr val="D6D3D1"/>
                </a:solidFill>
                <a:latin typeface="Segoe UI"/>
              </a:rPr>
              <a:t>DO GPU Droplet
F5-TTS self-hosted</a:t>
            </a:r>
          </a:p>
        </p:txBody>
      </p:sp>
      <p:sp>
        <p:nvSpPr>
          <p:cNvPr id="54" name="Rounded Rectangle 53"/>
          <p:cNvSpPr/>
          <p:nvPr/>
        </p:nvSpPr>
        <p:spPr>
          <a:xfrm>
            <a:off x="4352544" y="5449824"/>
            <a:ext cx="713232" cy="713232"/>
          </a:xfrm>
          <a:prstGeom prst="roundRect">
            <a:avLst>
              <a:gd name="adj" fmla="val 18000"/>
            </a:avLst>
          </a:prstGeom>
          <a:effectLst/>
          <a:gradFill rotWithShape="1">
            <a:gsLst>
              <a:gs pos="0">
                <a:srgbClr val="FF9900"/>
              </a:gs>
              <a:gs pos="100000">
                <a:srgbClr val="FF9900"/>
              </a:gs>
            </a:gsLst>
            <a:lin ang="5400000" scaled="1"/>
          </a:gradFill>
          <a:ln w="12700">
            <a:solidFill>
              <a:srgbClr val="FFFFFF">
                <a:alpha val="14000"/>
              </a:srgbClr>
            </a:solidFill>
          </a:ln>
          <a:effectLst>
            <a:outerShdw blurRad="128016" dist="41148" dir="5400000" rotWithShape="0">
              <a:srgbClr val="000000">
                <a:alpha val="45000"/>
              </a:srgbClr>
            </a:outerShdw>
          </a:effectLst>
        </p:spPr>
        <p:txBody>
          <a:bodyPr rtlCol="0" anchor="ctr"/>
          <a:lstStyle/>
          <a:p>
            <a:pPr algn="ctr"/>
          </a:p>
        </p:txBody>
      </p:sp>
      <p:sp>
        <p:nvSpPr>
          <p:cNvPr id="55" name="Rounded Rectangle 54"/>
          <p:cNvSpPr/>
          <p:nvPr/>
        </p:nvSpPr>
        <p:spPr>
          <a:xfrm>
            <a:off x="4572000" y="5669280"/>
            <a:ext cx="274320" cy="274320"/>
          </a:xfrm>
          <a:prstGeom prst="roundRect">
            <a:avLst>
              <a:gd name="adj" fmla="val 12000"/>
            </a:avLst>
          </a:prstGeom>
          <a:effectLst/>
          <a:noFill/>
          <a:ln w="254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6" name="Rectangle 55"/>
          <p:cNvSpPr/>
          <p:nvPr/>
        </p:nvSpPr>
        <p:spPr>
          <a:xfrm>
            <a:off x="4654296" y="5751576"/>
            <a:ext cx="109728" cy="109728"/>
          </a:xfrm>
          <a:prstGeom prst="rect">
            <a:avLst/>
          </a:prstGeom>
          <a:effectLst/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7" name="TextBox 56"/>
          <p:cNvSpPr txBox="1"/>
          <p:nvPr/>
        </p:nvSpPr>
        <p:spPr>
          <a:xfrm>
            <a:off x="3749040" y="6208776"/>
            <a:ext cx="1920240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5000"/>
              </a:lnSpc>
              <a:spcAft>
                <a:spcPts val="0"/>
              </a:spcAft>
            </a:pPr>
            <a:r>
              <a:rPr sz="1050" b="0" i="0">
                <a:solidFill>
                  <a:srgbClr val="D6D3D1"/>
                </a:solidFill>
                <a:latin typeface="Segoe UI"/>
              </a:rPr>
              <a:t>EC2 GPU
LoRA fine-tune (TRL)</a:t>
            </a:r>
          </a:p>
        </p:txBody>
      </p:sp>
      <p:sp>
        <p:nvSpPr>
          <p:cNvPr id="58" name="Rounded Rectangle 57"/>
          <p:cNvSpPr/>
          <p:nvPr/>
        </p:nvSpPr>
        <p:spPr>
          <a:xfrm>
            <a:off x="6547104" y="5449824"/>
            <a:ext cx="713232" cy="713232"/>
          </a:xfrm>
          <a:prstGeom prst="roundRect">
            <a:avLst>
              <a:gd name="adj" fmla="val 18000"/>
            </a:avLst>
          </a:prstGeom>
          <a:effectLst/>
          <a:gradFill rotWithShape="1">
            <a:gsLst>
              <a:gs pos="0">
                <a:srgbClr val="FFD21E"/>
              </a:gs>
              <a:gs pos="100000">
                <a:srgbClr val="FFD21E"/>
              </a:gs>
            </a:gsLst>
            <a:lin ang="5400000" scaled="1"/>
          </a:gradFill>
          <a:ln w="12700">
            <a:solidFill>
              <a:srgbClr val="FFFFFF">
                <a:alpha val="14000"/>
              </a:srgbClr>
            </a:solidFill>
          </a:ln>
          <a:effectLst>
            <a:outerShdw blurRad="128016" dist="41148" dir="5400000" rotWithShape="0">
              <a:srgbClr val="000000">
                <a:alpha val="45000"/>
              </a:srgbClr>
            </a:outerShdw>
          </a:effectLst>
        </p:spPr>
        <p:txBody>
          <a:bodyPr rtlCol="0" anchor="ctr"/>
          <a:lstStyle/>
          <a:p>
            <a:pPr algn="ctr"/>
          </a:p>
        </p:txBody>
      </p:sp>
      <p:sp>
        <p:nvSpPr>
          <p:cNvPr id="59" name="TextBox 58"/>
          <p:cNvSpPr txBox="1"/>
          <p:nvPr/>
        </p:nvSpPr>
        <p:spPr>
          <a:xfrm>
            <a:off x="6629400" y="5650992"/>
            <a:ext cx="548640" cy="3108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0"/>
              </a:spcAft>
            </a:pPr>
            <a:r>
              <a:rPr sz="1500" b="1" i="0">
                <a:solidFill>
                  <a:srgbClr val="1C1917"/>
                </a:solidFill>
                <a:latin typeface="Segoe UI"/>
              </a:rPr>
              <a:t>HF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5943600" y="6208776"/>
            <a:ext cx="1920240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5000"/>
              </a:lnSpc>
              <a:spcAft>
                <a:spcPts val="0"/>
              </a:spcAft>
            </a:pPr>
            <a:r>
              <a:rPr sz="1050" b="0" i="0">
                <a:solidFill>
                  <a:srgbClr val="D6D3D1"/>
                </a:solidFill>
                <a:latin typeface="Segoe UI"/>
              </a:rPr>
              <a:t>Hugging Face
dedicated endpoint</a:t>
            </a:r>
          </a:p>
        </p:txBody>
      </p:sp>
      <p:sp>
        <p:nvSpPr>
          <p:cNvPr id="61" name="Rounded Rectangle 60"/>
          <p:cNvSpPr/>
          <p:nvPr/>
        </p:nvSpPr>
        <p:spPr>
          <a:xfrm>
            <a:off x="8741664" y="5449824"/>
            <a:ext cx="713232" cy="713232"/>
          </a:xfrm>
          <a:prstGeom prst="roundRect">
            <a:avLst>
              <a:gd name="adj" fmla="val 18000"/>
            </a:avLst>
          </a:prstGeom>
          <a:effectLst/>
          <a:gradFill rotWithShape="1">
            <a:gsLst>
              <a:gs pos="0">
                <a:srgbClr val="0080FF"/>
              </a:gs>
              <a:gs pos="100000">
                <a:srgbClr val="0080FF"/>
              </a:gs>
            </a:gsLst>
            <a:lin ang="5400000" scaled="1"/>
          </a:gradFill>
          <a:ln w="12700">
            <a:solidFill>
              <a:srgbClr val="FFFFFF">
                <a:alpha val="14000"/>
              </a:srgbClr>
            </a:solidFill>
          </a:ln>
          <a:effectLst>
            <a:outerShdw blurRad="128016" dist="41148" dir="5400000" rotWithShape="0">
              <a:srgbClr val="000000">
                <a:alpha val="45000"/>
              </a:srgbClr>
            </a:outerShdw>
          </a:effectLst>
        </p:spPr>
        <p:txBody>
          <a:bodyPr rtlCol="0" anchor="ctr"/>
          <a:lstStyle/>
          <a:p>
            <a:pPr algn="ctr"/>
          </a:p>
        </p:txBody>
      </p:sp>
      <p:sp>
        <p:nvSpPr>
          <p:cNvPr id="62" name="Rectangle 61"/>
          <p:cNvSpPr/>
          <p:nvPr/>
        </p:nvSpPr>
        <p:spPr>
          <a:xfrm>
            <a:off x="8942832" y="5742432"/>
            <a:ext cx="91440" cy="128016"/>
          </a:xfrm>
          <a:prstGeom prst="rect">
            <a:avLst/>
          </a:prstGeom>
          <a:effectLst/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3" name="Isosceles Triangle 62"/>
          <p:cNvSpPr/>
          <p:nvPr/>
        </p:nvSpPr>
        <p:spPr>
          <a:xfrm rot="5400000">
            <a:off x="8988552" y="5669280"/>
            <a:ext cx="201168" cy="274320"/>
          </a:xfrm>
          <a:prstGeom prst="triangle">
            <a:avLst/>
          </a:prstGeom>
          <a:effectLst/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4" name="Rounded Rectangle 63"/>
          <p:cNvSpPr/>
          <p:nvPr/>
        </p:nvSpPr>
        <p:spPr>
          <a:xfrm>
            <a:off x="9217152" y="5724144"/>
            <a:ext cx="32004" cy="164592"/>
          </a:xfrm>
          <a:prstGeom prst="roundRect">
            <a:avLst>
              <a:gd name="adj" fmla="val 50000"/>
            </a:avLst>
          </a:prstGeom>
          <a:effectLst/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5" name="TextBox 64"/>
          <p:cNvSpPr txBox="1"/>
          <p:nvPr/>
        </p:nvSpPr>
        <p:spPr>
          <a:xfrm>
            <a:off x="8138160" y="6208776"/>
            <a:ext cx="1920240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5000"/>
              </a:lnSpc>
              <a:spcAft>
                <a:spcPts val="0"/>
              </a:spcAft>
            </a:pPr>
            <a:r>
              <a:rPr sz="1050" b="0" i="0">
                <a:solidFill>
                  <a:srgbClr val="D6D3D1"/>
                </a:solidFill>
                <a:latin typeface="Segoe UI"/>
              </a:rPr>
              <a:t>Qwen3 TTS
neutral fallback</a:t>
            </a:r>
          </a:p>
        </p:txBody>
      </p:sp>
      <p:cxnSp>
        <p:nvCxnSpPr>
          <p:cNvPr id="66" name="Connector 65"/>
          <p:cNvCxnSpPr/>
          <p:nvPr/>
        </p:nvCxnSpPr>
        <p:spPr>
          <a:xfrm flipH="1" flipV="1">
            <a:off x="1591056" y="2377440"/>
            <a:ext cx="923544" cy="777240"/>
          </a:xfrm>
          <a:prstGeom prst="bentConnector3">
            <a:avLst/>
          </a:prstGeom>
          <a:ln w="17780" cap="rnd">
            <a:solidFill>
              <a:srgbClr val="78716C">
                <a:alpha val="85000"/>
              </a:srgbClr>
            </a:solidFill>
            <a:headEnd type="none"/>
            <a:tailEnd type="triangle" w="med" len="med"/>
          </a:ln>
          <a:effectLst/>
        </p:spPr>
      </p:cxnSp>
      <p:cxnSp>
        <p:nvCxnSpPr>
          <p:cNvPr id="67" name="Connector 66"/>
          <p:cNvCxnSpPr/>
          <p:nvPr/>
        </p:nvCxnSpPr>
        <p:spPr>
          <a:xfrm>
            <a:off x="2994660" y="3794760"/>
            <a:ext cx="946404" cy="0"/>
          </a:xfrm>
          <a:prstGeom prst="line">
            <a:avLst/>
          </a:prstGeom>
          <a:ln w="17780" cap="rnd">
            <a:solidFill>
              <a:srgbClr val="78716C">
                <a:alpha val="85000"/>
              </a:srgbClr>
            </a:solidFill>
            <a:headEnd type="triangle" w="med" len="med"/>
            <a:tailEnd type="triangle" w="med" len="med"/>
          </a:ln>
          <a:effectLst/>
        </p:spPr>
      </p:cxnSp>
      <p:cxnSp>
        <p:nvCxnSpPr>
          <p:cNvPr id="68" name="Connector 67"/>
          <p:cNvCxnSpPr/>
          <p:nvPr/>
        </p:nvCxnSpPr>
        <p:spPr>
          <a:xfrm flipV="1">
            <a:off x="4297680" y="1911096"/>
            <a:ext cx="0" cy="1527048"/>
          </a:xfrm>
          <a:prstGeom prst="line">
            <a:avLst/>
          </a:prstGeom>
          <a:ln w="17780" cap="rnd">
            <a:solidFill>
              <a:srgbClr val="78716C">
                <a:alpha val="85000"/>
              </a:srgbClr>
            </a:solidFill>
            <a:headEnd type="none"/>
            <a:tailEnd type="triangle" w="med" len="med"/>
          </a:ln>
          <a:effectLst/>
        </p:spPr>
      </p:cxnSp>
      <p:cxnSp>
        <p:nvCxnSpPr>
          <p:cNvPr id="69" name="Connector 68"/>
          <p:cNvCxnSpPr/>
          <p:nvPr/>
        </p:nvCxnSpPr>
        <p:spPr>
          <a:xfrm>
            <a:off x="4654296" y="3794760"/>
            <a:ext cx="1389888" cy="0"/>
          </a:xfrm>
          <a:prstGeom prst="line">
            <a:avLst/>
          </a:prstGeom>
          <a:ln w="17780" cap="rnd">
            <a:solidFill>
              <a:srgbClr val="78716C">
                <a:alpha val="85000"/>
              </a:srgbClr>
            </a:solidFill>
            <a:headEnd type="none"/>
            <a:tailEnd type="triangle" w="med" len="med"/>
          </a:ln>
          <a:effectLst/>
        </p:spPr>
      </p:cxnSp>
      <p:cxnSp>
        <p:nvCxnSpPr>
          <p:cNvPr id="70" name="Connector 69"/>
          <p:cNvCxnSpPr/>
          <p:nvPr/>
        </p:nvCxnSpPr>
        <p:spPr>
          <a:xfrm>
            <a:off x="6757416" y="3794760"/>
            <a:ext cx="1481328" cy="0"/>
          </a:xfrm>
          <a:prstGeom prst="line">
            <a:avLst/>
          </a:prstGeom>
          <a:ln w="17780" cap="rnd">
            <a:solidFill>
              <a:srgbClr val="78716C">
                <a:alpha val="85000"/>
              </a:srgbClr>
            </a:solidFill>
            <a:headEnd type="none"/>
            <a:tailEnd type="triangle" w="med" len="med"/>
          </a:ln>
          <a:effectLst/>
        </p:spPr>
      </p:cxnSp>
      <p:cxnSp>
        <p:nvCxnSpPr>
          <p:cNvPr id="71" name="Connector 70"/>
          <p:cNvCxnSpPr/>
          <p:nvPr/>
        </p:nvCxnSpPr>
        <p:spPr>
          <a:xfrm>
            <a:off x="8951976" y="3794760"/>
            <a:ext cx="1389888" cy="0"/>
          </a:xfrm>
          <a:prstGeom prst="line">
            <a:avLst/>
          </a:prstGeom>
          <a:ln w="17780" cap="rnd">
            <a:solidFill>
              <a:srgbClr val="78716C">
                <a:alpha val="85000"/>
              </a:srgbClr>
            </a:solidFill>
            <a:headEnd type="triangle" w="med" len="med"/>
            <a:tailEnd type="triangle" w="med" len="med"/>
          </a:ln>
          <a:effectLst/>
        </p:spPr>
      </p:cxnSp>
      <p:cxnSp>
        <p:nvCxnSpPr>
          <p:cNvPr id="72" name="Connector 71"/>
          <p:cNvCxnSpPr/>
          <p:nvPr/>
        </p:nvCxnSpPr>
        <p:spPr>
          <a:xfrm flipH="1">
            <a:off x="6757416" y="1554480"/>
            <a:ext cx="1481328" cy="0"/>
          </a:xfrm>
          <a:prstGeom prst="line">
            <a:avLst/>
          </a:prstGeom>
          <a:ln w="17780" cap="rnd">
            <a:solidFill>
              <a:srgbClr val="78716C">
                <a:alpha val="85000"/>
              </a:srgbClr>
            </a:solidFill>
            <a:headEnd type="none"/>
            <a:tailEnd type="triangle" w="med" len="med"/>
          </a:ln>
          <a:effectLst/>
        </p:spPr>
      </p:cxnSp>
      <p:cxnSp>
        <p:nvCxnSpPr>
          <p:cNvPr id="73" name="Connector 72"/>
          <p:cNvCxnSpPr/>
          <p:nvPr/>
        </p:nvCxnSpPr>
        <p:spPr>
          <a:xfrm>
            <a:off x="6400800" y="1911096"/>
            <a:ext cx="0" cy="1527048"/>
          </a:xfrm>
          <a:prstGeom prst="line">
            <a:avLst/>
          </a:prstGeom>
          <a:ln w="17780" cap="rnd">
            <a:solidFill>
              <a:srgbClr val="78716C">
                <a:alpha val="85000"/>
              </a:srgbClr>
            </a:solidFill>
            <a:headEnd type="none"/>
            <a:tailEnd type="triangle" w="med" len="med"/>
          </a:ln>
          <a:effectLst/>
        </p:spPr>
      </p:cxnSp>
      <p:cxnSp>
        <p:nvCxnSpPr>
          <p:cNvPr id="74" name="Connector 73"/>
          <p:cNvCxnSpPr/>
          <p:nvPr/>
        </p:nvCxnSpPr>
        <p:spPr>
          <a:xfrm flipH="1">
            <a:off x="2871216" y="4151376"/>
            <a:ext cx="1426464" cy="1655064"/>
          </a:xfrm>
          <a:prstGeom prst="bentConnector3">
            <a:avLst/>
          </a:prstGeom>
          <a:ln w="17780" cap="rnd">
            <a:solidFill>
              <a:srgbClr val="78716C">
                <a:alpha val="85000"/>
              </a:srgbClr>
            </a:solidFill>
            <a:prstDash val="dash"/>
            <a:headEnd type="none"/>
            <a:tailEnd type="triangle" w="med" len="med"/>
          </a:ln>
          <a:effectLst/>
        </p:spPr>
      </p:cxnSp>
      <p:cxnSp>
        <p:nvCxnSpPr>
          <p:cNvPr id="75" name="Connector 74"/>
          <p:cNvCxnSpPr/>
          <p:nvPr/>
        </p:nvCxnSpPr>
        <p:spPr>
          <a:xfrm>
            <a:off x="5065776" y="5806440"/>
            <a:ext cx="1481328" cy="0"/>
          </a:xfrm>
          <a:prstGeom prst="line">
            <a:avLst/>
          </a:prstGeom>
          <a:ln w="17780" cap="rnd">
            <a:solidFill>
              <a:srgbClr val="78716C">
                <a:alpha val="85000"/>
              </a:srgbClr>
            </a:solidFill>
            <a:headEnd type="none"/>
            <a:tailEnd type="triangle" w="med" len="med"/>
          </a:ln>
          <a:effectLst/>
        </p:spPr>
      </p:cxnSp>
      <p:cxnSp>
        <p:nvCxnSpPr>
          <p:cNvPr id="76" name="Connector 75"/>
          <p:cNvCxnSpPr/>
          <p:nvPr/>
        </p:nvCxnSpPr>
        <p:spPr>
          <a:xfrm flipH="1" flipV="1">
            <a:off x="6400800" y="4151376"/>
            <a:ext cx="502920" cy="1298448"/>
          </a:xfrm>
          <a:prstGeom prst="bentConnector3">
            <a:avLst/>
          </a:prstGeom>
          <a:ln w="17780" cap="rnd">
            <a:solidFill>
              <a:srgbClr val="78716C">
                <a:alpha val="85000"/>
              </a:srgbClr>
            </a:solidFill>
            <a:prstDash val="dash"/>
            <a:headEnd type="none"/>
            <a:tailEnd type="triangle" w="med" len="med"/>
          </a:ln>
          <a:effectLst/>
        </p:spPr>
      </p:cxnSp>
      <p:cxnSp>
        <p:nvCxnSpPr>
          <p:cNvPr id="77" name="Connector 76"/>
          <p:cNvCxnSpPr/>
          <p:nvPr/>
        </p:nvCxnSpPr>
        <p:spPr>
          <a:xfrm>
            <a:off x="8595360" y="4151376"/>
            <a:ext cx="502920" cy="1298448"/>
          </a:xfrm>
          <a:prstGeom prst="bentConnector3">
            <a:avLst/>
          </a:prstGeom>
          <a:ln w="17780" cap="rnd">
            <a:solidFill>
              <a:srgbClr val="78716C">
                <a:alpha val="85000"/>
              </a:srgbClr>
            </a:solidFill>
            <a:prstDash val="dash"/>
            <a:headEnd type="none"/>
            <a:tailEnd type="triangle" w="med" len="med"/>
          </a:ln>
          <a:effectLst/>
        </p:spPr>
      </p:cxnSp>
    </p:spTree>
  </p:cSld>
  <p:clrMapOvr>
    <a:masterClrMapping/>
  </p:clrMapOvr>
  <mc:AlternateContent xmlns:mc="http://schemas.openxmlformats.org/markup-compatibility/2006" xmlns:p14="http://schemas.microsoft.com/office/powerpoint/2010/main" xmlns:p159="http://schemas.microsoft.com/office/powerpoint/2015/09/main">
    <mc:Choice Requires="p159">
      <p:transition spd="slow" p14:dur="1100">
        <p159:morph option="byObject"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353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5" dur="55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356" dur="55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57" presetID="10" presetClass="entr" presetSubtype="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3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9" dur="5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61" presetID="10" presetClass="entr" presetSubtype="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3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3" dur="5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65" presetID="10" presetClass="entr" presetSubtype="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3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7" dur="5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69" presetID="10" presetClass="entr" presetSubtype="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3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1" dur="5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73" presetID="10" presetClass="entr" presetSubtype="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3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5" dur="5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77" presetID="10" presetClass="entr" presetSubtype="0" fill="hold" grpId="0" nodeType="withEffect">
                                  <p:stCondLst>
                                    <p:cond delay="350"/>
                                  </p:stCondLst>
                                  <p:childTnLst>
                                    <p:set>
                                      <p:cBhvr>
                                        <p:cTn id="3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9" dur="55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1" presetID="10" presetClass="entr" presetSubtype="0" fill="hold" grpId="0" nodeType="withEffect">
                                  <p:stCondLst>
                                    <p:cond delay="350"/>
                                  </p:stCondLst>
                                  <p:childTnLst>
                                    <p:set>
                                      <p:cBhvr>
                                        <p:cTn id="3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3" dur="55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5" presetID="10" presetClass="entr" presetSubtype="0" fill="hold" grpId="0" nodeType="withEffect">
                                  <p:stCondLst>
                                    <p:cond delay="350"/>
                                  </p:stCondLst>
                                  <p:childTnLst>
                                    <p:set>
                                      <p:cBhvr>
                                        <p:cTn id="3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7" dur="5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9" presetID="10" presetClass="entr" presetSubtype="0" fill="hold" grpId="0" nodeType="withEffect">
                                  <p:stCondLst>
                                    <p:cond delay="350"/>
                                  </p:stCondLst>
                                  <p:childTnLst>
                                    <p:set>
                                      <p:cBhvr>
                                        <p:cTn id="3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1" dur="5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93" presetID="10" presetClass="entr" presetSubtype="0" fill="hold" grpId="0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39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5" dur="5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97" presetID="10" presetClass="entr" presetSubtype="0" fill="hold" grpId="0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39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9" dur="5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01" presetID="10" presetClass="entr" presetSubtype="0" fill="hold" grpId="0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40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3" dur="5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05" presetID="10" presetClass="entr" presetSubtype="0" fill="hold" grpId="0" nodeType="withEffect">
                                  <p:stCondLst>
                                    <p:cond delay="650"/>
                                  </p:stCondLst>
                                  <p:childTnLst>
                                    <p:set>
                                      <p:cBhvr>
                                        <p:cTn id="40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7" dur="5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09" presetID="10" presetClass="entr" presetSubtype="0" fill="hold" grpId="0" nodeType="withEffect">
                                  <p:stCondLst>
                                    <p:cond delay="650"/>
                                  </p:stCondLst>
                                  <p:childTnLst>
                                    <p:set>
                                      <p:cBhvr>
                                        <p:cTn id="4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11" dur="5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13" presetID="10" presetClass="entr" presetSubtype="0" fill="hold" grpId="0" nodeType="withEffect">
                                  <p:stCondLst>
                                    <p:cond delay="650"/>
                                  </p:stCondLst>
                                  <p:childTnLst>
                                    <p:set>
                                      <p:cBhvr>
                                        <p:cTn id="4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15" dur="5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17" presetID="10" presetClass="entr" presetSubtype="0" fill="hold" grpId="0" nodeType="withEffect">
                                  <p:stCondLst>
                                    <p:cond delay="650"/>
                                  </p:stCondLst>
                                  <p:childTnLst>
                                    <p:set>
                                      <p:cBhvr>
                                        <p:cTn id="4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19" dur="5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21" presetID="10" presetClass="entr" presetSubtype="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4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3" dur="55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25" presetID="10" presetClass="entr" presetSubtype="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4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7" dur="55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29" presetID="10" presetClass="entr" presetSubtype="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4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1" dur="55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33" presetID="10" presetClass="entr" presetSubtype="0" fill="hold" grpId="0" nodeType="withEffect">
                                  <p:stCondLst>
                                    <p:cond delay="950"/>
                                  </p:stCondLst>
                                  <p:childTnLst>
                                    <p:set>
                                      <p:cBhvr>
                                        <p:cTn id="4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5" dur="5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37" presetID="10" presetClass="entr" presetSubtype="0" fill="hold" grpId="0" nodeType="withEffect">
                                  <p:stCondLst>
                                    <p:cond delay="950"/>
                                  </p:stCondLst>
                                  <p:childTnLst>
                                    <p:set>
                                      <p:cBhvr>
                                        <p:cTn id="4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9" dur="55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41" presetID="10" presetClass="entr" presetSubtype="0" fill="hold" grpId="0" nodeType="withEffect">
                                  <p:stCondLst>
                                    <p:cond delay="950"/>
                                  </p:stCondLst>
                                  <p:childTnLst>
                                    <p:set>
                                      <p:cBhvr>
                                        <p:cTn id="4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43" dur="55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45" presetID="10" presetClass="entr" presetSubtype="0" fill="hold" grpId="0" nodeType="withEffect">
                                  <p:stCondLst>
                                    <p:cond delay="950"/>
                                  </p:stCondLst>
                                  <p:childTnLst>
                                    <p:set>
                                      <p:cBhvr>
                                        <p:cTn id="4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47" dur="55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49" presetID="10" presetClass="entr" presetSubtype="0" fill="hold" grpId="0" nodeType="withEffect">
                                  <p:stCondLst>
                                    <p:cond delay="950"/>
                                  </p:stCondLst>
                                  <p:childTnLst>
                                    <p:set>
                                      <p:cBhvr>
                                        <p:cTn id="4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1" dur="55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53" presetID="10" presetClass="entr" presetSubtype="0" fill="hold" grpId="0" nodeType="withEffect">
                                  <p:stCondLst>
                                    <p:cond delay="950"/>
                                  </p:stCondLst>
                                  <p:childTnLst>
                                    <p:set>
                                      <p:cBhvr>
                                        <p:cTn id="4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5" dur="55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57" presetID="10" presetClass="entr" presetSubtype="0" fill="hold" grpId="0" nodeType="withEffect">
                                  <p:stCondLst>
                                    <p:cond delay="1100"/>
                                  </p:stCondLst>
                                  <p:childTnLst>
                                    <p:set>
                                      <p:cBhvr>
                                        <p:cTn id="4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9" dur="55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61" presetID="10" presetClass="entr" presetSubtype="0" fill="hold" grpId="0" nodeType="withEffect">
                                  <p:stCondLst>
                                    <p:cond delay="1100"/>
                                  </p:stCondLst>
                                  <p:childTnLst>
                                    <p:set>
                                      <p:cBhvr>
                                        <p:cTn id="4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63" dur="55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65" presetID="10" presetClass="entr" presetSubtype="0" fill="hold" grpId="0" nodeType="withEffect">
                                  <p:stCondLst>
                                    <p:cond delay="1100"/>
                                  </p:stCondLst>
                                  <p:childTnLst>
                                    <p:set>
                                      <p:cBhvr>
                                        <p:cTn id="4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67" dur="55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69" presetID="10" presetClass="entr" presetSubtype="0" fill="hold" grpId="0" nodeType="withEffect">
                                  <p:stCondLst>
                                    <p:cond delay="1250"/>
                                  </p:stCondLst>
                                  <p:childTnLst>
                                    <p:set>
                                      <p:cBhvr>
                                        <p:cTn id="4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1" dur="55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73" presetID="10" presetClass="entr" presetSubtype="0" fill="hold" grpId="0" nodeType="withEffect">
                                  <p:stCondLst>
                                    <p:cond delay="1250"/>
                                  </p:stCondLst>
                                  <p:childTnLst>
                                    <p:set>
                                      <p:cBhvr>
                                        <p:cTn id="4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5" dur="55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77" presetID="10" presetClass="entr" presetSubtype="0" fill="hold" grpId="0" nodeType="withEffect">
                                  <p:stCondLst>
                                    <p:cond delay="1250"/>
                                  </p:stCondLst>
                                  <p:childTnLst>
                                    <p:set>
                                      <p:cBhvr>
                                        <p:cTn id="4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9" dur="55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81" presetID="10" presetClass="entr" presetSubtype="0" fill="hold" grpId="0" nodeType="withEffect">
                                  <p:stCondLst>
                                    <p:cond delay="1250"/>
                                  </p:stCondLst>
                                  <p:childTnLst>
                                    <p:set>
                                      <p:cBhvr>
                                        <p:cTn id="4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83" dur="550"/>
                                        <p:tgtEl>
                                          <p:spTgt spid="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85" presetID="10" presetClass="entr" presetSubtype="0" fill="hold" grpId="0" nodeType="withEffect">
                                  <p:stCondLst>
                                    <p:cond delay="1250"/>
                                  </p:stCondLst>
                                  <p:childTnLst>
                                    <p:set>
                                      <p:cBhvr>
                                        <p:cTn id="4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87" dur="550"/>
                                        <p:tgtEl>
                                          <p:spTgt spid="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89" presetID="10" presetClass="entr" presetSubtype="0" fill="hold" grpId="0" nodeType="withEffect">
                                  <p:stCondLst>
                                    <p:cond delay="1250"/>
                                  </p:stCondLst>
                                  <p:childTnLst>
                                    <p:set>
                                      <p:cBhvr>
                                        <p:cTn id="4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1" dur="550"/>
                                        <p:tgtEl>
                                          <p:spTgt spid="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93" presetID="10" presetClass="entr" presetSubtype="0" fill="hold" grpId="0" nodeType="withEffect">
                                  <p:stCondLst>
                                    <p:cond delay="1250"/>
                                  </p:stCondLst>
                                  <p:childTnLst>
                                    <p:set>
                                      <p:cBhvr>
                                        <p:cTn id="49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5" dur="550"/>
                                        <p:tgtEl>
                                          <p:spTgt spid="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97" presetID="10" presetClass="entr" presetSubtype="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49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9" dur="550"/>
                                        <p:tgtEl>
                                          <p:spTgt spid="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01" presetID="10" presetClass="entr" presetSubtype="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50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3" dur="550"/>
                                        <p:tgtEl>
                                          <p:spTgt spid="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05" presetID="10" presetClass="entr" presetSubtype="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50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7" dur="550"/>
                                        <p:tgtEl>
                                          <p:spTgt spid="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09" presetID="10" presetClass="entr" presetSubtype="0" fill="hold" grpId="0" nodeType="withEffect">
                                  <p:stCondLst>
                                    <p:cond delay="1550"/>
                                  </p:stCondLst>
                                  <p:childTnLst>
                                    <p:set>
                                      <p:cBhvr>
                                        <p:cTn id="5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11" dur="550"/>
                                        <p:tgtEl>
                                          <p:spTgt spid="6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13" presetID="10" presetClass="entr" presetSubtype="0" fill="hold" grpId="0" nodeType="withEffect">
                                  <p:stCondLst>
                                    <p:cond delay="1550"/>
                                  </p:stCondLst>
                                  <p:childTnLst>
                                    <p:set>
                                      <p:cBhvr>
                                        <p:cTn id="5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15" dur="550"/>
                                        <p:tgtEl>
                                          <p:spTgt spid="6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17" presetID="10" presetClass="entr" presetSubtype="0" fill="hold" grpId="0" nodeType="withEffect">
                                  <p:stCondLst>
                                    <p:cond delay="1550"/>
                                  </p:stCondLst>
                                  <p:childTnLst>
                                    <p:set>
                                      <p:cBhvr>
                                        <p:cTn id="5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19" dur="550"/>
                                        <p:tgtEl>
                                          <p:spTgt spid="6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21" presetID="10" presetClass="entr" presetSubtype="0" fill="hold" grpId="0" nodeType="withEffect">
                                  <p:stCondLst>
                                    <p:cond delay="1550"/>
                                  </p:stCondLst>
                                  <p:childTnLst>
                                    <p:set>
                                      <p:cBhvr>
                                        <p:cTn id="5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3" dur="550"/>
                                        <p:tgtEl>
                                          <p:spTgt spid="6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25" presetID="10" presetClass="entr" presetSubtype="0" fill="hold" grpId="0" nodeType="withEffect">
                                  <p:stCondLst>
                                    <p:cond delay="1550"/>
                                  </p:stCondLst>
                                  <p:childTnLst>
                                    <p:set>
                                      <p:cBhvr>
                                        <p:cTn id="5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7" dur="550"/>
                                        <p:tgtEl>
                                          <p:spTgt spid="6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29" presetID="10" presetClass="entr" presetSubtype="0" fill="hold" grpId="0" nodeType="withEffect">
                                  <p:stCondLst>
                                    <p:cond delay="1700"/>
                                  </p:stCondLst>
                                  <p:childTnLst>
                                    <p:set>
                                      <p:cBhvr>
                                        <p:cTn id="5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31" dur="550"/>
                                        <p:tgtEl>
                                          <p:spTgt spid="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33" presetID="10" presetClass="entr" presetSubtype="0" fill="hold" grpId="0" nodeType="withEffect">
                                  <p:stCondLst>
                                    <p:cond delay="1700"/>
                                  </p:stCondLst>
                                  <p:childTnLst>
                                    <p:set>
                                      <p:cBhvr>
                                        <p:cTn id="5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35" dur="550"/>
                                        <p:tgtEl>
                                          <p:spTgt spid="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37" presetID="10" presetClass="entr" presetSubtype="0" fill="hold" grpId="0" nodeType="withEffect">
                                  <p:stCondLst>
                                    <p:cond delay="1700"/>
                                  </p:stCondLst>
                                  <p:childTnLst>
                                    <p:set>
                                      <p:cBhvr>
                                        <p:cTn id="5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39" dur="550"/>
                                        <p:tgtEl>
                                          <p:spTgt spid="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41" presetID="10" presetClass="entr" presetSubtype="0" fill="hold" grpId="0" nodeType="withEffect">
                                  <p:stCondLst>
                                    <p:cond delay="1700"/>
                                  </p:stCondLst>
                                  <p:childTnLst>
                                    <p:set>
                                      <p:cBhvr>
                                        <p:cTn id="5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43" dur="550"/>
                                        <p:tgtEl>
                                          <p:spTgt spid="5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45" presetID="10" presetClass="entr" presetSubtype="0" fill="hold" grpId="0" nodeType="withEffect">
                                  <p:stCondLst>
                                    <p:cond delay="1850"/>
                                  </p:stCondLst>
                                  <p:childTnLst>
                                    <p:set>
                                      <p:cBhvr>
                                        <p:cTn id="5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47" dur="550"/>
                                        <p:tgtEl>
                                          <p:spTgt spid="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49" presetID="10" presetClass="entr" presetSubtype="0" fill="hold" grpId="0" nodeType="withEffect">
                                  <p:stCondLst>
                                    <p:cond delay="1850"/>
                                  </p:stCondLst>
                                  <p:childTnLst>
                                    <p:set>
                                      <p:cBhvr>
                                        <p:cTn id="5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51" dur="550"/>
                                        <p:tgtEl>
                                          <p:spTgt spid="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53" presetID="10" presetClass="entr" presetSubtype="0" fill="hold" grpId="0" nodeType="withEffect">
                                  <p:stCondLst>
                                    <p:cond delay="1850"/>
                                  </p:stCondLst>
                                  <p:childTnLst>
                                    <p:set>
                                      <p:cBhvr>
                                        <p:cTn id="5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55" dur="550"/>
                                        <p:tgtEl>
                                          <p:spTgt spid="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57" presetID="10" presetClass="entr" presetSubtype="0" fill="hold" grpId="0" nodeType="withEffect">
                                  <p:stCondLst>
                                    <p:cond delay="1850"/>
                                  </p:stCondLst>
                                  <p:childTnLst>
                                    <p:set>
                                      <p:cBhvr>
                                        <p:cTn id="5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59" dur="550"/>
                                        <p:tgtEl>
                                          <p:spTgt spid="5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61" presetID="10" presetClass="entr" presetSubtype="0" fill="hold" grpId="0" nodeType="with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5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63" dur="550"/>
                                        <p:tgtEl>
                                          <p:spTgt spid="5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65" presetID="10" presetClass="entr" presetSubtype="0" fill="hold" grpId="0" nodeType="with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5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67" dur="550"/>
                                        <p:tgtEl>
                                          <p:spTgt spid="5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69" presetID="10" presetClass="entr" presetSubtype="0" fill="hold" grpId="0" nodeType="with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5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1" dur="550"/>
                                        <p:tgtEl>
                                          <p:spTgt spid="6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73" presetID="10" presetClass="entr" presetSubtype="0" fill="hold" grpId="0" nodeType="withEffect">
                                  <p:stCondLst>
                                    <p:cond delay="300"/>
                                  </p:stCondLst>
                                  <p:childTnLst>
                                    <p:set>
                                      <p:cBhvr>
                                        <p:cTn id="5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5" dur="550"/>
                                        <p:tgtEl>
                                          <p:spTgt spid="6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77" presetID="10" presetClass="entr" presetSubtype="0" fill="hold" grpId="0" nodeType="withEffect">
                                  <p:stCondLst>
                                    <p:cond delay="420"/>
                                  </p:stCondLst>
                                  <p:childTnLst>
                                    <p:set>
                                      <p:cBhvr>
                                        <p:cTn id="5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9" dur="550"/>
                                        <p:tgtEl>
                                          <p:spTgt spid="6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81" presetID="10" presetClass="entr" presetSubtype="0" fill="hold" grpId="0" nodeType="withEffect">
                                  <p:stCondLst>
                                    <p:cond delay="540"/>
                                  </p:stCondLst>
                                  <p:childTnLst>
                                    <p:set>
                                      <p:cBhvr>
                                        <p:cTn id="5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83" dur="550"/>
                                        <p:tgtEl>
                                          <p:spTgt spid="6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85" presetID="10" presetClass="entr" presetSubtype="0" fill="hold" grpId="0" nodeType="withEffect">
                                  <p:stCondLst>
                                    <p:cond delay="660"/>
                                  </p:stCondLst>
                                  <p:childTnLst>
                                    <p:set>
                                      <p:cBhvr>
                                        <p:cTn id="5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87" dur="550"/>
                                        <p:tgtEl>
                                          <p:spTgt spid="6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89" presetID="10" presetClass="entr" presetSubtype="0" fill="hold" grpId="0" nodeType="withEffect">
                                  <p:stCondLst>
                                    <p:cond delay="780"/>
                                  </p:stCondLst>
                                  <p:childTnLst>
                                    <p:set>
                                      <p:cBhvr>
                                        <p:cTn id="5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91" dur="550"/>
                                        <p:tgtEl>
                                          <p:spTgt spid="7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93" presetID="10" presetClass="entr" presetSubtype="0" fill="hold" grpId="0" nodeType="withEffect">
                                  <p:stCondLst>
                                    <p:cond delay="900"/>
                                  </p:stCondLst>
                                  <p:childTnLst>
                                    <p:set>
                                      <p:cBhvr>
                                        <p:cTn id="59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95" dur="550"/>
                                        <p:tgtEl>
                                          <p:spTgt spid="7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97" presetID="10" presetClass="entr" presetSubtype="0" fill="hold" grpId="0" nodeType="withEffect">
                                  <p:stCondLst>
                                    <p:cond delay="1020"/>
                                  </p:stCondLst>
                                  <p:childTnLst>
                                    <p:set>
                                      <p:cBhvr>
                                        <p:cTn id="59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99" dur="550"/>
                                        <p:tgtEl>
                                          <p:spTgt spid="7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01" presetID="10" presetClass="entr" presetSubtype="0" fill="hold" grpId="0" nodeType="withEffect">
                                  <p:stCondLst>
                                    <p:cond delay="1140"/>
                                  </p:stCondLst>
                                  <p:childTnLst>
                                    <p:set>
                                      <p:cBhvr>
                                        <p:cTn id="60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03" dur="550"/>
                                        <p:tgtEl>
                                          <p:spTgt spid="7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05" presetID="10" presetClass="entr" presetSubtype="0" fill="hold" grpId="0" nodeType="withEffect">
                                  <p:stCondLst>
                                    <p:cond delay="1260"/>
                                  </p:stCondLst>
                                  <p:childTnLst>
                                    <p:set>
                                      <p:cBhvr>
                                        <p:cTn id="60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07" dur="550"/>
                                        <p:tgtEl>
                                          <p:spTgt spid="7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09" presetID="10" presetClass="entr" presetSubtype="0" fill="hold" grpId="0" nodeType="withEffect">
                                  <p:stCondLst>
                                    <p:cond delay="1380"/>
                                  </p:stCondLst>
                                  <p:childTnLst>
                                    <p:set>
                                      <p:cBhvr>
                                        <p:cTn id="6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11" dur="550"/>
                                        <p:tgtEl>
                                          <p:spTgt spid="7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13" presetID="10" presetClass="entr" presetSubtype="0" fill="hold" grpId="0" nodeType="withEffect">
                                  <p:stCondLst>
                                    <p:cond delay="1500"/>
                                  </p:stCondLst>
                                  <p:childTnLst>
                                    <p:set>
                                      <p:cBhvr>
                                        <p:cTn id="6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15" dur="550"/>
                                        <p:tgtEl>
                                          <p:spTgt spid="7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17" presetID="10" presetClass="entr" presetSubtype="0" fill="hold" grpId="0" nodeType="withEffect">
                                  <p:stCondLst>
                                    <p:cond delay="1620"/>
                                  </p:stCondLst>
                                  <p:childTnLst>
                                    <p:set>
                                      <p:cBhvr>
                                        <p:cTn id="6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19" dur="550"/>
                                        <p:tgtEl>
                                          <p:spTgt spid="7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!!bg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effectLst/>
          <a:solidFill>
            <a:srgbClr val="0C0A09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" name="!!glow"/>
          <p:cNvSpPr/>
          <p:nvPr/>
        </p:nvSpPr>
        <p:spPr>
          <a:xfrm>
            <a:off x="3017520" y="-2377440"/>
            <a:ext cx="6217920" cy="6217920"/>
          </a:xfrm>
          <a:prstGeom prst="ellipse">
            <a:avLst/>
          </a:prstGeom>
          <a:effectLst/>
          <a:gradFill>
            <a:gsLst>
              <a:gs pos="0">
                <a:srgbClr val="F59E0B">
                  <a:alpha val="9000"/>
                </a:srgbClr>
              </a:gs>
              <a:gs pos="100000">
                <a:srgbClr val="0C0A09">
                  <a:alpha val="0"/>
                </a:srgbClr>
              </a:gs>
            </a:gsLst>
            <a:path path="circle">
              <a:fillToRect l="50000" t="50000" r="50000" b="50000"/>
            </a:path>
          </a:gra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235440" y="4480560"/>
            <a:ext cx="3108960" cy="2377440"/>
          </a:xfrm>
          <a:prstGeom prst="rect">
            <a:avLst/>
          </a:prstGeom>
          <a:noFill/>
        </p:spPr>
        <p:txBody>
          <a:bodyPr wrap="none" anchor="b" lIns="0" rIns="0" tIns="0" bIns="0">
            <a:spAutoFit/>
          </a:bodyPr>
          <a:lstStyle/>
          <a:p>
            <a:pPr algn="r">
              <a:spcAft>
                <a:spcPts val="0"/>
              </a:spcAft>
            </a:pPr>
            <a:r>
              <a:rPr sz="17000" b="1" i="0">
                <a:solidFill>
                  <a:srgbClr val="171310"/>
                </a:solidFill>
                <a:latin typeface="Segoe UI"/>
              </a:rPr>
              <a:t>08</a:t>
            </a:r>
          </a:p>
        </p:txBody>
      </p:sp>
      <p:sp>
        <p:nvSpPr>
          <p:cNvPr id="5" name="!!bar0"/>
          <p:cNvSpPr/>
          <p:nvPr/>
        </p:nvSpPr>
        <p:spPr>
          <a:xfrm>
            <a:off x="10483596" y="1005840"/>
            <a:ext cx="118872" cy="292608"/>
          </a:xfrm>
          <a:prstGeom prst="roundRect">
            <a:avLst>
              <a:gd name="adj" fmla="val 50000"/>
            </a:avLst>
          </a:prstGeom>
          <a:effectLst/>
          <a:gradFill rotWithShape="1">
            <a:gsLst>
              <a:gs pos="0">
                <a:srgbClr val="FBBF24">
                  <a:alpha val="70000"/>
                </a:srgbClr>
              </a:gs>
              <a:gs pos="100000">
                <a:srgbClr val="D97706">
                  <a:alpha val="70000"/>
                </a:srgbClr>
              </a:gs>
            </a:gsLst>
            <a:lin ang="5400000" scaled="1"/>
          </a:gradFill>
          <a:ln>
            <a:noFill/>
          </a:ln>
          <a:scene3d>
            <a:camera prst="perspectiveRelaxedModerately" fov="2700000">
              <a:rot lat="0" lon="20700000" rev="0"/>
            </a:camera>
            <a:lightRig rig="threePt" dir="t">
              <a:rot lat="0" lon="0" rev="1200000"/>
            </a:lightRig>
          </a:scene3d>
          <a:sp3d extrusionH="59436" prstMaterial="matte">
            <a:bevelT w="12700" h="12700"/>
            <a:extrusionClr>
              <a:srgbClr val="B45309"/>
            </a:extrusionClr>
          </a:sp3d>
        </p:spPr>
        <p:txBody>
          <a:bodyPr rtlCol="0" anchor="ctr"/>
          <a:lstStyle/>
          <a:p>
            <a:pPr algn="ctr"/>
          </a:p>
        </p:txBody>
      </p:sp>
      <p:sp>
        <p:nvSpPr>
          <p:cNvPr id="6" name="!!bar1"/>
          <p:cNvSpPr/>
          <p:nvPr/>
        </p:nvSpPr>
        <p:spPr>
          <a:xfrm>
            <a:off x="10675620" y="795528"/>
            <a:ext cx="118872" cy="502920"/>
          </a:xfrm>
          <a:prstGeom prst="roundRect">
            <a:avLst>
              <a:gd name="adj" fmla="val 50000"/>
            </a:avLst>
          </a:prstGeom>
          <a:effectLst/>
          <a:gradFill rotWithShape="1">
            <a:gsLst>
              <a:gs pos="0">
                <a:srgbClr val="FBBF24">
                  <a:alpha val="70000"/>
                </a:srgbClr>
              </a:gs>
              <a:gs pos="100000">
                <a:srgbClr val="F59E0B">
                  <a:alpha val="70000"/>
                </a:srgbClr>
              </a:gs>
            </a:gsLst>
            <a:lin ang="5400000" scaled="1"/>
          </a:gradFill>
          <a:ln>
            <a:noFill/>
          </a:ln>
          <a:scene3d>
            <a:camera prst="perspectiveRelaxedModerately" fov="2700000">
              <a:rot lat="0" lon="20700000" rev="0"/>
            </a:camera>
            <a:lightRig rig="threePt" dir="t">
              <a:rot lat="0" lon="0" rev="1200000"/>
            </a:lightRig>
          </a:scene3d>
          <a:sp3d extrusionH="59436" prstMaterial="matte">
            <a:bevelT w="12700" h="12700"/>
            <a:extrusionClr>
              <a:srgbClr val="B45309"/>
            </a:extrusionClr>
          </a:sp3d>
        </p:spPr>
        <p:txBody>
          <a:bodyPr rtlCol="0" anchor="ctr"/>
          <a:lstStyle/>
          <a:p>
            <a:pPr algn="ctr"/>
          </a:p>
        </p:txBody>
      </p:sp>
      <p:sp>
        <p:nvSpPr>
          <p:cNvPr id="7" name="!!bar2"/>
          <p:cNvSpPr/>
          <p:nvPr/>
        </p:nvSpPr>
        <p:spPr>
          <a:xfrm>
            <a:off x="10867644" y="640080"/>
            <a:ext cx="118872" cy="658368"/>
          </a:xfrm>
          <a:prstGeom prst="roundRect">
            <a:avLst>
              <a:gd name="adj" fmla="val 50000"/>
            </a:avLst>
          </a:prstGeom>
          <a:effectLst/>
          <a:gradFill rotWithShape="1">
            <a:gsLst>
              <a:gs pos="0">
                <a:srgbClr val="FBBF24">
                  <a:alpha val="70000"/>
                </a:srgbClr>
              </a:gs>
              <a:gs pos="100000">
                <a:srgbClr val="FBBF24">
                  <a:alpha val="70000"/>
                </a:srgbClr>
              </a:gs>
            </a:gsLst>
            <a:lin ang="5400000" scaled="1"/>
          </a:gradFill>
          <a:ln>
            <a:noFill/>
          </a:ln>
          <a:scene3d>
            <a:camera prst="perspectiveRelaxedModerately" fov="2700000">
              <a:rot lat="0" lon="20700000" rev="0"/>
            </a:camera>
            <a:lightRig rig="threePt" dir="t">
              <a:rot lat="0" lon="0" rev="1200000"/>
            </a:lightRig>
          </a:scene3d>
          <a:sp3d extrusionH="59436" prstMaterial="matte">
            <a:bevelT w="12700" h="12700"/>
            <a:extrusionClr>
              <a:srgbClr val="B45309"/>
            </a:extrusionClr>
          </a:sp3d>
        </p:spPr>
        <p:txBody>
          <a:bodyPr rtlCol="0" anchor="ctr"/>
          <a:lstStyle/>
          <a:p>
            <a:pPr algn="ctr"/>
          </a:p>
        </p:txBody>
      </p:sp>
      <p:sp>
        <p:nvSpPr>
          <p:cNvPr id="8" name="!!bar3"/>
          <p:cNvSpPr/>
          <p:nvPr/>
        </p:nvSpPr>
        <p:spPr>
          <a:xfrm>
            <a:off x="11059668" y="877824"/>
            <a:ext cx="118872" cy="420624"/>
          </a:xfrm>
          <a:prstGeom prst="roundRect">
            <a:avLst>
              <a:gd name="adj" fmla="val 50000"/>
            </a:avLst>
          </a:prstGeom>
          <a:effectLst/>
          <a:gradFill rotWithShape="1">
            <a:gsLst>
              <a:gs pos="0">
                <a:srgbClr val="FBBF24">
                  <a:alpha val="70000"/>
                </a:srgbClr>
              </a:gs>
              <a:gs pos="100000">
                <a:srgbClr val="F59E0B">
                  <a:alpha val="70000"/>
                </a:srgbClr>
              </a:gs>
            </a:gsLst>
            <a:lin ang="5400000" scaled="1"/>
          </a:gradFill>
          <a:ln>
            <a:noFill/>
          </a:ln>
          <a:scene3d>
            <a:camera prst="perspectiveRelaxedModerately" fov="2700000">
              <a:rot lat="0" lon="20700000" rev="0"/>
            </a:camera>
            <a:lightRig rig="threePt" dir="t">
              <a:rot lat="0" lon="0" rev="1200000"/>
            </a:lightRig>
          </a:scene3d>
          <a:sp3d extrusionH="59436" prstMaterial="matte">
            <a:bevelT w="12700" h="12700"/>
            <a:extrusionClr>
              <a:srgbClr val="B45309"/>
            </a:extrusionClr>
          </a:sp3d>
        </p:spPr>
        <p:txBody>
          <a:bodyPr rtlCol="0" anchor="ctr"/>
          <a:lstStyle/>
          <a:p>
            <a:pPr algn="ctr"/>
          </a:p>
        </p:txBody>
      </p:sp>
      <p:sp>
        <p:nvSpPr>
          <p:cNvPr id="9" name="!!bar4"/>
          <p:cNvSpPr/>
          <p:nvPr/>
        </p:nvSpPr>
        <p:spPr>
          <a:xfrm>
            <a:off x="11251692" y="1024128"/>
            <a:ext cx="118872" cy="274320"/>
          </a:xfrm>
          <a:prstGeom prst="roundRect">
            <a:avLst>
              <a:gd name="adj" fmla="val 50000"/>
            </a:avLst>
          </a:prstGeom>
          <a:effectLst/>
          <a:gradFill rotWithShape="1">
            <a:gsLst>
              <a:gs pos="0">
                <a:srgbClr val="FBBF24">
                  <a:alpha val="70000"/>
                </a:srgbClr>
              </a:gs>
              <a:gs pos="100000">
                <a:srgbClr val="D97706">
                  <a:alpha val="70000"/>
                </a:srgbClr>
              </a:gs>
            </a:gsLst>
            <a:lin ang="5400000" scaled="1"/>
          </a:gradFill>
          <a:ln>
            <a:noFill/>
          </a:ln>
          <a:scene3d>
            <a:camera prst="perspectiveRelaxedModerately" fov="2700000">
              <a:rot lat="0" lon="20700000" rev="0"/>
            </a:camera>
            <a:lightRig rig="threePt" dir="t">
              <a:rot lat="0" lon="0" rev="1200000"/>
            </a:lightRig>
          </a:scene3d>
          <a:sp3d extrusionH="59436" prstMaterial="matte">
            <a:bevelT w="12700" h="12700"/>
            <a:extrusionClr>
              <a:srgbClr val="B45309"/>
            </a:extrusionClr>
          </a:sp3d>
        </p:spPr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22960" y="713232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 i="0" spc="260">
                <a:solidFill>
                  <a:srgbClr val="F59E0B"/>
                </a:solidFill>
                <a:latin typeface="Consolas"/>
              </a:rPr>
              <a:t>SOCIAL GOOD INCLUDES PRIVACY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22960" y="1115568"/>
            <a:ext cx="1005840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3000" b="1" i="0">
                <a:solidFill>
                  <a:srgbClr val="FAFAF9"/>
                </a:solidFill>
                <a:latin typeface="Segoe UI"/>
              </a:rPr>
              <a:t>Voiceprints are biometric data.
</a:t>
            </a:r>
            <a:r>
              <a:rPr sz="3000" b="1" i="0">
                <a:solidFill>
                  <a:srgbClr val="FBBF24"/>
                </a:solidFill>
                <a:latin typeface="Segoe UI"/>
              </a:rPr>
              <a:t>We treat them like it.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22960" y="2788920"/>
            <a:ext cx="3401568" cy="1965960"/>
          </a:xfrm>
          <a:prstGeom prst="roundRect">
            <a:avLst>
              <a:gd name="adj" fmla="val 7500"/>
            </a:avLst>
          </a:prstGeom>
          <a:effectLst/>
          <a:solidFill>
            <a:srgbClr val="1C1917">
              <a:alpha val="90000"/>
            </a:srgbClr>
          </a:solidFill>
          <a:ln w="12700">
            <a:solidFill>
              <a:srgbClr val="292524"/>
            </a:solidFill>
          </a:ln>
          <a:effectLst>
            <a:outerShdw blurRad="164592" dist="50292" dir="5400000" rotWithShape="0">
              <a:srgbClr val="000000">
                <a:alpha val="38000"/>
              </a:srgbClr>
            </a:outerShdw>
          </a:effectLst>
        </p:spPr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1095085" y="2788920"/>
            <a:ext cx="2857317" cy="14630"/>
          </a:xfrm>
          <a:prstGeom prst="rect">
            <a:avLst/>
          </a:prstGeom>
          <a:effectLst/>
          <a:solidFill>
            <a:srgbClr val="44403C">
              <a:alpha val="80000"/>
            </a:srgbClr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097280" y="3063240"/>
            <a:ext cx="2852928" cy="1554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800"/>
              </a:spcAft>
            </a:pPr>
            <a:r>
              <a:rPr sz="1550" b="1" i="0">
                <a:solidFill>
                  <a:srgbClr val="FEF3C7"/>
                </a:solidFill>
                <a:latin typeface="Segoe UI"/>
              </a:rPr>
              <a:t>Hard consent gate</a:t>
            </a:r>
          </a:p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1200" b="0" i="0">
                <a:solidFill>
                  <a:srgbClr val="A8A29E"/>
                </a:solidFill>
                <a:latin typeface="Segoe UI"/>
              </a:rPr>
              <a:t>Voice upload and cloning are blocked until an explicit, written consent record is stored. GDPR Art. 9 · Illinois BIPA · Texas CUBI.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462272" y="2788920"/>
            <a:ext cx="3401568" cy="1965960"/>
          </a:xfrm>
          <a:prstGeom prst="roundRect">
            <a:avLst>
              <a:gd name="adj" fmla="val 7500"/>
            </a:avLst>
          </a:prstGeom>
          <a:effectLst/>
          <a:solidFill>
            <a:srgbClr val="1C1917">
              <a:alpha val="90000"/>
            </a:srgbClr>
          </a:solidFill>
          <a:ln w="12700">
            <a:solidFill>
              <a:srgbClr val="292524"/>
            </a:solidFill>
          </a:ln>
          <a:effectLst>
            <a:outerShdw blurRad="164592" dist="50292" dir="5400000" rotWithShape="0">
              <a:srgbClr val="000000">
                <a:alpha val="38000"/>
              </a:srgbClr>
            </a:outerShdw>
          </a:effectLst>
        </p:spPr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4734397" y="2788920"/>
            <a:ext cx="2857317" cy="14630"/>
          </a:xfrm>
          <a:prstGeom prst="rect">
            <a:avLst/>
          </a:prstGeom>
          <a:effectLst/>
          <a:solidFill>
            <a:srgbClr val="44403C">
              <a:alpha val="80000"/>
            </a:srgbClr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736592" y="3063240"/>
            <a:ext cx="2852928" cy="1554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800"/>
              </a:spcAft>
            </a:pPr>
            <a:r>
              <a:rPr sz="1550" b="1" i="0">
                <a:solidFill>
                  <a:srgbClr val="FEF3C7"/>
                </a:solidFill>
                <a:latin typeface="Segoe UI"/>
              </a:rPr>
              <a:t>PII redaction</a:t>
            </a:r>
          </a:p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1200" b="0" i="0">
                <a:solidFill>
                  <a:srgbClr val="A8A29E"/>
                </a:solidFill>
                <a:latin typeface="Segoe UI"/>
              </a:rPr>
              <a:t>URLs, emails and phone numbers are stripped from your text corpus before it ever touches storage.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101584" y="2788920"/>
            <a:ext cx="3401568" cy="1965960"/>
          </a:xfrm>
          <a:prstGeom prst="roundRect">
            <a:avLst>
              <a:gd name="adj" fmla="val 7500"/>
            </a:avLst>
          </a:prstGeom>
          <a:effectLst/>
          <a:solidFill>
            <a:srgbClr val="1C1917">
              <a:alpha val="90000"/>
            </a:srgbClr>
          </a:solidFill>
          <a:ln w="12700">
            <a:solidFill>
              <a:srgbClr val="292524"/>
            </a:solidFill>
          </a:ln>
          <a:effectLst>
            <a:outerShdw blurRad="164592" dist="50292" dir="5400000" rotWithShape="0">
              <a:srgbClr val="000000">
                <a:alpha val="38000"/>
              </a:srgbClr>
            </a:outerShdw>
          </a:effectLst>
        </p:spPr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8373709" y="2788920"/>
            <a:ext cx="2857317" cy="14630"/>
          </a:xfrm>
          <a:prstGeom prst="rect">
            <a:avLst/>
          </a:prstGeom>
          <a:effectLst/>
          <a:solidFill>
            <a:srgbClr val="44403C">
              <a:alpha val="80000"/>
            </a:srgbClr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375904" y="3063240"/>
            <a:ext cx="2852928" cy="1554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800"/>
              </a:spcAft>
            </a:pPr>
            <a:r>
              <a:rPr sz="1550" b="1" i="0">
                <a:solidFill>
                  <a:srgbClr val="FEF3C7"/>
                </a:solidFill>
                <a:latin typeface="Segoe UI"/>
              </a:rPr>
              <a:t>One-tap erasure</a:t>
            </a:r>
          </a:p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1200" b="0" i="0">
                <a:solidFill>
                  <a:srgbClr val="A8A29E"/>
                </a:solidFill>
                <a:latin typeface="Segoe UI"/>
              </a:rPr>
              <a:t>Settings → Delete my data removes the Spaces objects, the consent record, and every ElevenLabs clone — everything, everywhere.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4791456" y="5212080"/>
            <a:ext cx="2606040" cy="502920"/>
          </a:xfrm>
          <a:prstGeom prst="roundRect">
            <a:avLst>
              <a:gd name="adj" fmla="val 28000"/>
            </a:avLst>
          </a:prstGeom>
          <a:effectLst/>
          <a:solidFill>
            <a:srgbClr val="E11D48"/>
          </a:solidFill>
          <a:ln>
            <a:noFill/>
          </a:ln>
          <a:effectLst>
            <a:outerShdw blurRad="109728" dist="27432" dir="5400000" rotWithShape="0">
              <a:srgbClr val="000000">
                <a:alpha val="30000"/>
              </a:srgbClr>
            </a:outerShdw>
          </a:effectLst>
        </p:spPr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4791456" y="5212080"/>
            <a:ext cx="2606040" cy="5029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0"/>
              </a:spcAft>
            </a:pPr>
            <a:r>
              <a:rPr sz="1400" b="1" i="0">
                <a:solidFill>
                  <a:srgbClr val="FFFFFF"/>
                </a:solidFill>
                <a:latin typeface="Segoe UI"/>
              </a:rPr>
              <a:t>Delete my data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2651760" y="5833872"/>
            <a:ext cx="6885432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Aft>
                <a:spcPts val="0"/>
              </a:spcAft>
            </a:pPr>
            <a:r>
              <a:rPr sz="1000" b="0" i="0" spc="40">
                <a:solidFill>
                  <a:srgbClr val="78716C"/>
                </a:solidFill>
                <a:latin typeface="Consolas"/>
              </a:rPr>
              <a:t>the same rose button that ships in Settings — revocation is a feature, not a form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40080" y="6455664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900" b="0" i="0" spc="200">
                <a:solidFill>
                  <a:srgbClr val="57534E"/>
                </a:solidFill>
                <a:latin typeface="Consolas"/>
              </a:rPr>
              <a:t>RECLAIM</a:t>
            </a:r>
            <a:r>
              <a:rPr sz="900" b="0" i="0" spc="200">
                <a:solidFill>
                  <a:srgbClr val="57534E"/>
                </a:solidFill>
                <a:latin typeface="Consolas"/>
              </a:rPr>
              <a:t>  ·  AI FOR SOCIAL GOOD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062472" y="6455664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Aft>
                <a:spcPts val="0"/>
              </a:spcAft>
            </a:pPr>
            <a:r>
              <a:rPr sz="900" b="0" i="0" spc="200">
                <a:solidFill>
                  <a:srgbClr val="57534E"/>
                </a:solidFill>
                <a:latin typeface="Consolas"/>
              </a:rPr>
              <a:t>BUILT ON DIGITALOCEAN  ·  09 / 11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 xmlns:p159="http://schemas.microsoft.com/office/powerpoint/2015/09/main">
    <mc:Choice Requires="p159">
      <p:transition spd="slow" p14:dur="1100">
        <p159:morph option="byObject"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621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23" dur="55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624" dur="55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25" presetID="42" presetClass="entr" presetSubtype="0" fill="hold" grpId="0" nodeType="withEffect">
                                  <p:stCondLst>
                                    <p:cond delay="300"/>
                                  </p:stCondLst>
                                  <p:childTnLst>
                                    <p:set>
                                      <p:cBhvr>
                                        <p:cTn id="6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27" dur="5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628" dur="55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29" presetID="42" presetClass="entr" presetSubtype="0" fill="hold" grpId="0" nodeType="withEffect">
                                  <p:stCondLst>
                                    <p:cond delay="520"/>
                                  </p:stCondLst>
                                  <p:childTnLst>
                                    <p:set>
                                      <p:cBhvr>
                                        <p:cTn id="6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31" dur="5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632" dur="55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33" presetID="42" presetClass="entr" presetSubtype="0" fill="hold" grpId="0" nodeType="withEffect">
                                  <p:stCondLst>
                                    <p:cond delay="740"/>
                                  </p:stCondLst>
                                  <p:childTnLst>
                                    <p:set>
                                      <p:cBhvr>
                                        <p:cTn id="6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35" dur="5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636" dur="55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37" presetID="42" presetClass="entr" presetSubtype="0" fill="hold" grpId="0" nodeType="withEffect">
                                  <p:stCondLst>
                                    <p:cond delay="950"/>
                                  </p:stCondLst>
                                  <p:childTnLst>
                                    <p:set>
                                      <p:cBhvr>
                                        <p:cTn id="6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39" dur="5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640" dur="55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41" presetID="10" presetClass="entr" presetSubtype="0" fill="hold" grpId="0" nodeType="withEffect">
                                  <p:stCondLst>
                                    <p:cond delay="1100"/>
                                  </p:stCondLst>
                                  <p:childTnLst>
                                    <p:set>
                                      <p:cBhvr>
                                        <p:cTn id="6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43" dur="5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!!bg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effectLst/>
          <a:solidFill>
            <a:srgbClr val="0C0A09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" name="!!glow"/>
          <p:cNvSpPr/>
          <p:nvPr/>
        </p:nvSpPr>
        <p:spPr>
          <a:xfrm>
            <a:off x="3017520" y="-2377440"/>
            <a:ext cx="6217920" cy="6217920"/>
          </a:xfrm>
          <a:prstGeom prst="ellipse">
            <a:avLst/>
          </a:prstGeom>
          <a:effectLst/>
          <a:gradFill>
            <a:gsLst>
              <a:gs pos="0">
                <a:srgbClr val="F59E0B">
                  <a:alpha val="9000"/>
                </a:srgbClr>
              </a:gs>
              <a:gs pos="100000">
                <a:srgbClr val="0C0A09">
                  <a:alpha val="0"/>
                </a:srgbClr>
              </a:gs>
            </a:gsLst>
            <a:path path="circle">
              <a:fillToRect l="50000" t="50000" r="50000" b="50000"/>
            </a:path>
          </a:gra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235440" y="4480560"/>
            <a:ext cx="3108960" cy="2377440"/>
          </a:xfrm>
          <a:prstGeom prst="rect">
            <a:avLst/>
          </a:prstGeom>
          <a:noFill/>
        </p:spPr>
        <p:txBody>
          <a:bodyPr wrap="none" anchor="b" lIns="0" rIns="0" tIns="0" bIns="0">
            <a:spAutoFit/>
          </a:bodyPr>
          <a:lstStyle/>
          <a:p>
            <a:pPr algn="r">
              <a:spcAft>
                <a:spcPts val="0"/>
              </a:spcAft>
            </a:pPr>
            <a:r>
              <a:rPr sz="17000" b="1" i="0">
                <a:solidFill>
                  <a:srgbClr val="171310"/>
                </a:solidFill>
                <a:latin typeface="Segoe UI"/>
              </a:rPr>
              <a:t>09</a:t>
            </a:r>
          </a:p>
        </p:txBody>
      </p:sp>
      <p:sp>
        <p:nvSpPr>
          <p:cNvPr id="5" name="!!bar0"/>
          <p:cNvSpPr/>
          <p:nvPr/>
        </p:nvSpPr>
        <p:spPr>
          <a:xfrm>
            <a:off x="9683496" y="5349240"/>
            <a:ext cx="182880" cy="411480"/>
          </a:xfrm>
          <a:prstGeom prst="roundRect">
            <a:avLst>
              <a:gd name="adj" fmla="val 50000"/>
            </a:avLst>
          </a:prstGeom>
          <a:effectLst/>
          <a:gradFill rotWithShape="1">
            <a:gsLst>
              <a:gs pos="0">
                <a:srgbClr val="FBBF24"/>
              </a:gs>
              <a:gs pos="100000">
                <a:srgbClr val="D97706"/>
              </a:gs>
            </a:gsLst>
            <a:lin ang="5400000" scaled="1"/>
          </a:gradFill>
          <a:ln>
            <a:noFill/>
          </a:ln>
          <a:scene3d>
            <a:camera prst="perspectiveRelaxedModerately" fov="2700000">
              <a:rot lat="240000" lon="1320000" rev="0"/>
            </a:camera>
            <a:lightRig rig="threePt" dir="t">
              <a:rot lat="0" lon="0" rev="1200000"/>
            </a:lightRig>
          </a:scene3d>
          <a:sp3d extrusionH="91440" prstMaterial="matte">
            <a:bevelT w="12700" h="12700"/>
            <a:extrusionClr>
              <a:srgbClr val="B45309"/>
            </a:extrusionClr>
          </a:sp3d>
        </p:spPr>
        <p:txBody>
          <a:bodyPr rtlCol="0" anchor="ctr"/>
          <a:lstStyle/>
          <a:p>
            <a:pPr algn="ctr"/>
          </a:p>
        </p:txBody>
      </p:sp>
      <p:sp>
        <p:nvSpPr>
          <p:cNvPr id="6" name="!!bar1"/>
          <p:cNvSpPr/>
          <p:nvPr/>
        </p:nvSpPr>
        <p:spPr>
          <a:xfrm>
            <a:off x="9985248" y="5029200"/>
            <a:ext cx="182880" cy="731520"/>
          </a:xfrm>
          <a:prstGeom prst="roundRect">
            <a:avLst>
              <a:gd name="adj" fmla="val 50000"/>
            </a:avLst>
          </a:prstGeom>
          <a:effectLst/>
          <a:gradFill rotWithShape="1">
            <a:gsLst>
              <a:gs pos="0">
                <a:srgbClr val="FBBF24"/>
              </a:gs>
              <a:gs pos="100000">
                <a:srgbClr val="F59E0B"/>
              </a:gs>
            </a:gsLst>
            <a:lin ang="5400000" scaled="1"/>
          </a:gradFill>
          <a:ln>
            <a:noFill/>
          </a:ln>
          <a:scene3d>
            <a:camera prst="perspectiveRelaxedModerately" fov="2700000">
              <a:rot lat="240000" lon="1320000" rev="0"/>
            </a:camera>
            <a:lightRig rig="threePt" dir="t">
              <a:rot lat="0" lon="0" rev="1200000"/>
            </a:lightRig>
          </a:scene3d>
          <a:sp3d extrusionH="91440" prstMaterial="matte">
            <a:bevelT w="12700" h="12700"/>
            <a:extrusionClr>
              <a:srgbClr val="B45309"/>
            </a:extrusionClr>
          </a:sp3d>
        </p:spPr>
        <p:txBody>
          <a:bodyPr rtlCol="0" anchor="ctr"/>
          <a:lstStyle/>
          <a:p>
            <a:pPr algn="ctr"/>
          </a:p>
        </p:txBody>
      </p:sp>
      <p:sp>
        <p:nvSpPr>
          <p:cNvPr id="7" name="!!bar2"/>
          <p:cNvSpPr/>
          <p:nvPr/>
        </p:nvSpPr>
        <p:spPr>
          <a:xfrm>
            <a:off x="10287000" y="4709160"/>
            <a:ext cx="182880" cy="1051560"/>
          </a:xfrm>
          <a:prstGeom prst="roundRect">
            <a:avLst>
              <a:gd name="adj" fmla="val 50000"/>
            </a:avLst>
          </a:prstGeom>
          <a:effectLst/>
          <a:gradFill rotWithShape="1">
            <a:gsLst>
              <a:gs pos="0">
                <a:srgbClr val="FBBF24"/>
              </a:gs>
              <a:gs pos="100000">
                <a:srgbClr val="FBBF24"/>
              </a:gs>
            </a:gsLst>
            <a:lin ang="5400000" scaled="1"/>
          </a:gradFill>
          <a:ln>
            <a:noFill/>
          </a:ln>
          <a:scene3d>
            <a:camera prst="perspectiveRelaxedModerately" fov="2700000">
              <a:rot lat="240000" lon="1320000" rev="0"/>
            </a:camera>
            <a:lightRig rig="threePt" dir="t">
              <a:rot lat="0" lon="0" rev="1200000"/>
            </a:lightRig>
          </a:scene3d>
          <a:sp3d extrusionH="91440" prstMaterial="matte">
            <a:bevelT w="12700" h="12700"/>
            <a:extrusionClr>
              <a:srgbClr val="B45309"/>
            </a:extrusionClr>
          </a:sp3d>
        </p:spPr>
        <p:txBody>
          <a:bodyPr rtlCol="0" anchor="ctr"/>
          <a:lstStyle/>
          <a:p>
            <a:pPr algn="ctr"/>
          </a:p>
        </p:txBody>
      </p:sp>
      <p:sp>
        <p:nvSpPr>
          <p:cNvPr id="8" name="!!bar3"/>
          <p:cNvSpPr/>
          <p:nvPr/>
        </p:nvSpPr>
        <p:spPr>
          <a:xfrm>
            <a:off x="10588752" y="4389120"/>
            <a:ext cx="182880" cy="1371600"/>
          </a:xfrm>
          <a:prstGeom prst="roundRect">
            <a:avLst>
              <a:gd name="adj" fmla="val 50000"/>
            </a:avLst>
          </a:prstGeom>
          <a:effectLst/>
          <a:gradFill rotWithShape="1">
            <a:gsLst>
              <a:gs pos="0">
                <a:srgbClr val="FBBF24"/>
              </a:gs>
              <a:gs pos="100000">
                <a:srgbClr val="F59E0B"/>
              </a:gs>
            </a:gsLst>
            <a:lin ang="5400000" scaled="1"/>
          </a:gradFill>
          <a:ln>
            <a:noFill/>
          </a:ln>
          <a:scene3d>
            <a:camera prst="perspectiveRelaxedModerately" fov="2700000">
              <a:rot lat="240000" lon="1320000" rev="0"/>
            </a:camera>
            <a:lightRig rig="threePt" dir="t">
              <a:rot lat="0" lon="0" rev="1200000"/>
            </a:lightRig>
          </a:scene3d>
          <a:sp3d extrusionH="91440" prstMaterial="matte">
            <a:bevelT w="12700" h="12700"/>
            <a:extrusionClr>
              <a:srgbClr val="B45309"/>
            </a:extrusionClr>
          </a:sp3d>
        </p:spPr>
        <p:txBody>
          <a:bodyPr rtlCol="0" anchor="ctr"/>
          <a:lstStyle/>
          <a:p>
            <a:pPr algn="ctr"/>
          </a:p>
        </p:txBody>
      </p:sp>
      <p:sp>
        <p:nvSpPr>
          <p:cNvPr id="9" name="!!bar4"/>
          <p:cNvSpPr/>
          <p:nvPr/>
        </p:nvSpPr>
        <p:spPr>
          <a:xfrm>
            <a:off x="10890504" y="4069080"/>
            <a:ext cx="182880" cy="1691640"/>
          </a:xfrm>
          <a:prstGeom prst="roundRect">
            <a:avLst>
              <a:gd name="adj" fmla="val 50000"/>
            </a:avLst>
          </a:prstGeom>
          <a:effectLst/>
          <a:gradFill rotWithShape="1">
            <a:gsLst>
              <a:gs pos="0">
                <a:srgbClr val="FBBF24"/>
              </a:gs>
              <a:gs pos="100000">
                <a:srgbClr val="D97706"/>
              </a:gs>
            </a:gsLst>
            <a:lin ang="5400000" scaled="1"/>
          </a:gradFill>
          <a:ln>
            <a:noFill/>
          </a:ln>
          <a:scene3d>
            <a:camera prst="perspectiveRelaxedModerately" fov="2700000">
              <a:rot lat="240000" lon="1320000" rev="0"/>
            </a:camera>
            <a:lightRig rig="threePt" dir="t">
              <a:rot lat="0" lon="0" rev="1200000"/>
            </a:lightRig>
          </a:scene3d>
          <a:sp3d extrusionH="91440" prstMaterial="matte">
            <a:bevelT w="12700" h="12700"/>
            <a:extrusionClr>
              <a:srgbClr val="B45309"/>
            </a:extrusionClr>
          </a:sp3d>
        </p:spPr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22960" y="713232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 i="0" spc="260">
                <a:solidFill>
                  <a:srgbClr val="F59E0B"/>
                </a:solidFill>
                <a:latin typeface="Consolas"/>
              </a:rPr>
              <a:t>BEYOND THE DEMO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22960" y="1115568"/>
            <a:ext cx="960120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3000" b="1" i="0">
                <a:solidFill>
                  <a:srgbClr val="FAFAF9"/>
                </a:solidFill>
                <a:latin typeface="Segoe UI"/>
              </a:rPr>
              <a:t>A ladder to a model that's yours alone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22960" y="1691640"/>
            <a:ext cx="841248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50" b="0" i="0">
                <a:solidFill>
                  <a:srgbClr val="A8A29E"/>
                </a:solidFill>
                <a:latin typeface="Segoe UI"/>
              </a:rPr>
              <a:t>Personal style isn't one trick — it's three tiers, and the top tier is real training.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22960" y="4160520"/>
            <a:ext cx="2852928" cy="1874520"/>
          </a:xfrm>
          <a:prstGeom prst="roundRect">
            <a:avLst>
              <a:gd name="adj" fmla="val 7500"/>
            </a:avLst>
          </a:prstGeom>
          <a:effectLst/>
          <a:solidFill>
            <a:srgbClr val="1C1917">
              <a:alpha val="90000"/>
            </a:srgbClr>
          </a:solidFill>
          <a:ln w="12700">
            <a:solidFill>
              <a:srgbClr val="292524"/>
            </a:solidFill>
          </a:ln>
          <a:effectLst>
            <a:outerShdw blurRad="164592" dist="50292" dir="5400000" rotWithShape="0">
              <a:srgbClr val="000000">
                <a:alpha val="38000"/>
              </a:srgbClr>
            </a:outerShdw>
          </a:effectLst>
        </p:spPr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1051194" y="4160520"/>
            <a:ext cx="2396460" cy="14630"/>
          </a:xfrm>
          <a:prstGeom prst="rect">
            <a:avLst/>
          </a:prstGeom>
          <a:effectLst/>
          <a:solidFill>
            <a:srgbClr val="44403C">
              <a:alpha val="80000"/>
            </a:srgbClr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060704" y="4398264"/>
            <a:ext cx="2377440" cy="1554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500"/>
              </a:spcAft>
            </a:pPr>
            <a:r>
              <a:rPr sz="950" b="1" i="0" spc="100">
                <a:solidFill>
                  <a:srgbClr val="F59E0B"/>
                </a:solidFill>
                <a:latin typeface="Consolas"/>
              </a:rPr>
              <a:t>TIER 1 · ALWAYS ON</a:t>
            </a:r>
          </a:p>
          <a:p>
            <a:pPr algn="l">
              <a:spcAft>
                <a:spcPts val="600"/>
              </a:spcAft>
            </a:pPr>
            <a:r>
              <a:rPr sz="1500" b="1" i="0">
                <a:solidFill>
                  <a:srgbClr val="FEF3C7"/>
                </a:solidFill>
                <a:latin typeface="Segoe UI"/>
              </a:rPr>
              <a:t>Few-shot retrieval</a:t>
            </a:r>
          </a:p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100" b="0" i="0">
                <a:solidFill>
                  <a:srgbClr val="A8A29E"/>
                </a:solidFill>
                <a:latin typeface="Segoe UI"/>
              </a:rPr>
              <a:t>Your corpus is embedded once (GTE-Large on DO). At speak time, your most similar past messages become the examples.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3886200" y="3383280"/>
            <a:ext cx="2852928" cy="1874520"/>
          </a:xfrm>
          <a:prstGeom prst="roundRect">
            <a:avLst>
              <a:gd name="adj" fmla="val 7500"/>
            </a:avLst>
          </a:prstGeom>
          <a:effectLst/>
          <a:solidFill>
            <a:srgbClr val="1C1917">
              <a:alpha val="90000"/>
            </a:srgbClr>
          </a:solidFill>
          <a:ln w="12700">
            <a:solidFill>
              <a:srgbClr val="292524"/>
            </a:solidFill>
          </a:ln>
          <a:effectLst>
            <a:outerShdw blurRad="164592" dist="50292" dir="5400000" rotWithShape="0">
              <a:srgbClr val="000000">
                <a:alpha val="38000"/>
              </a:srgbClr>
            </a:outerShdw>
          </a:effectLst>
        </p:spPr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4114434" y="3383280"/>
            <a:ext cx="2396460" cy="14630"/>
          </a:xfrm>
          <a:prstGeom prst="rect">
            <a:avLst/>
          </a:prstGeom>
          <a:effectLst/>
          <a:solidFill>
            <a:srgbClr val="44403C">
              <a:alpha val="80000"/>
            </a:srgbClr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123944" y="3621024"/>
            <a:ext cx="2377440" cy="1554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500"/>
              </a:spcAft>
            </a:pPr>
            <a:r>
              <a:rPr sz="950" b="1" i="0" spc="100">
                <a:solidFill>
                  <a:srgbClr val="F59E0B"/>
                </a:solidFill>
                <a:latin typeface="Consolas"/>
              </a:rPr>
              <a:t>TIER 2 · PER STYLE</a:t>
            </a:r>
          </a:p>
          <a:p>
            <a:pPr algn="l">
              <a:spcAft>
                <a:spcPts val="600"/>
              </a:spcAft>
            </a:pPr>
            <a:r>
              <a:rPr sz="1500" b="1" i="0">
                <a:solidFill>
                  <a:srgbClr val="FEF3C7"/>
                </a:solidFill>
                <a:latin typeface="Segoe UI"/>
              </a:rPr>
              <a:t>Distilled style card</a:t>
            </a:r>
          </a:p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100" b="0" i="0">
                <a:solidFill>
                  <a:srgbClr val="A8A29E"/>
                </a:solidFill>
                <a:latin typeface="Segoe UI"/>
              </a:rPr>
              <a:t>An LLM writes a profile of how you text — slang, punctuation, energy — injected into every prompt. Swappable: “Casual”, “Business”…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949440" y="2606040"/>
            <a:ext cx="2852928" cy="1874520"/>
          </a:xfrm>
          <a:prstGeom prst="roundRect">
            <a:avLst>
              <a:gd name="adj" fmla="val 7500"/>
            </a:avLst>
          </a:prstGeom>
          <a:effectLst/>
          <a:solidFill>
            <a:srgbClr val="1C1917">
              <a:alpha val="90000"/>
            </a:srgbClr>
          </a:solidFill>
          <a:ln w="12700">
            <a:solidFill>
              <a:srgbClr val="292524"/>
            </a:solidFill>
          </a:ln>
          <a:effectLst>
            <a:outerShdw blurRad="164592" dist="50292" dir="5400000" rotWithShape="0">
              <a:srgbClr val="000000">
                <a:alpha val="38000"/>
              </a:srgbClr>
            </a:outerShdw>
          </a:effectLst>
        </p:spPr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7177674" y="2606040"/>
            <a:ext cx="2396460" cy="14630"/>
          </a:xfrm>
          <a:prstGeom prst="rect">
            <a:avLst/>
          </a:prstGeom>
          <a:effectLst/>
          <a:solidFill>
            <a:srgbClr val="44403C">
              <a:alpha val="80000"/>
            </a:srgbClr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7187184" y="2843784"/>
            <a:ext cx="2377440" cy="1554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500"/>
              </a:spcAft>
            </a:pPr>
            <a:r>
              <a:rPr sz="950" b="1" i="0" spc="100">
                <a:solidFill>
                  <a:srgbClr val="F59E0B"/>
                </a:solidFill>
                <a:latin typeface="Consolas"/>
              </a:rPr>
              <a:t>TIER 3 · PER USER</a:t>
            </a:r>
          </a:p>
          <a:p>
            <a:pPr algn="l">
              <a:spcAft>
                <a:spcPts val="600"/>
              </a:spcAft>
            </a:pPr>
            <a:r>
              <a:rPr sz="1500" b="1" i="0">
                <a:solidFill>
                  <a:srgbClr val="FEF3C7"/>
                </a:solidFill>
                <a:latin typeface="Segoe UI"/>
              </a:rPr>
              <a:t>Your own fine-tuned model</a:t>
            </a:r>
          </a:p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100" b="0" i="0">
                <a:solidFill>
                  <a:srgbClr val="A8A29E"/>
                </a:solidFill>
                <a:latin typeface="Segoe UI"/>
              </a:rPr>
              <a:t>A LoRA of Qwen2.5-1.5B trained on your messages (TRL, EC2 GPU), pushed to Hugging Face and served from a dedicated endpoint — a model of one.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3977640" y="5833872"/>
            <a:ext cx="4206240" cy="310896"/>
          </a:xfrm>
          <a:prstGeom prst="roundRect">
            <a:avLst>
              <a:gd name="adj" fmla="val 50000"/>
            </a:avLst>
          </a:prstGeom>
          <a:effectLst/>
          <a:solidFill>
            <a:srgbClr val="1C1917">
              <a:alpha val="80000"/>
            </a:srgbClr>
          </a:solidFill>
          <a:ln w="12700">
            <a:solidFill>
              <a:srgbClr val="44403C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3977640" y="5833872"/>
            <a:ext cx="4206240" cy="3108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0"/>
              </a:spcAft>
            </a:pPr>
            <a:r>
              <a:rPr sz="950" b="0" i="0" spc="60">
                <a:solidFill>
                  <a:srgbClr val="D6D3D1"/>
                </a:solidFill>
                <a:latin typeface="Consolas"/>
              </a:rPr>
              <a:t>+ EXPO MOBILE APP — SAME IDENTITY, POCKET-SIZED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40080" y="6455664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900" b="0" i="0" spc="200">
                <a:solidFill>
                  <a:srgbClr val="57534E"/>
                </a:solidFill>
                <a:latin typeface="Consolas"/>
              </a:rPr>
              <a:t>RECLAIM</a:t>
            </a:r>
            <a:r>
              <a:rPr sz="900" b="0" i="0" spc="200">
                <a:solidFill>
                  <a:srgbClr val="57534E"/>
                </a:solidFill>
                <a:latin typeface="Consolas"/>
              </a:rPr>
              <a:t>  ·  AI FOR SOCIAL GOOD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062472" y="6455664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Aft>
                <a:spcPts val="0"/>
              </a:spcAft>
            </a:pPr>
            <a:r>
              <a:rPr sz="900" b="0" i="0" spc="200">
                <a:solidFill>
                  <a:srgbClr val="57534E"/>
                </a:solidFill>
                <a:latin typeface="Consolas"/>
              </a:rPr>
              <a:t>BUILT ON DIGITALOCEAN  ·  10 / 11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 xmlns:p159="http://schemas.microsoft.com/office/powerpoint/2015/09/main">
    <mc:Choice Requires="p159">
      <p:transition spd="slow" p14:dur="1100">
        <p159:morph option="byObject"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645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47" dur="55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648" dur="55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49" presetID="42" presetClass="entr" presetSubtype="0" fill="hold" grpId="0" nodeType="withEffect">
                                  <p:stCondLst>
                                    <p:cond delay="130"/>
                                  </p:stCondLst>
                                  <p:childTnLst>
                                    <p:set>
                                      <p:cBhvr>
                                        <p:cTn id="6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51" dur="55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652" dur="55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53" presetID="42" presetClass="entr" presetSubtype="0" fill="hold" grpId="0" nodeType="withEffect">
                                  <p:stCondLst>
                                    <p:cond delay="300"/>
                                  </p:stCondLst>
                                  <p:childTnLst>
                                    <p:set>
                                      <p:cBhvr>
                                        <p:cTn id="6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55" dur="5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656" dur="55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57" presetID="42" presetClass="entr" presetSubtype="0" fill="hold" grpId="0" nodeType="withEffect">
                                  <p:stCondLst>
                                    <p:cond delay="560"/>
                                  </p:stCondLst>
                                  <p:childTnLst>
                                    <p:set>
                                      <p:cBhvr>
                                        <p:cTn id="6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59" dur="5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660" dur="55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61" presetID="42" presetClass="entr" presetSubtype="0" fill="hold" grpId="0" nodeType="withEffect">
                                  <p:stCondLst>
                                    <p:cond delay="820"/>
                                  </p:stCondLst>
                                  <p:childTnLst>
                                    <p:set>
                                      <p:cBhvr>
                                        <p:cTn id="6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63" dur="5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664" dur="55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65" presetID="10" presetClass="entr" presetSubtype="0" fill="hold" grpId="0" nodeType="withEffect">
                                  <p:stCondLst>
                                    <p:cond delay="1150"/>
                                  </p:stCondLst>
                                  <p:childTnLst>
                                    <p:set>
                                      <p:cBhvr>
                                        <p:cTn id="6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67" dur="5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!!bg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effectLst/>
          <a:solidFill>
            <a:srgbClr val="0C0A09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" name="!!glow"/>
          <p:cNvSpPr/>
          <p:nvPr/>
        </p:nvSpPr>
        <p:spPr>
          <a:xfrm>
            <a:off x="3017520" y="-2377440"/>
            <a:ext cx="6217920" cy="6217920"/>
          </a:xfrm>
          <a:prstGeom prst="ellipse">
            <a:avLst/>
          </a:prstGeom>
          <a:effectLst/>
          <a:gradFill>
            <a:gsLst>
              <a:gs pos="0">
                <a:srgbClr val="F59E0B">
                  <a:alpha val="9000"/>
                </a:srgbClr>
              </a:gs>
              <a:gs pos="100000">
                <a:srgbClr val="0C0A09">
                  <a:alpha val="0"/>
                </a:srgbClr>
              </a:gs>
            </a:gsLst>
            <a:path path="circle">
              <a:fillToRect l="50000" t="50000" r="50000" b="50000"/>
            </a:path>
          </a:gra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!!bar0"/>
          <p:cNvSpPr/>
          <p:nvPr/>
        </p:nvSpPr>
        <p:spPr>
          <a:xfrm>
            <a:off x="4788713" y="1600200"/>
            <a:ext cx="347472" cy="1417320"/>
          </a:xfrm>
          <a:prstGeom prst="roundRect">
            <a:avLst>
              <a:gd name="adj" fmla="val 50000"/>
            </a:avLst>
          </a:prstGeom>
          <a:effectLst/>
          <a:gradFill rotWithShape="1">
            <a:gsLst>
              <a:gs pos="0">
                <a:srgbClr val="FBBF24"/>
              </a:gs>
              <a:gs pos="100000">
                <a:srgbClr val="D97706"/>
              </a:gs>
            </a:gsLst>
            <a:lin ang="5400000" scaled="1"/>
          </a:gradFill>
          <a:ln>
            <a:noFill/>
          </a:ln>
          <a:scene3d>
            <a:camera prst="perspectiveRelaxedModerately" fov="2700000">
              <a:rot lat="600000" lon="1080000" rev="0"/>
            </a:camera>
            <a:lightRig rig="threePt" dir="t">
              <a:rot lat="0" lon="0" rev="1200000"/>
            </a:lightRig>
          </a:scene3d>
          <a:sp3d extrusionH="173736" prstMaterial="matte">
            <a:bevelT w="12700" h="12700"/>
            <a:extrusionClr>
              <a:srgbClr val="B45309"/>
            </a:extrusionClr>
          </a:sp3d>
        </p:spPr>
        <p:txBody>
          <a:bodyPr rtlCol="0" anchor="ctr"/>
          <a:lstStyle/>
          <a:p>
            <a:pPr algn="ctr"/>
          </a:p>
        </p:txBody>
      </p:sp>
      <p:sp>
        <p:nvSpPr>
          <p:cNvPr id="5" name="!!bar1"/>
          <p:cNvSpPr/>
          <p:nvPr/>
        </p:nvSpPr>
        <p:spPr>
          <a:xfrm>
            <a:off x="5355641" y="1051560"/>
            <a:ext cx="347472" cy="1965960"/>
          </a:xfrm>
          <a:prstGeom prst="roundRect">
            <a:avLst>
              <a:gd name="adj" fmla="val 50000"/>
            </a:avLst>
          </a:prstGeom>
          <a:effectLst/>
          <a:gradFill rotWithShape="1">
            <a:gsLst>
              <a:gs pos="0">
                <a:srgbClr val="FBBF24"/>
              </a:gs>
              <a:gs pos="100000">
                <a:srgbClr val="F59E0B"/>
              </a:gs>
            </a:gsLst>
            <a:lin ang="5400000" scaled="1"/>
          </a:gradFill>
          <a:ln>
            <a:noFill/>
          </a:ln>
          <a:scene3d>
            <a:camera prst="perspectiveRelaxedModerately" fov="2700000">
              <a:rot lat="600000" lon="1080000" rev="0"/>
            </a:camera>
            <a:lightRig rig="threePt" dir="t">
              <a:rot lat="0" lon="0" rev="1200000"/>
            </a:lightRig>
          </a:scene3d>
          <a:sp3d extrusionH="173736" prstMaterial="matte">
            <a:bevelT w="12700" h="12700"/>
            <a:extrusionClr>
              <a:srgbClr val="B45309"/>
            </a:extrusionClr>
          </a:sp3d>
        </p:spPr>
        <p:txBody>
          <a:bodyPr rtlCol="0" anchor="ctr"/>
          <a:lstStyle/>
          <a:p>
            <a:pPr algn="ctr"/>
          </a:p>
        </p:txBody>
      </p:sp>
      <p:sp>
        <p:nvSpPr>
          <p:cNvPr id="6" name="!!bar2"/>
          <p:cNvSpPr/>
          <p:nvPr/>
        </p:nvSpPr>
        <p:spPr>
          <a:xfrm>
            <a:off x="5922569" y="640080"/>
            <a:ext cx="347472" cy="2377440"/>
          </a:xfrm>
          <a:prstGeom prst="roundRect">
            <a:avLst>
              <a:gd name="adj" fmla="val 50000"/>
            </a:avLst>
          </a:prstGeom>
          <a:effectLst/>
          <a:gradFill rotWithShape="1">
            <a:gsLst>
              <a:gs pos="0">
                <a:srgbClr val="FBBF24"/>
              </a:gs>
              <a:gs pos="100000">
                <a:srgbClr val="FBBF24"/>
              </a:gs>
            </a:gsLst>
            <a:lin ang="5400000" scaled="1"/>
          </a:gradFill>
          <a:ln>
            <a:noFill/>
          </a:ln>
          <a:scene3d>
            <a:camera prst="perspectiveRelaxedModerately" fov="2700000">
              <a:rot lat="600000" lon="1080000" rev="0"/>
            </a:camera>
            <a:lightRig rig="threePt" dir="t">
              <a:rot lat="0" lon="0" rev="1200000"/>
            </a:lightRig>
          </a:scene3d>
          <a:sp3d extrusionH="173736" prstMaterial="matte">
            <a:bevelT w="12700" h="12700"/>
            <a:extrusionClr>
              <a:srgbClr val="B45309"/>
            </a:extrusionClr>
          </a:sp3d>
        </p:spPr>
        <p:txBody>
          <a:bodyPr rtlCol="0" anchor="ctr"/>
          <a:lstStyle/>
          <a:p>
            <a:pPr algn="ctr"/>
          </a:p>
        </p:txBody>
      </p:sp>
      <p:sp>
        <p:nvSpPr>
          <p:cNvPr id="7" name="!!bar3"/>
          <p:cNvSpPr/>
          <p:nvPr/>
        </p:nvSpPr>
        <p:spPr>
          <a:xfrm>
            <a:off x="6489497" y="1234440"/>
            <a:ext cx="347472" cy="1783080"/>
          </a:xfrm>
          <a:prstGeom prst="roundRect">
            <a:avLst>
              <a:gd name="adj" fmla="val 50000"/>
            </a:avLst>
          </a:prstGeom>
          <a:effectLst/>
          <a:gradFill rotWithShape="1">
            <a:gsLst>
              <a:gs pos="0">
                <a:srgbClr val="FBBF24"/>
              </a:gs>
              <a:gs pos="100000">
                <a:srgbClr val="F59E0B"/>
              </a:gs>
            </a:gsLst>
            <a:lin ang="5400000" scaled="1"/>
          </a:gradFill>
          <a:ln>
            <a:noFill/>
          </a:ln>
          <a:scene3d>
            <a:camera prst="perspectiveRelaxedModerately" fov="2700000">
              <a:rot lat="600000" lon="1080000" rev="0"/>
            </a:camera>
            <a:lightRig rig="threePt" dir="t">
              <a:rot lat="0" lon="0" rev="1200000"/>
            </a:lightRig>
          </a:scene3d>
          <a:sp3d extrusionH="173736" prstMaterial="matte">
            <a:bevelT w="12700" h="12700"/>
            <a:extrusionClr>
              <a:srgbClr val="B45309"/>
            </a:extrusionClr>
          </a:sp3d>
        </p:spPr>
        <p:txBody>
          <a:bodyPr rtlCol="0" anchor="ctr"/>
          <a:lstStyle/>
          <a:p>
            <a:pPr algn="ctr"/>
          </a:p>
        </p:txBody>
      </p:sp>
      <p:sp>
        <p:nvSpPr>
          <p:cNvPr id="8" name="!!bar4"/>
          <p:cNvSpPr/>
          <p:nvPr/>
        </p:nvSpPr>
        <p:spPr>
          <a:xfrm>
            <a:off x="7056425" y="1737360"/>
            <a:ext cx="347472" cy="1280160"/>
          </a:xfrm>
          <a:prstGeom prst="roundRect">
            <a:avLst>
              <a:gd name="adj" fmla="val 50000"/>
            </a:avLst>
          </a:prstGeom>
          <a:effectLst/>
          <a:gradFill rotWithShape="1">
            <a:gsLst>
              <a:gs pos="0">
                <a:srgbClr val="FBBF24"/>
              </a:gs>
              <a:gs pos="100000">
                <a:srgbClr val="D97706"/>
              </a:gs>
            </a:gsLst>
            <a:lin ang="5400000" scaled="1"/>
          </a:gradFill>
          <a:ln>
            <a:noFill/>
          </a:ln>
          <a:scene3d>
            <a:camera prst="perspectiveRelaxedModerately" fov="2700000">
              <a:rot lat="600000" lon="1080000" rev="0"/>
            </a:camera>
            <a:lightRig rig="threePt" dir="t">
              <a:rot lat="0" lon="0" rev="1200000"/>
            </a:lightRig>
          </a:scene3d>
          <a:sp3d extrusionH="173736" prstMaterial="matte">
            <a:bevelT w="12700" h="12700"/>
            <a:extrusionClr>
              <a:srgbClr val="B45309"/>
            </a:extrusionClr>
          </a:sp3d>
        </p:spPr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14400" y="3310128"/>
            <a:ext cx="10362895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2000"/>
              </a:lnSpc>
              <a:spcAft>
                <a:spcPts val="200"/>
              </a:spcAft>
            </a:pPr>
            <a:r>
              <a:rPr sz="3200" b="1" i="0">
                <a:solidFill>
                  <a:srgbClr val="FAFAF9"/>
                </a:solidFill>
                <a:latin typeface="Segoe UI"/>
              </a:rPr>
              <a:t>Five minutes of setup.</a:t>
            </a:r>
          </a:p>
          <a:p>
            <a:pPr algn="ctr">
              <a:lnSpc>
                <a:spcPct val="112000"/>
              </a:lnSpc>
              <a:spcAft>
                <a:spcPts val="0"/>
              </a:spcAft>
            </a:pPr>
            <a:r>
              <a:rPr sz="3200" b="1" i="0">
                <a:solidFill>
                  <a:srgbClr val="FBBF24"/>
                </a:solidFill>
                <a:latin typeface="Segoe UI"/>
              </a:rPr>
              <a:t>A voice that's yours for good.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041648" y="4892040"/>
            <a:ext cx="4114800" cy="420624"/>
          </a:xfrm>
          <a:prstGeom prst="roundRect">
            <a:avLst>
              <a:gd name="adj" fmla="val 50000"/>
            </a:avLst>
          </a:prstGeom>
          <a:effectLst/>
          <a:solidFill>
            <a:srgbClr val="F59E0B">
              <a:alpha val="100000"/>
            </a:srgbClr>
          </a:solidFill>
          <a:ln w="12700">
            <a:solidFill>
              <a:srgbClr val="F59E0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041648" y="4892040"/>
            <a:ext cx="4114800" cy="42062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0"/>
              </a:spcAft>
            </a:pPr>
            <a:r>
              <a:rPr sz="1200" b="0" i="0" spc="60">
                <a:solidFill>
                  <a:srgbClr val="1C1917"/>
                </a:solidFill>
                <a:latin typeface="Consolas"/>
              </a:rPr>
              <a:t>reclaim-2p92q.ondigitalocean.app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286000" y="5596128"/>
            <a:ext cx="7616952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Aft>
                <a:spcPts val="0"/>
              </a:spcAft>
            </a:pPr>
            <a:r>
              <a:rPr sz="1400" b="0" i="0">
                <a:solidFill>
                  <a:srgbClr val="A8A29E"/>
                </a:solidFill>
                <a:latin typeface="Segoe UI"/>
              </a:rPr>
              <a:t>Reclaim — AI for social good, built on DigitalOcean. Thank you.</a:t>
            </a:r>
          </a:p>
        </p:txBody>
      </p:sp>
      <p:sp>
        <p:nvSpPr>
          <p:cNvPr id="13" name="!!hackchip"/>
          <p:cNvSpPr/>
          <p:nvPr/>
        </p:nvSpPr>
        <p:spPr>
          <a:xfrm>
            <a:off x="4453128" y="457200"/>
            <a:ext cx="3291840" cy="310896"/>
          </a:xfrm>
          <a:prstGeom prst="roundRect">
            <a:avLst>
              <a:gd name="adj" fmla="val 50000"/>
            </a:avLst>
          </a:prstGeom>
          <a:effectLst/>
          <a:solidFill>
            <a:srgbClr val="1C1917">
              <a:alpha val="80000"/>
            </a:srgbClr>
          </a:solidFill>
          <a:ln w="12700">
            <a:solidFill>
              <a:srgbClr val="44403C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453128" y="457200"/>
            <a:ext cx="3291840" cy="3108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0"/>
              </a:spcAft>
            </a:pPr>
            <a:r>
              <a:rPr sz="1050" b="0" i="0" spc="60">
                <a:solidFill>
                  <a:srgbClr val="D6D3D1"/>
                </a:solidFill>
                <a:latin typeface="Consolas"/>
              </a:rPr>
              <a:t>AI FOR SOCIAL GOOD · HACKATHON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 xmlns:p159="http://schemas.microsoft.com/office/powerpoint/2015/09/main">
    <mc:Choice Requires="p159">
      <p:transition spd="slow" p14:dur="1100">
        <p159:morph option="byObject"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669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71" dur="55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672" dur="55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73" presetID="42" presetClass="entr" presetSubtype="0" fill="hold" grpId="0" nodeType="withEffect">
                                  <p:stCondLst>
                                    <p:cond delay="300"/>
                                  </p:stCondLst>
                                  <p:childTnLst>
                                    <p:set>
                                      <p:cBhvr>
                                        <p:cTn id="6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75" dur="55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676" dur="55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77" presetID="10" presetClass="entr" presetSubtype="0" fill="hold" grpId="0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6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79" dur="55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